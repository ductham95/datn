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8" r:id="rId4"/>
  </p:sldMasterIdLst>
  <p:notesMasterIdLst>
    <p:notesMasterId r:id="rId18"/>
  </p:notesMasterIdLst>
  <p:handoutMasterIdLst>
    <p:handoutMasterId r:id="rId19"/>
  </p:handoutMasterIdLst>
  <p:sldIdLst>
    <p:sldId id="275" r:id="rId5"/>
    <p:sldId id="276" r:id="rId6"/>
    <p:sldId id="257" r:id="rId7"/>
    <p:sldId id="267" r:id="rId8"/>
    <p:sldId id="265" r:id="rId9"/>
    <p:sldId id="261" r:id="rId10"/>
    <p:sldId id="266" r:id="rId11"/>
    <p:sldId id="270" r:id="rId12"/>
    <p:sldId id="271" r:id="rId13"/>
    <p:sldId id="272" r:id="rId14"/>
    <p:sldId id="273" r:id="rId15"/>
    <p:sldId id="274" r:id="rId16"/>
    <p:sldId id="269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B72DBC-B9E2-4998-8200-F23526832C85}" v="39" dt="2026-07-02T10:06:34.3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71" autoAdjust="0"/>
    <p:restoredTop sz="68932" autoAdjust="0"/>
  </p:normalViewPr>
  <p:slideViewPr>
    <p:cSldViewPr snapToGrid="0">
      <p:cViewPr varScale="1">
        <p:scale>
          <a:sx n="61" d="100"/>
          <a:sy n="61" d="100"/>
        </p:scale>
        <p:origin x="2184" y="43"/>
      </p:cViewPr>
      <p:guideLst/>
    </p:cSldViewPr>
  </p:slideViewPr>
  <p:notesTextViewPr>
    <p:cViewPr>
      <p:scale>
        <a:sx n="1" d="1"/>
        <a:sy n="1" d="1"/>
      </p:scale>
      <p:origin x="0" y="-22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5EAC724-B034-4F10-A9E8-56851A79B80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0872BB-3892-4F66-9266-36ADB83FAD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8B45424-6BAC-416C-8F6C-5F9DE854A36B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CA138F-B9BA-4997-B3C2-DA8B17B6D5B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E86FBF-0AC4-4904-8ED7-0BD6E9AC71D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34D737-83BD-4FDE-8CF3-8BC01E7FCF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0737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2-20T13:20:14.763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4378 1 7881,'-80'10'0,"-9"-1"0,-9-2-468,-2-3 458,9-2 0,-3-1 0,1 7 1,44-1-1,-1 2 0,-5 3 0,-1 2 1,-2 3-1,-2 0 0,-3 2 1,-2 0-1,-1-1 0,-1-1 0,-4 1 1,-1-2-1,-1 0 0,0 0 1,-2 0-1,0-2 0,1 0 0,-1-1 1,-2-2-1,0 0 0,-1-2 0,-2-1 1,-4 1-1,0-2 0,-1 1 1,-1 0-1,-1 1 0,0 0 0,-1 1 1,1 2-1,-3 1 0,0 2 1,-2 2-1,-1 2-45,-3 1 0,-1 3 0,32-5 0,-1 3 0,1 0 1,1 2-1,1 0 0,0 2-511,0 1 0,2 1 0,-2 2 0,-7 6 0,-2 2 0,2 2 0,-1 2 0,0 0 0,1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733702-C25A-40B9-9167-54BAA79B29B0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2FC7A4-3D1B-482D-8C9D-7642A2CE30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92653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Giới thiệu ngắn: "Kính chào hội đồng, em là Nguyễn Đức Thắm, sinh viên ngành Kỹ thuật máy tính. Hôm nay em xin trình bày đồ án tốt nghiệp với đề tài...</a:t>
            </a:r>
          </a:p>
          <a:p>
            <a:endParaRPr lang="en-US"/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20950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ỗ dành sẵn cho Hình ảnh của Bản chiế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Chỗ dành sẵn cho Ghi chú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Toàn cầu</a:t>
            </a:r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Ô nhiễm không khí gây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**~7 triệu ca tử vong sớm/năm**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(WHO, 2021)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PM2.5 — tác nhân chính: xâm nhập sâu vào hệ hô hấp và tuần hoàn</a:t>
            </a:r>
          </a:p>
          <a:p>
            <a:b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Việt Nam</a:t>
            </a:r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PM2.5 trung bình năm: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**28,7 µg/m³**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gấp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**~6× ngưỡng WHO**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(5 µg/m³)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Xếp thứ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**23 thế giới**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thứ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**2 Đông Nam Á**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về ô nhiễm (IQAir, 2024)</a:t>
            </a: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Hà Nội: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**45,4 µg/m³**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gấp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**9× ngưỡng WHO**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xếp thứ 7/121 thủ đô</a:t>
            </a:r>
          </a:p>
          <a:p>
            <a:b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### Hạn chế hệ thống quan trắc</a:t>
            </a:r>
            <a:endParaRPr lang="en-US" sz="1200" b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 Chỉ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**~35 trạm đo tự động**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trên cả nước → không đủ giám sát vi mô (từng khu phố, trường học, bệnh viện)</a:t>
            </a:r>
          </a:p>
        </p:txBody>
      </p:sp>
      <p:sp>
        <p:nvSpPr>
          <p:cNvPr id="4" name="Chỗ dành sẵn cho Số hiệu Bản chiế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B2FC7A4-3D1B-482D-8C9D-7642A2CE3076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8379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598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6">
            <a:extLst>
              <a:ext uri="{FF2B5EF4-FFF2-40B4-BE49-F238E27FC236}">
                <a16:creationId xmlns:a16="http://schemas.microsoft.com/office/drawing/2014/main" id="{C5DD3B49-F775-49FC-ACAD-45B074D1C9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80488" y="2365248"/>
            <a:ext cx="4383024" cy="2127504"/>
          </a:xfrm>
          <a:prstGeom prst="rect">
            <a:avLst/>
          </a:prstGeom>
        </p:spPr>
        <p:txBody>
          <a:bodyPr/>
          <a:lstStyle>
            <a:lvl1pPr algn="ctr">
              <a:defRPr sz="4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88040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64949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30FC03-A82E-4B34-AE4B-8AC40A0CD5B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49FB7E-C73B-452D-861A-6C73FF59EC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5733BD-32DD-483E-A597-B70529CBD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Title 6">
            <a:extLst>
              <a:ext uri="{FF2B5EF4-FFF2-40B4-BE49-F238E27FC236}">
                <a16:creationId xmlns:a16="http://schemas.microsoft.com/office/drawing/2014/main" id="{44DCE4FD-DEE1-4DE9-A40E-616ACEB2FEC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1: ………………………………………</a:t>
            </a:r>
          </a:p>
        </p:txBody>
      </p:sp>
      <p:sp>
        <p:nvSpPr>
          <p:cNvPr id="11" name="Content Placeholder 8">
            <a:extLst>
              <a:ext uri="{FF2B5EF4-FFF2-40B4-BE49-F238E27FC236}">
                <a16:creationId xmlns:a16="http://schemas.microsoft.com/office/drawing/2014/main" id="{90DFCEB3-810D-48E5-B7BA-1A6C924A64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841247"/>
            <a:ext cx="8674100" cy="5303393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7547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2: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31488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3: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79857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1D2FCDAA-D1AE-440A-ADEA-98F1ACB064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C4186984-389F-440C-BD79-8D1349BD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5C66723D-7FE6-462E-9733-48764D89B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03483232-D29A-4255-9149-0177F87858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28828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1BAF8AD-67D8-46AD-A292-05589E8273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2000" y="1423289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itle 6">
            <a:extLst>
              <a:ext uri="{FF2B5EF4-FFF2-40B4-BE49-F238E27FC236}">
                <a16:creationId xmlns:a16="http://schemas.microsoft.com/office/drawing/2014/main" id="{EFD61387-9809-4E21-B8EA-93815E5E8F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4: ………………………………………</a:t>
            </a:r>
          </a:p>
        </p:txBody>
      </p:sp>
    </p:spTree>
    <p:extLst>
      <p:ext uri="{BB962C8B-B14F-4D97-AF65-F5344CB8AC3E}">
        <p14:creationId xmlns:p14="http://schemas.microsoft.com/office/powerpoint/2010/main" val="1353402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6">
            <a:extLst>
              <a:ext uri="{FF2B5EF4-FFF2-40B4-BE49-F238E27FC236}">
                <a16:creationId xmlns:a16="http://schemas.microsoft.com/office/drawing/2014/main" id="{689FBFE6-E7AD-40DE-88B8-794C73F956C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1295" y="224917"/>
            <a:ext cx="5397627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5: ……………………………………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1C2ED7A5-CBB5-4B5C-BD2A-3596087A71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24251" y="1011238"/>
            <a:ext cx="5384672" cy="552926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Date Placeholder 3">
            <a:extLst>
              <a:ext uri="{FF2B5EF4-FFF2-40B4-BE49-F238E27FC236}">
                <a16:creationId xmlns:a16="http://schemas.microsoft.com/office/drawing/2014/main" id="{E21F2271-B488-4DC9-A50E-592D82F22CE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706E966D-F219-41DE-82BF-3F3121B7DC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F61A491-C108-489A-B2EA-9FC27DAD4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388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6: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85406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7: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963168"/>
            <a:ext cx="8674100" cy="5132832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342310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6">
            <a:extLst>
              <a:ext uri="{FF2B5EF4-FFF2-40B4-BE49-F238E27FC236}">
                <a16:creationId xmlns:a16="http://schemas.microsoft.com/office/drawing/2014/main" id="{74BADCE4-794A-4B69-9AB7-3D794A1F9A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8: ………………………………………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8375D86-D290-4003-A314-C916116C42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95884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FB62406B-26DB-4A01-B048-1F2C7540F8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39056" y="1533017"/>
            <a:ext cx="3886200" cy="4351338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Date Placeholder 3">
            <a:extLst>
              <a:ext uri="{FF2B5EF4-FFF2-40B4-BE49-F238E27FC236}">
                <a16:creationId xmlns:a16="http://schemas.microsoft.com/office/drawing/2014/main" id="{A52862E5-D8E1-49BF-8D1B-BF0ED6579E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591AAF74-01FB-49A8-9375-959140F1D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BBF4BC2F-980C-499D-A4B9-E7CD3D4475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007929A3-17ED-41F3-AD36-819BC9DFBCB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4973EE95-672F-4E5A-A918-2F51DB2C3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B17F6F6-0CA3-4D52-AA3D-7CF8ADE793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itle 6">
            <a:extLst>
              <a:ext uri="{FF2B5EF4-FFF2-40B4-BE49-F238E27FC236}">
                <a16:creationId xmlns:a16="http://schemas.microsoft.com/office/drawing/2014/main" id="{943CD72D-5295-43E4-B175-0EA61084AD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35077" y="78613"/>
            <a:ext cx="8673846" cy="451739"/>
          </a:xfrm>
          <a:prstGeom prst="rect">
            <a:avLst/>
          </a:prstGeom>
        </p:spPr>
        <p:txBody>
          <a:bodyPr/>
          <a:lstStyle>
            <a:lvl1pPr>
              <a:defRPr sz="2800" b="1">
                <a:solidFill>
                  <a:schemeClr val="bg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dirty="0"/>
              <a:t>Title 9: ………………………………………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0C9A3A79-B187-4A33-8EBB-92ECD8BA3C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34950" y="1215024"/>
            <a:ext cx="8674100" cy="4880975"/>
          </a:xfrm>
          <a:prstGeom prst="rect">
            <a:avLst/>
          </a:prstGeom>
        </p:spPr>
        <p:txBody>
          <a:bodyPr/>
          <a:lstStyle>
            <a:lvl1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  <a:lvl2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2pPr>
            <a:lvl3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3pPr>
            <a:lvl4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4pPr>
            <a:lvl5pPr>
              <a:defRPr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664829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Captio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76EAE966-F590-4BAF-A55B-75735FCC661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8650" y="6565257"/>
            <a:ext cx="2057400" cy="365125"/>
          </a:xfrm>
          <a:prstGeom prst="rect">
            <a:avLst/>
          </a:prstGeom>
        </p:spPr>
        <p:txBody>
          <a:bodyPr/>
          <a:lstStyle>
            <a:lvl1pPr>
              <a:defRPr sz="1200" b="1">
                <a:solidFill>
                  <a:schemeClr val="bg1">
                    <a:lumMod val="95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F70EAA40-3A53-4A3D-924A-D38F1059C7D5}" type="datetime1">
              <a:rPr lang="en-US" smtClean="0"/>
              <a:pPr/>
              <a:t>7/2/2026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330CA1C-4366-43E8-9DC8-B360FC11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028950" y="6565257"/>
            <a:ext cx="3086100" cy="365125"/>
          </a:xfrm>
          <a:prstGeom prst="rect">
            <a:avLst/>
          </a:prstGeom>
        </p:spPr>
        <p:txBody>
          <a:bodyPr/>
          <a:lstStyle>
            <a:lvl1pPr algn="ct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2DB13F6-9193-4FE2-AE85-5B96248CC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572126"/>
            <a:ext cx="2057400" cy="365125"/>
          </a:xfrm>
          <a:prstGeom prst="rect">
            <a:avLst/>
          </a:prstGeom>
        </p:spPr>
        <p:txBody>
          <a:bodyPr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fld id="{9EA0BE3B-158A-4EDF-80DC-E394A0D1600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70462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9895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83" r:id="rId7"/>
    <p:sldLayoutId id="2147483676" r:id="rId8"/>
    <p:sldLayoutId id="2147483679" r:id="rId9"/>
    <p:sldLayoutId id="2147483680" r:id="rId10"/>
    <p:sldLayoutId id="2147483681" r:id="rId11"/>
    <p:sldLayoutId id="2147483682" r:id="rId12"/>
    <p:sldLayoutId id="2147483678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sv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Viết tay 1">
                <a:extLst>
                  <a:ext uri="{FF2B5EF4-FFF2-40B4-BE49-F238E27FC236}">
                    <a16:creationId xmlns:a16="http://schemas.microsoft.com/office/drawing/2014/main" id="{3766EBD4-31D7-B665-869A-01DABDA2039D}"/>
                  </a:ext>
                </a:extLst>
              </p14:cNvPr>
              <p14:cNvContentPartPr/>
              <p14:nvPr/>
            </p14:nvContentPartPr>
            <p14:xfrm>
              <a:off x="5899505" y="3203640"/>
              <a:ext cx="1576440" cy="352440"/>
            </p14:xfrm>
          </p:contentPart>
        </mc:Choice>
        <mc:Fallback xmlns="">
          <p:pic>
            <p:nvPicPr>
              <p:cNvPr id="2" name="Viết tay 1">
                <a:extLst>
                  <a:ext uri="{FF2B5EF4-FFF2-40B4-BE49-F238E27FC236}">
                    <a16:creationId xmlns:a16="http://schemas.microsoft.com/office/drawing/2014/main" id="{3766EBD4-31D7-B665-869A-01DABDA2039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84385" y="3188520"/>
                <a:ext cx="1606680" cy="383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082086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9A3716-1A4C-0838-86B6-64CAAF77D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003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">
            <a:extLst>
              <a:ext uri="{FF2B5EF4-FFF2-40B4-BE49-F238E27FC236}">
                <a16:creationId xmlns:a16="http://schemas.microsoft.com/office/drawing/2014/main" id="{67FB4AA9-E9AF-4CE0-A0DC-99D7952890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13012" y="398419"/>
            <a:ext cx="2037225" cy="611594"/>
          </a:xfrm>
          <a:prstGeom prst="rect">
            <a:avLst/>
          </a:prstGeom>
        </p:spPr>
      </p:pic>
      <p:sp>
        <p:nvSpPr>
          <p:cNvPr id="11" name="Title 6">
            <a:extLst>
              <a:ext uri="{FF2B5EF4-FFF2-40B4-BE49-F238E27FC236}">
                <a16:creationId xmlns:a16="http://schemas.microsoft.com/office/drawing/2014/main" id="{FF8BDF70-CFA6-4031-86B7-31F910D8115D}"/>
              </a:ext>
            </a:extLst>
          </p:cNvPr>
          <p:cNvSpPr txBox="1">
            <a:spLocks/>
          </p:cNvSpPr>
          <p:nvPr/>
        </p:nvSpPr>
        <p:spPr>
          <a:xfrm>
            <a:off x="188726" y="1816590"/>
            <a:ext cx="7204111" cy="147378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vi-VN" sz="4000"/>
              <a:t>Hệ thống giám sát chất lượng không khí đô thị</a:t>
            </a:r>
            <a:r>
              <a:rPr lang="en-US" sz="4000"/>
              <a:t> </a:t>
            </a:r>
            <a:r>
              <a:rPr lang="vi-VN" sz="4000"/>
              <a:t>sử dụng mạng cảm biến không dây LoRa</a:t>
            </a:r>
            <a:endParaRPr lang="en-US" sz="4000" dirty="0"/>
          </a:p>
        </p:txBody>
      </p:sp>
      <p:sp>
        <p:nvSpPr>
          <p:cNvPr id="12" name="Title 6">
            <a:extLst>
              <a:ext uri="{FF2B5EF4-FFF2-40B4-BE49-F238E27FC236}">
                <a16:creationId xmlns:a16="http://schemas.microsoft.com/office/drawing/2014/main" id="{A4ACF486-B7D8-4A5A-B633-83527A2F99E2}"/>
              </a:ext>
            </a:extLst>
          </p:cNvPr>
          <p:cNvSpPr txBox="1">
            <a:spLocks/>
          </p:cNvSpPr>
          <p:nvPr/>
        </p:nvSpPr>
        <p:spPr>
          <a:xfrm>
            <a:off x="413011" y="3567622"/>
            <a:ext cx="7419774" cy="848793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2400" b="0"/>
              <a:t>Sinh viên:	Nguyễn Đức Thắm – MSSV: 20225395</a:t>
            </a:r>
            <a:endParaRPr lang="en-US" sz="2400" b="0" dirty="0"/>
          </a:p>
          <a:p>
            <a:r>
              <a:rPr lang="en-US" sz="2400" b="0"/>
              <a:t>GVHD:	ThS. Lê Bá Vui</a:t>
            </a:r>
          </a:p>
          <a:p>
            <a:r>
              <a:rPr lang="en-US" sz="2400" b="0"/>
              <a:t>Khoa:		Kỹ thuật máy tính</a:t>
            </a:r>
          </a:p>
          <a:p>
            <a:r>
              <a:rPr lang="en-US" sz="2400" b="0"/>
              <a:t>Trường: 	Công nghệ thông tin và truyền thông</a:t>
            </a:r>
            <a:endParaRPr lang="en-US" sz="2400" b="0" dirty="0"/>
          </a:p>
          <a:p>
            <a:endParaRPr lang="en-US" sz="2400" b="0" dirty="0"/>
          </a:p>
        </p:txBody>
      </p:sp>
    </p:spTree>
    <p:extLst>
      <p:ext uri="{BB962C8B-B14F-4D97-AF65-F5344CB8AC3E}">
        <p14:creationId xmlns:p14="http://schemas.microsoft.com/office/powerpoint/2010/main" val="7431729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A7ECF-1792-4255-AF79-1338056A1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Nội dung trình bày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7A365B-2C63-46A3-AD64-BA52831BEC4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/>
              <a:t>Đặt vấn đề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Mục tiêu đề tài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Giải pháp kỹ thuật</a:t>
            </a:r>
          </a:p>
          <a:p>
            <a:pPr marL="514350" indent="-514350">
              <a:buFont typeface="+mj-lt"/>
              <a:buAutoNum type="arabicPeriod"/>
            </a:pPr>
            <a:r>
              <a:rPr lang="vi-VN"/>
              <a:t>Backend &amp; Cơ sở dữ liệu</a:t>
            </a:r>
            <a:endParaRPr lang="en-US"/>
          </a:p>
          <a:p>
            <a:pPr marL="514350" indent="-514350">
              <a:buFont typeface="+mj-lt"/>
              <a:buAutoNum type="arabicPeriod"/>
            </a:pPr>
            <a:r>
              <a:rPr lang="en-US"/>
              <a:t>Demo &amp; Đánh giá</a:t>
            </a:r>
          </a:p>
          <a:p>
            <a:pPr marL="514350" indent="-514350">
              <a:buFont typeface="+mj-lt"/>
              <a:buAutoNum type="arabicPeriod"/>
            </a:pPr>
            <a:r>
              <a:rPr lang="en-US"/>
              <a:t>Đóng góp &amp; Kết luận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67697B-E2F6-452F-B4AF-9444ACC6F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4012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7101F79-2CBF-4392-B538-B0B5700DB4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EF27CAA-32BA-4E6B-B8C0-1A481E08E8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1. Đặt vấn đề - Thực trạng ô nhiễm không khí</a:t>
            </a:r>
            <a:br>
              <a:rPr lang="en-US"/>
            </a:br>
            <a:br>
              <a:rPr lang="en-US"/>
            </a:b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9563378-38F8-4CB3-AF99-2C56FCF5540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35077" y="1061883"/>
            <a:ext cx="4336923" cy="4552335"/>
          </a:xfrm>
        </p:spPr>
        <p:txBody>
          <a:bodyPr/>
          <a:lstStyle/>
          <a:p>
            <a:r>
              <a:rPr lang="vi-VN" sz="2000"/>
              <a:t>PM2.5 Việt Nam: </a:t>
            </a:r>
            <a:r>
              <a:rPr lang="vi-VN" b="1">
                <a:solidFill>
                  <a:schemeClr val="accent2"/>
                </a:solidFill>
              </a:rPr>
              <a:t>28,7</a:t>
            </a:r>
            <a:r>
              <a:rPr lang="vi-VN" b="1"/>
              <a:t> µg/m³ </a:t>
            </a:r>
            <a:r>
              <a:rPr lang="vi-VN" sz="2000"/>
              <a:t>gấp ~</a:t>
            </a:r>
            <a:r>
              <a:rPr lang="vi-VN" sz="2000" b="1"/>
              <a:t>6×</a:t>
            </a:r>
            <a:r>
              <a:rPr lang="vi-VN" sz="2000"/>
              <a:t> ngưỡng WHO (</a:t>
            </a:r>
            <a:r>
              <a:rPr lang="vi-VN" sz="2000" b="1">
                <a:solidFill>
                  <a:schemeClr val="accent6"/>
                </a:solidFill>
              </a:rPr>
              <a:t>5</a:t>
            </a:r>
            <a:r>
              <a:rPr lang="vi-VN" sz="2000"/>
              <a:t> µg/m³)</a:t>
            </a:r>
          </a:p>
          <a:p>
            <a:r>
              <a:rPr lang="vi-VN" sz="2000"/>
              <a:t>Hà Nội: </a:t>
            </a:r>
            <a:r>
              <a:rPr lang="vi-VN" b="1">
                <a:solidFill>
                  <a:srgbClr val="FF0000"/>
                </a:solidFill>
              </a:rPr>
              <a:t>45,4</a:t>
            </a:r>
            <a:r>
              <a:rPr lang="vi-VN" b="1"/>
              <a:t> µg/m³ </a:t>
            </a:r>
            <a:br>
              <a:rPr lang="en-US" b="1"/>
            </a:br>
            <a:r>
              <a:rPr lang="vi-VN" sz="2000"/>
              <a:t>gấp </a:t>
            </a:r>
            <a:r>
              <a:rPr lang="vi-VN" sz="2000" b="1"/>
              <a:t>9×</a:t>
            </a:r>
            <a:r>
              <a:rPr lang="vi-VN" sz="2000"/>
              <a:t> ngưỡng WHO, xếp thứ 7/121 thủ đô</a:t>
            </a:r>
          </a:p>
          <a:p>
            <a:r>
              <a:rPr lang="vi-VN" sz="2000"/>
              <a:t>Xếp thứ </a:t>
            </a:r>
            <a:r>
              <a:rPr lang="vi-VN" sz="2000" b="1"/>
              <a:t>23</a:t>
            </a:r>
            <a:r>
              <a:rPr lang="vi-VN" sz="2000"/>
              <a:t> thế giới, thứ </a:t>
            </a:r>
            <a:r>
              <a:rPr lang="vi-VN" sz="2000" b="1"/>
              <a:t>2</a:t>
            </a:r>
            <a:r>
              <a:rPr lang="vi-VN" sz="2000"/>
              <a:t> Đông Nam Á về ô nhiễm (IQAir 2024)</a:t>
            </a:r>
          </a:p>
          <a:p>
            <a:r>
              <a:rPr lang="vi-VN" sz="2000"/>
              <a:t>Chỉ </a:t>
            </a:r>
            <a:r>
              <a:rPr lang="vi-VN" sz="2000" b="1"/>
              <a:t>~35 </a:t>
            </a:r>
            <a:r>
              <a:rPr lang="vi-VN" sz="2000"/>
              <a:t>trạm đo tự động trên cả nước → không đủ giám sát vi mô</a:t>
            </a:r>
            <a:endParaRPr lang="en-US" sz="2000"/>
          </a:p>
        </p:txBody>
      </p:sp>
      <p:pic>
        <p:nvPicPr>
          <p:cNvPr id="8" name="Đồ họa 7">
            <a:extLst>
              <a:ext uri="{FF2B5EF4-FFF2-40B4-BE49-F238E27FC236}">
                <a16:creationId xmlns:a16="http://schemas.microsoft.com/office/drawing/2014/main" id="{8734EB6E-3E79-6861-F065-CB9132C526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63845" y="854743"/>
            <a:ext cx="4460938" cy="5551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640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776946D-AB92-4D05-97ED-4EDF0AB0F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867383" y="6492878"/>
            <a:ext cx="2057400" cy="365125"/>
          </a:xfrm>
          <a:prstGeom prst="rect">
            <a:avLst/>
          </a:prstGeom>
        </p:spPr>
        <p:txBody>
          <a:bodyPr/>
          <a:lstStyle/>
          <a:p>
            <a:fld id="{9EA0BE3B-158A-4EDF-80DC-E394A0D1600F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B6CB3A-046A-4C56-A02D-DBF67242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52" y="112543"/>
            <a:ext cx="8635896" cy="43609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77CB842-AD15-4F5A-8EF5-EBD6CE5F54A3}"/>
              </a:ext>
            </a:extLst>
          </p:cNvPr>
          <p:cNvSpPr>
            <a:spLocks noGrp="1"/>
          </p:cNvSpPr>
          <p:nvPr>
            <p:ph type="pic" sz="quarter" idx="4294967295"/>
          </p:nvPr>
        </p:nvSpPr>
        <p:spPr>
          <a:xfrm>
            <a:off x="4660869" y="1406769"/>
            <a:ext cx="4083844" cy="4656137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846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E9CAB07-B0CD-4712-9734-2D3CBC725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9C6F49-1887-4BE4-A583-FB79B8A22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11219-8684-45FC-A126-E067924AC7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58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4AD8E52-349C-EF76-69EB-C09C6078A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BC82-5CC8-86B3-6CF8-6714E6B82E3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lvl="1"/>
            <a:r>
              <a:rPr lang="vi-VN"/>
              <a:t>PM2.5 trung bình năm: 28,7 µg/m³ — gấp ~6× ngưỡng WHO (5 µg/m³)</a:t>
            </a:r>
            <a:endParaRPr lang="en-US"/>
          </a:p>
          <a:p>
            <a:pPr lvl="1"/>
            <a:r>
              <a:rPr lang="en-US"/>
              <a:t>Xếp thứ 23 thế giới, thứ 2 Đông Nam Á về ô nhiễm (IQAir, 2024)</a:t>
            </a:r>
          </a:p>
          <a:p>
            <a:pPr lvl="1"/>
            <a:r>
              <a:rPr lang="vi-VN"/>
              <a:t>Hà Nội: 45,4 µg/m³ — gấp 9× ngưỡng WHO, xếp thứ 7/121 thủ đô</a:t>
            </a:r>
            <a:endParaRPr lang="en-US"/>
          </a:p>
          <a:p>
            <a:pPr lvl="1"/>
            <a:r>
              <a:rPr lang="vi-VN"/>
              <a:t>Chỉ ~35 trạm đo tự động trên cả nước </a:t>
            </a:r>
            <a:endParaRPr lang="en-US"/>
          </a:p>
          <a:p>
            <a:pPr marL="457200" lvl="1" indent="0">
              <a:buNone/>
            </a:pPr>
            <a:r>
              <a:rPr lang="vi-VN"/>
              <a:t>→ không đủ giám sát vi mô (từng khu phố, trường học, bệnh viện)</a:t>
            </a:r>
            <a:endParaRPr lang="en-US"/>
          </a:p>
          <a:p>
            <a:endParaRPr lang="en-US"/>
          </a:p>
        </p:txBody>
      </p:sp>
      <p:pic>
        <p:nvPicPr>
          <p:cNvPr id="7" name="Chỗ dành sẵn cho Nội dung 6">
            <a:extLst>
              <a:ext uri="{FF2B5EF4-FFF2-40B4-BE49-F238E27FC236}">
                <a16:creationId xmlns:a16="http://schemas.microsoft.com/office/drawing/2014/main" id="{87179AFD-C3E2-6F1F-B2E4-756E25B8E0C9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0" y="2628106"/>
            <a:ext cx="3886200" cy="1943100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5131D202-5F2A-ABF7-24FC-3F311F569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8406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B7E207-A869-B342-B6D9-77005A268D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824" y="1396289"/>
            <a:ext cx="3754752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 sz="44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CF161-A6C1-F8C7-C9A5-5CD5BD5C17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3363" y="599325"/>
            <a:ext cx="411480" cy="548640"/>
          </a:xfrm>
          <a:prstGeom prst="ellipse">
            <a:avLst/>
          </a:prstGeom>
          <a:solidFill>
            <a:srgbClr val="51333D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pPr algn="ctr" defTabSz="914400">
              <a:spcAft>
                <a:spcPts val="600"/>
              </a:spcAft>
              <a:defRPr/>
            </a:pPr>
            <a:fld id="{9EA0BE3B-158A-4EDF-80DC-E394A0D1600F}" type="slidenum">
              <a:rPr lang="en-US" sz="1300" b="0">
                <a:solidFill>
                  <a:srgbClr val="FFFFFF"/>
                </a:solidFill>
                <a:latin typeface="Calibri" panose="020F0502020204030204"/>
                <a:ea typeface="+mn-ea"/>
                <a:cs typeface="+mn-cs"/>
              </a:rPr>
              <a:pPr algn="ctr" defTabSz="914400">
                <a:spcAft>
                  <a:spcPts val="600"/>
                </a:spcAft>
                <a:defRPr/>
              </a:pPr>
              <a:t>9</a:t>
            </a:fld>
            <a:endParaRPr lang="en-US" sz="1300" b="0">
              <a:solidFill>
                <a:srgbClr val="FFFFFF"/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08968A-F2A2-8005-6E03-B78E65864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4157" y="2871982"/>
            <a:ext cx="3754752" cy="3181684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en-US" sz="1600">
              <a:latin typeface="+mn-lt"/>
              <a:ea typeface="+mn-ea"/>
              <a:cs typeface="+mn-cs"/>
            </a:endParaRPr>
          </a:p>
        </p:txBody>
      </p:sp>
      <p:sp>
        <p:nvSpPr>
          <p:cNvPr id="17" name="Freeform: Shape 10">
            <a:extLst>
              <a:ext uri="{FF2B5EF4-FFF2-40B4-BE49-F238E27FC236}">
                <a16:creationId xmlns:a16="http://schemas.microsoft.com/office/drawing/2014/main" id="{4F74D28C-3268-4E35-8EE1-D92CB4A85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14413" y="0"/>
            <a:ext cx="4629587" cy="6858000"/>
          </a:xfrm>
          <a:custGeom>
            <a:avLst/>
            <a:gdLst>
              <a:gd name="connsiteX0" fmla="*/ 6172782 w 6172782"/>
              <a:gd name="connsiteY0" fmla="*/ 0 h 6858000"/>
              <a:gd name="connsiteX1" fmla="*/ 69075 w 6172782"/>
              <a:gd name="connsiteY1" fmla="*/ 0 h 6858000"/>
              <a:gd name="connsiteX2" fmla="*/ 35131 w 6172782"/>
              <a:gd name="connsiteY2" fmla="*/ 267128 h 6858000"/>
              <a:gd name="connsiteX3" fmla="*/ 0 w 6172782"/>
              <a:gd name="connsiteY3" fmla="*/ 962845 h 6858000"/>
              <a:gd name="connsiteX4" fmla="*/ 3276103 w 6172782"/>
              <a:gd name="connsiteY4" fmla="*/ 6782205 h 6858000"/>
              <a:gd name="connsiteX5" fmla="*/ 3407923 w 6172782"/>
              <a:gd name="connsiteY5" fmla="*/ 6858000 h 6858000"/>
              <a:gd name="connsiteX6" fmla="*/ 6172782 w 617278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172782" h="6858000">
                <a:moveTo>
                  <a:pt x="617278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617278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Picture 6" descr="Woman and child sailing on boat">
            <a:extLst>
              <a:ext uri="{FF2B5EF4-FFF2-40B4-BE49-F238E27FC236}">
                <a16:creationId xmlns:a16="http://schemas.microsoft.com/office/drawing/2014/main" id="{8D296E74-50DF-B7DF-59BD-7C076F6CAF88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24303" r="31721" b="-1"/>
          <a:stretch/>
        </p:blipFill>
        <p:spPr>
          <a:xfrm>
            <a:off x="4625884" y="10"/>
            <a:ext cx="4518116" cy="6857990"/>
          </a:xfrm>
          <a:custGeom>
            <a:avLst/>
            <a:gdLst/>
            <a:ahLst/>
            <a:cxnLst/>
            <a:rect l="l" t="t" r="r" b="b"/>
            <a:pathLst>
              <a:path w="6024154" h="6858000">
                <a:moveTo>
                  <a:pt x="70374" y="0"/>
                </a:moveTo>
                <a:lnTo>
                  <a:pt x="6024154" y="0"/>
                </a:lnTo>
                <a:lnTo>
                  <a:pt x="6024154" y="6858000"/>
                </a:lnTo>
                <a:lnTo>
                  <a:pt x="3587167" y="6858000"/>
                </a:lnTo>
                <a:lnTo>
                  <a:pt x="3474220" y="6800152"/>
                </a:lnTo>
                <a:cubicBezTo>
                  <a:pt x="1404818" y="5675986"/>
                  <a:pt x="0" y="3483472"/>
                  <a:pt x="0" y="962844"/>
                </a:cubicBezTo>
                <a:cubicBezTo>
                  <a:pt x="0" y="733696"/>
                  <a:pt x="11610" y="507260"/>
                  <a:pt x="34274" y="284091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6514988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A5FD9F-F079-E7CB-275B-4B407F73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E73DABA-0E07-DDEE-86EE-B4224D9C9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A5E0C5-7F9C-BDE6-162B-F94E54DA8B0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47286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E2BCA-A953-E4E8-9DF4-806754165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D60EA-6653-3AE7-7289-DD8479DAF26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E6E5C-9744-5884-9CF6-BA4CC119CD4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385C89-7D1D-5A90-6795-7FC575F1E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10695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9F331FF-7367-F4F4-10DC-9F4CB4892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A942A98-C171-982E-551D-E59FBFEFF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5BA0D-33C2-2FFC-BFBC-D1CF3837647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957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DA37B5C8-2095-4D2D-97FE-E4E8D89379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A0BE3B-158A-4EDF-80DC-E394A0D1600F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F78B3876-6ECC-4098-BDD1-C48CE4B42721}"/>
              </a:ext>
            </a:extLst>
          </p:cNvPr>
          <p:cNvSpPr txBox="1">
            <a:spLocks/>
          </p:cNvSpPr>
          <p:nvPr/>
        </p:nvSpPr>
        <p:spPr>
          <a:xfrm>
            <a:off x="4181094" y="3021991"/>
            <a:ext cx="4197975" cy="814017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b="1" kern="1200">
                <a:solidFill>
                  <a:srgbClr val="C0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sz="4800" dirty="0"/>
              <a:t>THANK YOU !</a:t>
            </a:r>
          </a:p>
        </p:txBody>
      </p:sp>
    </p:spTree>
    <p:extLst>
      <p:ext uri="{BB962C8B-B14F-4D97-AF65-F5344CB8AC3E}">
        <p14:creationId xmlns:p14="http://schemas.microsoft.com/office/powerpoint/2010/main" val="2830535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CB19AD86CDF2D4DBF9DAD694EFBC09D" ma:contentTypeVersion="7" ma:contentTypeDescription="Create a new document." ma:contentTypeScope="" ma:versionID="6423fc3df46fff0625ec86a02e55459f">
  <xsd:schema xmlns:xsd="http://www.w3.org/2001/XMLSchema" xmlns:xs="http://www.w3.org/2001/XMLSchema" xmlns:p="http://schemas.microsoft.com/office/2006/metadata/properties" xmlns:ns2="757826ba-dfa3-48aa-98b2-1e988427fee5" xmlns:ns3="e4770848-7955-4ec6-9f06-ace3904740ab" targetNamespace="http://schemas.microsoft.com/office/2006/metadata/properties" ma:root="true" ma:fieldsID="24cf96f43bac35fd0bad3b1a63bec25f" ns2:_="" ns3:_="">
    <xsd:import namespace="757826ba-dfa3-48aa-98b2-1e988427fee5"/>
    <xsd:import namespace="e4770848-7955-4ec6-9f06-ace3904740a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7826ba-dfa3-48aa-98b2-1e988427fee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770848-7955-4ec6-9f06-ace3904740ab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B3CAD26-AD2C-4FFF-9DF5-EC2C983C2D6F}">
  <ds:schemaRefs>
    <ds:schemaRef ds:uri="http://schemas.openxmlformats.org/package/2006/metadata/core-properties"/>
    <ds:schemaRef ds:uri="http://purl.org/dc/terms/"/>
    <ds:schemaRef ds:uri="http://purl.org/dc/dcmitype/"/>
    <ds:schemaRef ds:uri="http://www.w3.org/XML/1998/namespace"/>
    <ds:schemaRef ds:uri="http://purl.org/dc/elements/1.1/"/>
    <ds:schemaRef ds:uri="http://schemas.microsoft.com/office/infopath/2007/PartnerControls"/>
    <ds:schemaRef ds:uri="http://schemas.microsoft.com/office/2006/documentManagement/types"/>
    <ds:schemaRef ds:uri="c72df4cc-d2de-4b7e-8388-06b9b73bb217"/>
    <ds:schemaRef ds:uri="c070d92c-e005-4177-a1a8-b2208be38bba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045DE4D0-16BA-461B-9401-3A89C2173BD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646CC4-8286-4FA4-AD82-BCB6211243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57826ba-dfa3-48aa-98b2-1e988427fee5"/>
    <ds:schemaRef ds:uri="e4770848-7955-4ec6-9f06-ace3904740a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247</TotalTime>
  <Words>469</Words>
  <Application>Microsoft Office PowerPoint</Application>
  <PresentationFormat>Trình chiếu Trên màn hình (4:3)</PresentationFormat>
  <Paragraphs>47</Paragraphs>
  <Slides>13</Slides>
  <Notes>2</Notes>
  <HiddenSlides>0</HiddenSlides>
  <MMClips>0</MMClips>
  <ScaleCrop>false</ScaleCrop>
  <HeadingPairs>
    <vt:vector size="6" baseType="variant">
      <vt:variant>
        <vt:lpstr>Phông được Dùng</vt:lpstr>
      </vt:variant>
      <vt:variant>
        <vt:i4>3</vt:i4>
      </vt:variant>
      <vt:variant>
        <vt:lpstr>Chủ đề</vt:lpstr>
      </vt:variant>
      <vt:variant>
        <vt:i4>1</vt:i4>
      </vt:variant>
      <vt:variant>
        <vt:lpstr>Tiêu đề Bản chiếu</vt:lpstr>
      </vt:variant>
      <vt:variant>
        <vt:i4>13</vt:i4>
      </vt:variant>
    </vt:vector>
  </HeadingPairs>
  <TitlesOfParts>
    <vt:vector size="17" baseType="lpstr">
      <vt:lpstr>Arial</vt:lpstr>
      <vt:lpstr>Calibri</vt:lpstr>
      <vt:lpstr>Lato</vt:lpstr>
      <vt:lpstr>Office Theme</vt:lpstr>
      <vt:lpstr>Bản trình bày PowerPoint</vt:lpstr>
      <vt:lpstr>Bản trình bày PowerPoint</vt:lpstr>
      <vt:lpstr>Bản trình bày PowerPoint</vt:lpstr>
      <vt:lpstr>Nội dung trình bày</vt:lpstr>
      <vt:lpstr>1. Đặt vấn đề - Thực trạng ô nhiễm không khí  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  <vt:lpstr>Bản trình bày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Phong TT &amp; QTTH</dc:creator>
  <cp:lastModifiedBy>Nguyen Duc Tham 20225395</cp:lastModifiedBy>
  <cp:revision>20</cp:revision>
  <dcterms:created xsi:type="dcterms:W3CDTF">2021-05-28T04:32:29Z</dcterms:created>
  <dcterms:modified xsi:type="dcterms:W3CDTF">2026-07-02T14:11:34Z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0x010100ECB19AD86CDF2D4DBF9DAD694EFBC09D</vt:lpwstr>
  </property>
  <property fmtid="{D5CDD505-2E9C-101B-9397-08002B2CF9AE}" pid="3" name="MediaServiceImageTags">
    <vt:lpwstr/>
  </property>
</Properties>
</file>