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4"/>
  </p:sldMasterIdLst>
  <p:notesMasterIdLst>
    <p:notesMasterId r:id="rId26"/>
  </p:notesMasterIdLst>
  <p:handoutMasterIdLst>
    <p:handoutMasterId r:id="rId27"/>
  </p:handoutMasterIdLst>
  <p:sldIdLst>
    <p:sldId id="275" r:id="rId5"/>
    <p:sldId id="276" r:id="rId6"/>
    <p:sldId id="257" r:id="rId7"/>
    <p:sldId id="267" r:id="rId8"/>
    <p:sldId id="265" r:id="rId9"/>
    <p:sldId id="266" r:id="rId10"/>
    <p:sldId id="272" r:id="rId11"/>
    <p:sldId id="273" r:id="rId12"/>
    <p:sldId id="277" r:id="rId13"/>
    <p:sldId id="278" r:id="rId14"/>
    <p:sldId id="279" r:id="rId15"/>
    <p:sldId id="282" r:id="rId16"/>
    <p:sldId id="280" r:id="rId17"/>
    <p:sldId id="281" r:id="rId18"/>
    <p:sldId id="283" r:id="rId19"/>
    <p:sldId id="284" r:id="rId20"/>
    <p:sldId id="270" r:id="rId21"/>
    <p:sldId id="285" r:id="rId22"/>
    <p:sldId id="286" r:id="rId23"/>
    <p:sldId id="289" r:id="rId24"/>
    <p:sldId id="269"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2C9EB2-C861-4A87-9EB8-1C3C3ADDEA76}" v="318" dt="2026-07-04T16:00:09.958"/>
  </p1510:revLst>
</p1510:revInfo>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Kiểu Trung bình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Kiểu Trung bình 2 - Màu chủ đề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71" autoAdjust="0"/>
    <p:restoredTop sz="95388" autoAdjust="0"/>
  </p:normalViewPr>
  <p:slideViewPr>
    <p:cSldViewPr snapToGrid="0">
      <p:cViewPr varScale="1">
        <p:scale>
          <a:sx n="85" d="100"/>
          <a:sy n="85" d="100"/>
        </p:scale>
        <p:origin x="148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 Id="rId5" Type="http://schemas.openxmlformats.org/officeDocument/2006/relationships/image" Target="../media/image19.png"/><Relationship Id="rId4" Type="http://schemas.openxmlformats.org/officeDocument/2006/relationships/image" Target="../media/image18.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 Id="rId5" Type="http://schemas.openxmlformats.org/officeDocument/2006/relationships/image" Target="../media/image19.png"/><Relationship Id="rId4" Type="http://schemas.openxmlformats.org/officeDocument/2006/relationships/image" Target="../media/image18.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EA4B55-433A-48FC-A0C7-6F88FE637A34}"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D417911-784B-4EDE-8D10-71AF2954235D}">
      <dgm:prSet custT="1"/>
      <dgm:spPr/>
      <dgm:t>
        <a:bodyPr/>
        <a:lstStyle/>
        <a:p>
          <a:pPr>
            <a:lnSpc>
              <a:spcPct val="100000"/>
            </a:lnSpc>
          </a:pPr>
          <a:r>
            <a:rPr lang="en-US" sz="2000" b="1">
              <a:latin typeface="Lato" panose="020F0502020204030203" pitchFamily="34" charset="0"/>
              <a:ea typeface="Lato" panose="020F0502020204030203" pitchFamily="34" charset="0"/>
              <a:cs typeface="Lato" panose="020F0502020204030203" pitchFamily="34" charset="0"/>
            </a:rPr>
            <a:t>① Thu thập 6 thông số</a:t>
          </a:r>
          <a:r>
            <a:rPr lang="en-US" sz="2000">
              <a:latin typeface="Lato" panose="020F0502020204030203" pitchFamily="34" charset="0"/>
              <a:ea typeface="Lato" panose="020F0502020204030203" pitchFamily="34" charset="0"/>
              <a:cs typeface="Lato" panose="020F0502020204030203" pitchFamily="34" charset="0"/>
            </a:rPr>
            <a:t> — PM2.5, PM10, CO₂, TVOC, nhiệt độ, độ ẩm từ cảm biến chi phí thấp</a:t>
          </a:r>
        </a:p>
      </dgm:t>
    </dgm:pt>
    <dgm:pt modelId="{5315C19C-9887-4D36-91E2-2C27B3534251}" type="parTrans" cxnId="{7ED8BCFB-B71D-412C-8974-DC68E190A2CD}">
      <dgm:prSet/>
      <dgm:spPr/>
      <dgm:t>
        <a:bodyPr/>
        <a:lstStyle/>
        <a:p>
          <a:endParaRPr lang="en-US" sz="2000"/>
        </a:p>
      </dgm:t>
    </dgm:pt>
    <dgm:pt modelId="{5DED23B8-62CF-42B2-BB6A-E7ED87E01EFF}" type="sibTrans" cxnId="{7ED8BCFB-B71D-412C-8974-DC68E190A2CD}">
      <dgm:prSet/>
      <dgm:spPr/>
      <dgm:t>
        <a:bodyPr/>
        <a:lstStyle/>
        <a:p>
          <a:endParaRPr lang="en-US" sz="2000"/>
        </a:p>
      </dgm:t>
    </dgm:pt>
    <dgm:pt modelId="{FEA3593C-ABFA-49C3-8DF5-19B87875C222}">
      <dgm:prSet custT="1"/>
      <dgm:spPr/>
      <dgm:t>
        <a:bodyPr/>
        <a:lstStyle/>
        <a:p>
          <a:pPr>
            <a:lnSpc>
              <a:spcPct val="100000"/>
            </a:lnSpc>
          </a:pPr>
          <a:r>
            <a:rPr lang="en-US" sz="2000" b="1">
              <a:latin typeface="Lato" panose="020F0502020204030203" pitchFamily="34" charset="0"/>
              <a:ea typeface="Lato" panose="020F0502020204030203" pitchFamily="34" charset="0"/>
              <a:cs typeface="Lato" panose="020F0502020204030203" pitchFamily="34" charset="0"/>
            </a:rPr>
            <a:t>② Truyền LoRa tầm xa</a:t>
          </a:r>
          <a:r>
            <a:rPr lang="en-US" sz="2000">
              <a:latin typeface="Lato" panose="020F0502020204030203" pitchFamily="34" charset="0"/>
              <a:ea typeface="Lato" panose="020F0502020204030203" pitchFamily="34" charset="0"/>
              <a:cs typeface="Lato" panose="020F0502020204030203" pitchFamily="34" charset="0"/>
            </a:rPr>
            <a:t> — không cần WiFi/4G tại từng điểm đo</a:t>
          </a:r>
        </a:p>
      </dgm:t>
    </dgm:pt>
    <dgm:pt modelId="{FBA79D3F-027C-42F2-89A9-DCFF3A6DB305}" type="parTrans" cxnId="{961CF8B0-3E7E-4A6A-8830-DDE71E3BEEA5}">
      <dgm:prSet/>
      <dgm:spPr/>
      <dgm:t>
        <a:bodyPr/>
        <a:lstStyle/>
        <a:p>
          <a:endParaRPr lang="en-US" sz="2000"/>
        </a:p>
      </dgm:t>
    </dgm:pt>
    <dgm:pt modelId="{80DE3364-60E2-4D5F-80E4-73C1E6F47E81}" type="sibTrans" cxnId="{961CF8B0-3E7E-4A6A-8830-DDE71E3BEEA5}">
      <dgm:prSet/>
      <dgm:spPr/>
      <dgm:t>
        <a:bodyPr/>
        <a:lstStyle/>
        <a:p>
          <a:endParaRPr lang="en-US" sz="2000"/>
        </a:p>
      </dgm:t>
    </dgm:pt>
    <dgm:pt modelId="{46B3FC0E-A886-4013-9CBC-87F8056EF477}">
      <dgm:prSet custT="1"/>
      <dgm:spPr/>
      <dgm:t>
        <a:bodyPr/>
        <a:lstStyle/>
        <a:p>
          <a:pPr>
            <a:lnSpc>
              <a:spcPct val="100000"/>
            </a:lnSpc>
          </a:pPr>
          <a:r>
            <a:rPr lang="en-US" sz="2000" b="1">
              <a:latin typeface="Lato" panose="020F0502020204030203" pitchFamily="34" charset="0"/>
              <a:ea typeface="Lato" panose="020F0502020204030203" pitchFamily="34" charset="0"/>
              <a:cs typeface="Lato" panose="020F0502020204030203" pitchFamily="34" charset="0"/>
            </a:rPr>
            <a:t>③ Xử lý &amp; tính AQI</a:t>
          </a:r>
          <a:r>
            <a:rPr lang="en-US" sz="2000">
              <a:latin typeface="Lato" panose="020F0502020204030203" pitchFamily="34" charset="0"/>
              <a:ea typeface="Lato" panose="020F0502020204030203" pitchFamily="34" charset="0"/>
              <a:cs typeface="Lato" panose="020F0502020204030203" pitchFamily="34" charset="0"/>
            </a:rPr>
            <a:t> — lưu trữ chuỗi thời gian, tính AQI chuẩn US EPA</a:t>
          </a:r>
        </a:p>
      </dgm:t>
    </dgm:pt>
    <dgm:pt modelId="{8BC090CB-C757-41CD-ACAE-D580E600264B}" type="parTrans" cxnId="{4DDA1D6D-2557-48D2-91CA-4DFBD5C79BFC}">
      <dgm:prSet/>
      <dgm:spPr/>
      <dgm:t>
        <a:bodyPr/>
        <a:lstStyle/>
        <a:p>
          <a:endParaRPr lang="en-US" sz="2000"/>
        </a:p>
      </dgm:t>
    </dgm:pt>
    <dgm:pt modelId="{E3F2261C-6028-4C4C-8782-0FF4008B6B07}" type="sibTrans" cxnId="{4DDA1D6D-2557-48D2-91CA-4DFBD5C79BFC}">
      <dgm:prSet/>
      <dgm:spPr/>
      <dgm:t>
        <a:bodyPr/>
        <a:lstStyle/>
        <a:p>
          <a:endParaRPr lang="en-US" sz="2000"/>
        </a:p>
      </dgm:t>
    </dgm:pt>
    <dgm:pt modelId="{3CA4A58F-CF75-431A-8FCA-70CD9C5D1CDC}">
      <dgm:prSet custT="1"/>
      <dgm:spPr/>
      <dgm:t>
        <a:bodyPr/>
        <a:lstStyle/>
        <a:p>
          <a:pPr>
            <a:lnSpc>
              <a:spcPct val="100000"/>
            </a:lnSpc>
          </a:pPr>
          <a:r>
            <a:rPr lang="en-US" sz="2000" b="1">
              <a:latin typeface="Lato" panose="020F0502020204030203" pitchFamily="34" charset="0"/>
              <a:ea typeface="Lato" panose="020F0502020204030203" pitchFamily="34" charset="0"/>
              <a:cs typeface="Lato" panose="020F0502020204030203" pitchFamily="34" charset="0"/>
            </a:rPr>
            <a:t>④ Dashboard realtime</a:t>
          </a:r>
          <a:r>
            <a:rPr lang="en-US" sz="2000">
              <a:latin typeface="Lato" panose="020F0502020204030203" pitchFamily="34" charset="0"/>
              <a:ea typeface="Lato" panose="020F0502020204030203" pitchFamily="34" charset="0"/>
              <a:cs typeface="Lato" panose="020F0502020204030203" pitchFamily="34" charset="0"/>
            </a:rPr>
            <a:t> — bản đồ AQI, biểu đồ lịch sử, xếp hạng ô nhiễm</a:t>
          </a:r>
        </a:p>
      </dgm:t>
    </dgm:pt>
    <dgm:pt modelId="{67DD2578-5097-4E44-88FB-F82F25FDDA29}" type="parTrans" cxnId="{7E8E4467-EF82-4D7E-A299-A4A070E453F1}">
      <dgm:prSet/>
      <dgm:spPr/>
      <dgm:t>
        <a:bodyPr/>
        <a:lstStyle/>
        <a:p>
          <a:endParaRPr lang="en-US" sz="2000"/>
        </a:p>
      </dgm:t>
    </dgm:pt>
    <dgm:pt modelId="{434A6030-31F5-4C8C-98F0-27710B75270D}" type="sibTrans" cxnId="{7E8E4467-EF82-4D7E-A299-A4A070E453F1}">
      <dgm:prSet/>
      <dgm:spPr/>
      <dgm:t>
        <a:bodyPr/>
        <a:lstStyle/>
        <a:p>
          <a:endParaRPr lang="en-US" sz="2000"/>
        </a:p>
      </dgm:t>
    </dgm:pt>
    <dgm:pt modelId="{BC4AA5C6-71C6-45D1-87A1-0521988C2E8B}">
      <dgm:prSet custT="1"/>
      <dgm:spPr/>
      <dgm:t>
        <a:bodyPr/>
        <a:lstStyle/>
        <a:p>
          <a:pPr>
            <a:lnSpc>
              <a:spcPct val="100000"/>
            </a:lnSpc>
          </a:pPr>
          <a:r>
            <a:rPr lang="en-US" sz="2000" b="1">
              <a:latin typeface="Lato" panose="020F0502020204030203" pitchFamily="34" charset="0"/>
              <a:ea typeface="Lato" panose="020F0502020204030203" pitchFamily="34" charset="0"/>
              <a:cs typeface="Lato" panose="020F0502020204030203" pitchFamily="34" charset="0"/>
            </a:rPr>
            <a:t>⑤ Admin panel</a:t>
          </a:r>
          <a:r>
            <a:rPr lang="en-US" sz="2000">
              <a:latin typeface="Lato" panose="020F0502020204030203" pitchFamily="34" charset="0"/>
              <a:ea typeface="Lato" panose="020F0502020204030203" pitchFamily="34" charset="0"/>
              <a:cs typeface="Lato" panose="020F0502020204030203" pitchFamily="34" charset="0"/>
            </a:rPr>
            <a:t> — quản lý thiết bị, cảnh báo, cấu hình, xuất dữ liệu</a:t>
          </a:r>
        </a:p>
      </dgm:t>
    </dgm:pt>
    <dgm:pt modelId="{53FCFC02-CA29-46A4-8507-4DCB4D4C9FC6}" type="parTrans" cxnId="{70F7A54F-E24D-4527-A8B0-6532AA0C9EBB}">
      <dgm:prSet/>
      <dgm:spPr/>
      <dgm:t>
        <a:bodyPr/>
        <a:lstStyle/>
        <a:p>
          <a:endParaRPr lang="en-US" sz="2000"/>
        </a:p>
      </dgm:t>
    </dgm:pt>
    <dgm:pt modelId="{6F223BDE-CB04-4D7F-BF5D-37728D3A8824}" type="sibTrans" cxnId="{70F7A54F-E24D-4527-A8B0-6532AA0C9EBB}">
      <dgm:prSet/>
      <dgm:spPr/>
      <dgm:t>
        <a:bodyPr/>
        <a:lstStyle/>
        <a:p>
          <a:endParaRPr lang="en-US" sz="2000"/>
        </a:p>
      </dgm:t>
    </dgm:pt>
    <dgm:pt modelId="{32A049D4-27F5-46E9-A4B4-DA3DD3E1AB9E}" type="pres">
      <dgm:prSet presAssocID="{E9EA4B55-433A-48FC-A0C7-6F88FE637A34}" presName="root" presStyleCnt="0">
        <dgm:presLayoutVars>
          <dgm:dir/>
          <dgm:resizeHandles val="exact"/>
        </dgm:presLayoutVars>
      </dgm:prSet>
      <dgm:spPr/>
    </dgm:pt>
    <dgm:pt modelId="{7AAF6ADF-47D8-402A-9190-9983D7564203}" type="pres">
      <dgm:prSet presAssocID="{9D417911-784B-4EDE-8D10-71AF2954235D}" presName="compNode" presStyleCnt="0"/>
      <dgm:spPr/>
    </dgm:pt>
    <dgm:pt modelId="{DAA9C070-539B-48F7-99A0-A7E2E03157EF}" type="pres">
      <dgm:prSet presAssocID="{9D417911-784B-4EDE-8D10-71AF2954235D}" presName="bgRect" presStyleLbl="bgShp" presStyleIdx="0" presStyleCnt="5"/>
      <dgm:spPr/>
    </dgm:pt>
    <dgm:pt modelId="{F5A97A9B-66EC-4F50-A747-2E13C092BAA0}" type="pres">
      <dgm:prSet presAssocID="{9D417911-784B-4EDE-8D10-71AF2954235D}" presName="iconRect" presStyleLbl="node1" presStyleIdx="0" presStyleCnt="5"/>
      <dgm:spPr>
        <a:blipFill>
          <a:blip xmlns:r="http://schemas.openxmlformats.org/officeDocument/2006/relationships" r:embed="rId1"/>
          <a:srcRect/>
          <a:stretch>
            <a:fillRect/>
          </a:stretch>
        </a:blipFill>
      </dgm:spPr>
    </dgm:pt>
    <dgm:pt modelId="{7869589F-6E70-48AA-85D1-C7FF5A87EFB2}" type="pres">
      <dgm:prSet presAssocID="{9D417911-784B-4EDE-8D10-71AF2954235D}" presName="spaceRect" presStyleCnt="0"/>
      <dgm:spPr/>
    </dgm:pt>
    <dgm:pt modelId="{C8FBB4FE-001A-4FB3-839C-9A90EBB4FE9A}" type="pres">
      <dgm:prSet presAssocID="{9D417911-784B-4EDE-8D10-71AF2954235D}" presName="parTx" presStyleLbl="revTx" presStyleIdx="0" presStyleCnt="5">
        <dgm:presLayoutVars>
          <dgm:chMax val="0"/>
          <dgm:chPref val="0"/>
        </dgm:presLayoutVars>
      </dgm:prSet>
      <dgm:spPr/>
    </dgm:pt>
    <dgm:pt modelId="{ACBA4217-4231-42E2-8F7C-60EAFBF00011}" type="pres">
      <dgm:prSet presAssocID="{5DED23B8-62CF-42B2-BB6A-E7ED87E01EFF}" presName="sibTrans" presStyleCnt="0"/>
      <dgm:spPr/>
    </dgm:pt>
    <dgm:pt modelId="{0D8017DB-1AC6-47F6-986D-138E0BA364B9}" type="pres">
      <dgm:prSet presAssocID="{FEA3593C-ABFA-49C3-8DF5-19B87875C222}" presName="compNode" presStyleCnt="0"/>
      <dgm:spPr/>
    </dgm:pt>
    <dgm:pt modelId="{5392B063-E0EC-4178-B94B-023B63FAB3AF}" type="pres">
      <dgm:prSet presAssocID="{FEA3593C-ABFA-49C3-8DF5-19B87875C222}" presName="bgRect" presStyleLbl="bgShp" presStyleIdx="1" presStyleCnt="5"/>
      <dgm:spPr/>
    </dgm:pt>
    <dgm:pt modelId="{6F52A6B9-0848-452D-9082-85E9A535E7AE}" type="pres">
      <dgm:prSet presAssocID="{FEA3593C-ABFA-49C3-8DF5-19B87875C222}" presName="iconRect" presStyleLbl="node1" presStyleIdx="1" presStyleCnt="5"/>
      <dgm:spPr>
        <a:blipFill>
          <a:blip xmlns:r="http://schemas.openxmlformats.org/officeDocument/2006/relationships" r:embed="rId2"/>
          <a:srcRect/>
          <a:stretch>
            <a:fillRect/>
          </a:stretch>
        </a:blipFill>
      </dgm:spPr>
    </dgm:pt>
    <dgm:pt modelId="{A8CA04F3-A738-4832-9498-FA47961B2218}" type="pres">
      <dgm:prSet presAssocID="{FEA3593C-ABFA-49C3-8DF5-19B87875C222}" presName="spaceRect" presStyleCnt="0"/>
      <dgm:spPr/>
    </dgm:pt>
    <dgm:pt modelId="{33DECE29-4A8B-4BF6-B62A-C950562493EE}" type="pres">
      <dgm:prSet presAssocID="{FEA3593C-ABFA-49C3-8DF5-19B87875C222}" presName="parTx" presStyleLbl="revTx" presStyleIdx="1" presStyleCnt="5">
        <dgm:presLayoutVars>
          <dgm:chMax val="0"/>
          <dgm:chPref val="0"/>
        </dgm:presLayoutVars>
      </dgm:prSet>
      <dgm:spPr/>
    </dgm:pt>
    <dgm:pt modelId="{965946D4-7918-4102-9F21-27111DE095A5}" type="pres">
      <dgm:prSet presAssocID="{80DE3364-60E2-4D5F-80E4-73C1E6F47E81}" presName="sibTrans" presStyleCnt="0"/>
      <dgm:spPr/>
    </dgm:pt>
    <dgm:pt modelId="{6623E257-B9AD-4881-B3E9-1DD1385F4DD8}" type="pres">
      <dgm:prSet presAssocID="{46B3FC0E-A886-4013-9CBC-87F8056EF477}" presName="compNode" presStyleCnt="0"/>
      <dgm:spPr/>
    </dgm:pt>
    <dgm:pt modelId="{6A30DA7D-2E45-4AAB-8E83-B6323C081068}" type="pres">
      <dgm:prSet presAssocID="{46B3FC0E-A886-4013-9CBC-87F8056EF477}" presName="bgRect" presStyleLbl="bgShp" presStyleIdx="2" presStyleCnt="5"/>
      <dgm:spPr/>
    </dgm:pt>
    <dgm:pt modelId="{236899A6-94BF-475C-AC47-B280F5CA0DFC}" type="pres">
      <dgm:prSet presAssocID="{46B3FC0E-A886-4013-9CBC-87F8056EF477}" presName="iconRect" presStyleLbl="node1" presStyleIdx="2" presStyleCnt="5" custLinFactNeighborX="5725"/>
      <dgm:spPr>
        <a:blipFill>
          <a:blip xmlns:r="http://schemas.openxmlformats.org/officeDocument/2006/relationships" r:embed="rId3"/>
          <a:srcRect/>
          <a:stretch>
            <a:fillRect/>
          </a:stretch>
        </a:blipFill>
      </dgm:spPr>
    </dgm:pt>
    <dgm:pt modelId="{94F91789-6488-4750-9C84-D9E4B7AEAEDE}" type="pres">
      <dgm:prSet presAssocID="{46B3FC0E-A886-4013-9CBC-87F8056EF477}" presName="spaceRect" presStyleCnt="0"/>
      <dgm:spPr/>
    </dgm:pt>
    <dgm:pt modelId="{AA359CEE-837C-44E6-8887-760630AC2E69}" type="pres">
      <dgm:prSet presAssocID="{46B3FC0E-A886-4013-9CBC-87F8056EF477}" presName="parTx" presStyleLbl="revTx" presStyleIdx="2" presStyleCnt="5">
        <dgm:presLayoutVars>
          <dgm:chMax val="0"/>
          <dgm:chPref val="0"/>
        </dgm:presLayoutVars>
      </dgm:prSet>
      <dgm:spPr/>
    </dgm:pt>
    <dgm:pt modelId="{10BBEFF5-4D40-4F46-B80F-856E4C43275F}" type="pres">
      <dgm:prSet presAssocID="{E3F2261C-6028-4C4C-8782-0FF4008B6B07}" presName="sibTrans" presStyleCnt="0"/>
      <dgm:spPr/>
    </dgm:pt>
    <dgm:pt modelId="{61C55608-674A-4323-8F2D-1770C5AA2F28}" type="pres">
      <dgm:prSet presAssocID="{3CA4A58F-CF75-431A-8FCA-70CD9C5D1CDC}" presName="compNode" presStyleCnt="0"/>
      <dgm:spPr/>
    </dgm:pt>
    <dgm:pt modelId="{97E03E53-F913-4EE6-ACAE-B7E32CED8A68}" type="pres">
      <dgm:prSet presAssocID="{3CA4A58F-CF75-431A-8FCA-70CD9C5D1CDC}" presName="bgRect" presStyleLbl="bgShp" presStyleIdx="3" presStyleCnt="5"/>
      <dgm:spPr/>
    </dgm:pt>
    <dgm:pt modelId="{265FF4E6-E4C8-43A3-9A26-12B6D424E4B5}" type="pres">
      <dgm:prSet presAssocID="{3CA4A58F-CF75-431A-8FCA-70CD9C5D1CDC}" presName="iconRect" presStyleLbl="node1" presStyleIdx="3" presStyleCnt="5"/>
      <dgm:spPr>
        <a:blipFill>
          <a:blip xmlns:r="http://schemas.openxmlformats.org/officeDocument/2006/relationships" r:embed="rId4"/>
          <a:srcRect/>
          <a:stretch>
            <a:fillRect/>
          </a:stretch>
        </a:blipFill>
      </dgm:spPr>
    </dgm:pt>
    <dgm:pt modelId="{866B27B7-A7E6-43BA-8682-B35065FD273B}" type="pres">
      <dgm:prSet presAssocID="{3CA4A58F-CF75-431A-8FCA-70CD9C5D1CDC}" presName="spaceRect" presStyleCnt="0"/>
      <dgm:spPr/>
    </dgm:pt>
    <dgm:pt modelId="{B9BC8617-BC48-4BF4-8760-6D80397B4C77}" type="pres">
      <dgm:prSet presAssocID="{3CA4A58F-CF75-431A-8FCA-70CD9C5D1CDC}" presName="parTx" presStyleLbl="revTx" presStyleIdx="3" presStyleCnt="5">
        <dgm:presLayoutVars>
          <dgm:chMax val="0"/>
          <dgm:chPref val="0"/>
        </dgm:presLayoutVars>
      </dgm:prSet>
      <dgm:spPr/>
    </dgm:pt>
    <dgm:pt modelId="{425800FE-C6D0-4D61-A510-678509FDCA04}" type="pres">
      <dgm:prSet presAssocID="{434A6030-31F5-4C8C-98F0-27710B75270D}" presName="sibTrans" presStyleCnt="0"/>
      <dgm:spPr/>
    </dgm:pt>
    <dgm:pt modelId="{4B0A6CAC-1F41-4973-83BD-B8591C2AE0DF}" type="pres">
      <dgm:prSet presAssocID="{BC4AA5C6-71C6-45D1-87A1-0521988C2E8B}" presName="compNode" presStyleCnt="0"/>
      <dgm:spPr/>
    </dgm:pt>
    <dgm:pt modelId="{0B119A0A-3632-44A8-ACFB-4AB520647753}" type="pres">
      <dgm:prSet presAssocID="{BC4AA5C6-71C6-45D1-87A1-0521988C2E8B}" presName="bgRect" presStyleLbl="bgShp" presStyleIdx="4" presStyleCnt="5"/>
      <dgm:spPr/>
    </dgm:pt>
    <dgm:pt modelId="{DE9835A7-D2BA-4F5C-B76B-65D993FA4306}" type="pres">
      <dgm:prSet presAssocID="{BC4AA5C6-71C6-45D1-87A1-0521988C2E8B}" presName="iconRect" presStyleLbl="node1" presStyleIdx="4" presStyleCnt="5"/>
      <dgm:spPr>
        <a:blipFill>
          <a:blip xmlns:r="http://schemas.openxmlformats.org/officeDocument/2006/relationships" r:embed="rId5"/>
          <a:srcRect/>
          <a:stretch>
            <a:fillRect/>
          </a:stretch>
        </a:blipFill>
      </dgm:spPr>
    </dgm:pt>
    <dgm:pt modelId="{2A1D4690-D289-463C-AA2A-C03855ADEF3B}" type="pres">
      <dgm:prSet presAssocID="{BC4AA5C6-71C6-45D1-87A1-0521988C2E8B}" presName="spaceRect" presStyleCnt="0"/>
      <dgm:spPr/>
    </dgm:pt>
    <dgm:pt modelId="{60E499C0-61F0-4308-B8AC-E6004B446097}" type="pres">
      <dgm:prSet presAssocID="{BC4AA5C6-71C6-45D1-87A1-0521988C2E8B}" presName="parTx" presStyleLbl="revTx" presStyleIdx="4" presStyleCnt="5">
        <dgm:presLayoutVars>
          <dgm:chMax val="0"/>
          <dgm:chPref val="0"/>
        </dgm:presLayoutVars>
      </dgm:prSet>
      <dgm:spPr/>
    </dgm:pt>
  </dgm:ptLst>
  <dgm:cxnLst>
    <dgm:cxn modelId="{9D294714-61F8-4682-8FB8-F66ADD1E2053}" type="presOf" srcId="{FEA3593C-ABFA-49C3-8DF5-19B87875C222}" destId="{33DECE29-4A8B-4BF6-B62A-C950562493EE}" srcOrd="0" destOrd="0" presId="urn:microsoft.com/office/officeart/2018/2/layout/IconVerticalSolidList"/>
    <dgm:cxn modelId="{595FD22E-F891-4C6E-89F0-48D82FAFBAE5}" type="presOf" srcId="{BC4AA5C6-71C6-45D1-87A1-0521988C2E8B}" destId="{60E499C0-61F0-4308-B8AC-E6004B446097}" srcOrd="0" destOrd="0" presId="urn:microsoft.com/office/officeart/2018/2/layout/IconVerticalSolidList"/>
    <dgm:cxn modelId="{7E8E4467-EF82-4D7E-A299-A4A070E453F1}" srcId="{E9EA4B55-433A-48FC-A0C7-6F88FE637A34}" destId="{3CA4A58F-CF75-431A-8FCA-70CD9C5D1CDC}" srcOrd="3" destOrd="0" parTransId="{67DD2578-5097-4E44-88FB-F82F25FDDA29}" sibTransId="{434A6030-31F5-4C8C-98F0-27710B75270D}"/>
    <dgm:cxn modelId="{4DDA1D6D-2557-48D2-91CA-4DFBD5C79BFC}" srcId="{E9EA4B55-433A-48FC-A0C7-6F88FE637A34}" destId="{46B3FC0E-A886-4013-9CBC-87F8056EF477}" srcOrd="2" destOrd="0" parTransId="{8BC090CB-C757-41CD-ACAE-D580E600264B}" sibTransId="{E3F2261C-6028-4C4C-8782-0FF4008B6B07}"/>
    <dgm:cxn modelId="{70F7A54F-E24D-4527-A8B0-6532AA0C9EBB}" srcId="{E9EA4B55-433A-48FC-A0C7-6F88FE637A34}" destId="{BC4AA5C6-71C6-45D1-87A1-0521988C2E8B}" srcOrd="4" destOrd="0" parTransId="{53FCFC02-CA29-46A4-8507-4DCB4D4C9FC6}" sibTransId="{6F223BDE-CB04-4D7F-BF5D-37728D3A8824}"/>
    <dgm:cxn modelId="{B2ECEA85-3BDB-455C-862F-C5EAD17904F0}" type="presOf" srcId="{3CA4A58F-CF75-431A-8FCA-70CD9C5D1CDC}" destId="{B9BC8617-BC48-4BF4-8760-6D80397B4C77}" srcOrd="0" destOrd="0" presId="urn:microsoft.com/office/officeart/2018/2/layout/IconVerticalSolidList"/>
    <dgm:cxn modelId="{FF1A1AA3-AB42-41EB-8C67-0F902F299341}" type="presOf" srcId="{9D417911-784B-4EDE-8D10-71AF2954235D}" destId="{C8FBB4FE-001A-4FB3-839C-9A90EBB4FE9A}" srcOrd="0" destOrd="0" presId="urn:microsoft.com/office/officeart/2018/2/layout/IconVerticalSolidList"/>
    <dgm:cxn modelId="{961CF8B0-3E7E-4A6A-8830-DDE71E3BEEA5}" srcId="{E9EA4B55-433A-48FC-A0C7-6F88FE637A34}" destId="{FEA3593C-ABFA-49C3-8DF5-19B87875C222}" srcOrd="1" destOrd="0" parTransId="{FBA79D3F-027C-42F2-89A9-DCFF3A6DB305}" sibTransId="{80DE3364-60E2-4D5F-80E4-73C1E6F47E81}"/>
    <dgm:cxn modelId="{A6040AB7-CFFC-431B-B4BB-56A3BB2A6FD8}" type="presOf" srcId="{E9EA4B55-433A-48FC-A0C7-6F88FE637A34}" destId="{32A049D4-27F5-46E9-A4B4-DA3DD3E1AB9E}" srcOrd="0" destOrd="0" presId="urn:microsoft.com/office/officeart/2018/2/layout/IconVerticalSolidList"/>
    <dgm:cxn modelId="{414A20F9-0A6F-4283-8365-3C3C4A952E93}" type="presOf" srcId="{46B3FC0E-A886-4013-9CBC-87F8056EF477}" destId="{AA359CEE-837C-44E6-8887-760630AC2E69}" srcOrd="0" destOrd="0" presId="urn:microsoft.com/office/officeart/2018/2/layout/IconVerticalSolidList"/>
    <dgm:cxn modelId="{7ED8BCFB-B71D-412C-8974-DC68E190A2CD}" srcId="{E9EA4B55-433A-48FC-A0C7-6F88FE637A34}" destId="{9D417911-784B-4EDE-8D10-71AF2954235D}" srcOrd="0" destOrd="0" parTransId="{5315C19C-9887-4D36-91E2-2C27B3534251}" sibTransId="{5DED23B8-62CF-42B2-BB6A-E7ED87E01EFF}"/>
    <dgm:cxn modelId="{8485CF8C-30A3-4988-AA0D-6778F4CE63CC}" type="presParOf" srcId="{32A049D4-27F5-46E9-A4B4-DA3DD3E1AB9E}" destId="{7AAF6ADF-47D8-402A-9190-9983D7564203}" srcOrd="0" destOrd="0" presId="urn:microsoft.com/office/officeart/2018/2/layout/IconVerticalSolidList"/>
    <dgm:cxn modelId="{8E0F6A51-7912-41BD-9B36-BA9341EE8A46}" type="presParOf" srcId="{7AAF6ADF-47D8-402A-9190-9983D7564203}" destId="{DAA9C070-539B-48F7-99A0-A7E2E03157EF}" srcOrd="0" destOrd="0" presId="urn:microsoft.com/office/officeart/2018/2/layout/IconVerticalSolidList"/>
    <dgm:cxn modelId="{31902E86-04FE-4C45-9955-39E856BCD535}" type="presParOf" srcId="{7AAF6ADF-47D8-402A-9190-9983D7564203}" destId="{F5A97A9B-66EC-4F50-A747-2E13C092BAA0}" srcOrd="1" destOrd="0" presId="urn:microsoft.com/office/officeart/2018/2/layout/IconVerticalSolidList"/>
    <dgm:cxn modelId="{4C0BE848-21C8-4F47-BFD8-C5DB0063E04A}" type="presParOf" srcId="{7AAF6ADF-47D8-402A-9190-9983D7564203}" destId="{7869589F-6E70-48AA-85D1-C7FF5A87EFB2}" srcOrd="2" destOrd="0" presId="urn:microsoft.com/office/officeart/2018/2/layout/IconVerticalSolidList"/>
    <dgm:cxn modelId="{115C3522-6456-4AAE-8E9D-FA1D1E23E382}" type="presParOf" srcId="{7AAF6ADF-47D8-402A-9190-9983D7564203}" destId="{C8FBB4FE-001A-4FB3-839C-9A90EBB4FE9A}" srcOrd="3" destOrd="0" presId="urn:microsoft.com/office/officeart/2018/2/layout/IconVerticalSolidList"/>
    <dgm:cxn modelId="{517E7F36-E1DE-4A23-BFE9-09143457FD0D}" type="presParOf" srcId="{32A049D4-27F5-46E9-A4B4-DA3DD3E1AB9E}" destId="{ACBA4217-4231-42E2-8F7C-60EAFBF00011}" srcOrd="1" destOrd="0" presId="urn:microsoft.com/office/officeart/2018/2/layout/IconVerticalSolidList"/>
    <dgm:cxn modelId="{480A8B56-EF79-4C5E-9522-16E7B8FEEF6B}" type="presParOf" srcId="{32A049D4-27F5-46E9-A4B4-DA3DD3E1AB9E}" destId="{0D8017DB-1AC6-47F6-986D-138E0BA364B9}" srcOrd="2" destOrd="0" presId="urn:microsoft.com/office/officeart/2018/2/layout/IconVerticalSolidList"/>
    <dgm:cxn modelId="{E1362870-3ACF-46FF-AF43-49B66991A580}" type="presParOf" srcId="{0D8017DB-1AC6-47F6-986D-138E0BA364B9}" destId="{5392B063-E0EC-4178-B94B-023B63FAB3AF}" srcOrd="0" destOrd="0" presId="urn:microsoft.com/office/officeart/2018/2/layout/IconVerticalSolidList"/>
    <dgm:cxn modelId="{ADEBE02B-B0A9-4A8C-B18D-FA72CD1AC32A}" type="presParOf" srcId="{0D8017DB-1AC6-47F6-986D-138E0BA364B9}" destId="{6F52A6B9-0848-452D-9082-85E9A535E7AE}" srcOrd="1" destOrd="0" presId="urn:microsoft.com/office/officeart/2018/2/layout/IconVerticalSolidList"/>
    <dgm:cxn modelId="{1C95E6AE-D2D8-4320-9C78-CA71D7A82BE2}" type="presParOf" srcId="{0D8017DB-1AC6-47F6-986D-138E0BA364B9}" destId="{A8CA04F3-A738-4832-9498-FA47961B2218}" srcOrd="2" destOrd="0" presId="urn:microsoft.com/office/officeart/2018/2/layout/IconVerticalSolidList"/>
    <dgm:cxn modelId="{3C259BD8-A098-4A87-88E1-80EE0855779C}" type="presParOf" srcId="{0D8017DB-1AC6-47F6-986D-138E0BA364B9}" destId="{33DECE29-4A8B-4BF6-B62A-C950562493EE}" srcOrd="3" destOrd="0" presId="urn:microsoft.com/office/officeart/2018/2/layout/IconVerticalSolidList"/>
    <dgm:cxn modelId="{5763D033-1B33-4321-A5C4-6818F8489503}" type="presParOf" srcId="{32A049D4-27F5-46E9-A4B4-DA3DD3E1AB9E}" destId="{965946D4-7918-4102-9F21-27111DE095A5}" srcOrd="3" destOrd="0" presId="urn:microsoft.com/office/officeart/2018/2/layout/IconVerticalSolidList"/>
    <dgm:cxn modelId="{C8FF8973-BEBA-4A63-A198-EA014EE7DC9B}" type="presParOf" srcId="{32A049D4-27F5-46E9-A4B4-DA3DD3E1AB9E}" destId="{6623E257-B9AD-4881-B3E9-1DD1385F4DD8}" srcOrd="4" destOrd="0" presId="urn:microsoft.com/office/officeart/2018/2/layout/IconVerticalSolidList"/>
    <dgm:cxn modelId="{3009EE1C-2364-4D31-976A-2091CDE2A406}" type="presParOf" srcId="{6623E257-B9AD-4881-B3E9-1DD1385F4DD8}" destId="{6A30DA7D-2E45-4AAB-8E83-B6323C081068}" srcOrd="0" destOrd="0" presId="urn:microsoft.com/office/officeart/2018/2/layout/IconVerticalSolidList"/>
    <dgm:cxn modelId="{627C1ED6-6B1F-4E9D-85AB-30FB1AA26A43}" type="presParOf" srcId="{6623E257-B9AD-4881-B3E9-1DD1385F4DD8}" destId="{236899A6-94BF-475C-AC47-B280F5CA0DFC}" srcOrd="1" destOrd="0" presId="urn:microsoft.com/office/officeart/2018/2/layout/IconVerticalSolidList"/>
    <dgm:cxn modelId="{ABCDB780-A84E-4582-906A-14B23296CD67}" type="presParOf" srcId="{6623E257-B9AD-4881-B3E9-1DD1385F4DD8}" destId="{94F91789-6488-4750-9C84-D9E4B7AEAEDE}" srcOrd="2" destOrd="0" presId="urn:microsoft.com/office/officeart/2018/2/layout/IconVerticalSolidList"/>
    <dgm:cxn modelId="{E3A7039D-158A-4926-B1C3-23C37F95D689}" type="presParOf" srcId="{6623E257-B9AD-4881-B3E9-1DD1385F4DD8}" destId="{AA359CEE-837C-44E6-8887-760630AC2E69}" srcOrd="3" destOrd="0" presId="urn:microsoft.com/office/officeart/2018/2/layout/IconVerticalSolidList"/>
    <dgm:cxn modelId="{49AC5C77-B2D3-4912-92E9-1D7F0B17C4B9}" type="presParOf" srcId="{32A049D4-27F5-46E9-A4B4-DA3DD3E1AB9E}" destId="{10BBEFF5-4D40-4F46-B80F-856E4C43275F}" srcOrd="5" destOrd="0" presId="urn:microsoft.com/office/officeart/2018/2/layout/IconVerticalSolidList"/>
    <dgm:cxn modelId="{DBA39A02-59E0-480A-B69A-FB661683665A}" type="presParOf" srcId="{32A049D4-27F5-46E9-A4B4-DA3DD3E1AB9E}" destId="{61C55608-674A-4323-8F2D-1770C5AA2F28}" srcOrd="6" destOrd="0" presId="urn:microsoft.com/office/officeart/2018/2/layout/IconVerticalSolidList"/>
    <dgm:cxn modelId="{B565DDC7-B360-447D-8D96-D9A958307194}" type="presParOf" srcId="{61C55608-674A-4323-8F2D-1770C5AA2F28}" destId="{97E03E53-F913-4EE6-ACAE-B7E32CED8A68}" srcOrd="0" destOrd="0" presId="urn:microsoft.com/office/officeart/2018/2/layout/IconVerticalSolidList"/>
    <dgm:cxn modelId="{657077F6-697E-4185-9CC7-A1B262C313E9}" type="presParOf" srcId="{61C55608-674A-4323-8F2D-1770C5AA2F28}" destId="{265FF4E6-E4C8-43A3-9A26-12B6D424E4B5}" srcOrd="1" destOrd="0" presId="urn:microsoft.com/office/officeart/2018/2/layout/IconVerticalSolidList"/>
    <dgm:cxn modelId="{CDF609A4-219E-4F23-946A-B0C3448475DC}" type="presParOf" srcId="{61C55608-674A-4323-8F2D-1770C5AA2F28}" destId="{866B27B7-A7E6-43BA-8682-B35065FD273B}" srcOrd="2" destOrd="0" presId="urn:microsoft.com/office/officeart/2018/2/layout/IconVerticalSolidList"/>
    <dgm:cxn modelId="{16AF15ED-3819-4A46-A957-82188275DCCE}" type="presParOf" srcId="{61C55608-674A-4323-8F2D-1770C5AA2F28}" destId="{B9BC8617-BC48-4BF4-8760-6D80397B4C77}" srcOrd="3" destOrd="0" presId="urn:microsoft.com/office/officeart/2018/2/layout/IconVerticalSolidList"/>
    <dgm:cxn modelId="{78FD5B88-44F7-40DC-94B1-625F325E698C}" type="presParOf" srcId="{32A049D4-27F5-46E9-A4B4-DA3DD3E1AB9E}" destId="{425800FE-C6D0-4D61-A510-678509FDCA04}" srcOrd="7" destOrd="0" presId="urn:microsoft.com/office/officeart/2018/2/layout/IconVerticalSolidList"/>
    <dgm:cxn modelId="{D587EAEF-66F3-465F-8D2D-7D170D5DB223}" type="presParOf" srcId="{32A049D4-27F5-46E9-A4B4-DA3DD3E1AB9E}" destId="{4B0A6CAC-1F41-4973-83BD-B8591C2AE0DF}" srcOrd="8" destOrd="0" presId="urn:microsoft.com/office/officeart/2018/2/layout/IconVerticalSolidList"/>
    <dgm:cxn modelId="{68AB503C-42B9-45D1-8E60-1099D26A130B}" type="presParOf" srcId="{4B0A6CAC-1F41-4973-83BD-B8591C2AE0DF}" destId="{0B119A0A-3632-44A8-ACFB-4AB520647753}" srcOrd="0" destOrd="0" presId="urn:microsoft.com/office/officeart/2018/2/layout/IconVerticalSolidList"/>
    <dgm:cxn modelId="{4994D0C8-4139-4A00-94F0-08269C80579D}" type="presParOf" srcId="{4B0A6CAC-1F41-4973-83BD-B8591C2AE0DF}" destId="{DE9835A7-D2BA-4F5C-B76B-65D993FA4306}" srcOrd="1" destOrd="0" presId="urn:microsoft.com/office/officeart/2018/2/layout/IconVerticalSolidList"/>
    <dgm:cxn modelId="{B1DABE09-8345-4019-BF72-D0C8F333D0A3}" type="presParOf" srcId="{4B0A6CAC-1F41-4973-83BD-B8591C2AE0DF}" destId="{2A1D4690-D289-463C-AA2A-C03855ADEF3B}" srcOrd="2" destOrd="0" presId="urn:microsoft.com/office/officeart/2018/2/layout/IconVerticalSolidList"/>
    <dgm:cxn modelId="{4BFAB825-5264-4DF9-810E-5A2A076C0BE9}" type="presParOf" srcId="{4B0A6CAC-1F41-4973-83BD-B8591C2AE0DF}" destId="{60E499C0-61F0-4308-B8AC-E6004B446097}"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2F2165-63EA-4DBF-887A-0A1121FF2DB4}" type="doc">
      <dgm:prSet loTypeId="urn:microsoft.com/office/officeart/2005/8/layout/vProcess5" loCatId="process" qsTypeId="urn:microsoft.com/office/officeart/2005/8/quickstyle/simple1" qsCatId="simple" csTypeId="urn:microsoft.com/office/officeart/2005/8/colors/accent1_4" csCatId="accent1" phldr="1"/>
      <dgm:spPr/>
      <dgm:t>
        <a:bodyPr/>
        <a:lstStyle/>
        <a:p>
          <a:endParaRPr lang="en-US"/>
        </a:p>
      </dgm:t>
    </dgm:pt>
    <dgm:pt modelId="{7486E596-1BD9-490D-A7AA-7BFF2EDFD06B}">
      <dgm:prSet custT="1"/>
      <dgm:spPr/>
      <dgm:t>
        <a:bodyPr/>
        <a:lstStyle/>
        <a:p>
          <a:r>
            <a:rPr lang="en-US" sz="1800">
              <a:latin typeface="Lato" panose="020F0502020204030203" pitchFamily="34" charset="0"/>
              <a:ea typeface="Lato" panose="020F0502020204030203" pitchFamily="34" charset="0"/>
              <a:cs typeface="Lato" panose="020F0502020204030203" pitchFamily="34" charset="0"/>
            </a:rPr>
            <a:t>Tối ưu phần cứng — ESP32 bare + thêm cảm biến SO₂, NO₂, O₃</a:t>
          </a:r>
        </a:p>
      </dgm:t>
    </dgm:pt>
    <dgm:pt modelId="{0C9DDC42-32F2-4F35-8CAC-03EE048F398F}" type="parTrans" cxnId="{A61E6E78-FBDC-4650-9DEA-01ED9DC09661}">
      <dgm:prSet/>
      <dgm:spPr/>
      <dgm:t>
        <a:bodyPr/>
        <a:lstStyle/>
        <a:p>
          <a:endParaRPr lang="en-US" sz="1800">
            <a:latin typeface="Lato" panose="020F0502020204030203" pitchFamily="34" charset="0"/>
            <a:ea typeface="Lato" panose="020F0502020204030203" pitchFamily="34" charset="0"/>
            <a:cs typeface="Lato" panose="020F0502020204030203" pitchFamily="34" charset="0"/>
          </a:endParaRPr>
        </a:p>
      </dgm:t>
    </dgm:pt>
    <dgm:pt modelId="{D1396828-600E-4E9A-912B-DC8C9400D204}" type="sibTrans" cxnId="{A61E6E78-FBDC-4650-9DEA-01ED9DC09661}">
      <dgm:prSet custT="1"/>
      <dgm:spPr/>
      <dgm:t>
        <a:bodyPr/>
        <a:lstStyle/>
        <a:p>
          <a:endParaRPr lang="en-US" sz="1800">
            <a:latin typeface="Lato" panose="020F0502020204030203" pitchFamily="34" charset="0"/>
            <a:ea typeface="Lato" panose="020F0502020204030203" pitchFamily="34" charset="0"/>
            <a:cs typeface="Lato" panose="020F0502020204030203" pitchFamily="34" charset="0"/>
          </a:endParaRPr>
        </a:p>
      </dgm:t>
    </dgm:pt>
    <dgm:pt modelId="{023B6EA3-DD12-4017-A40A-5AC8E23F530C}">
      <dgm:prSet custT="1"/>
      <dgm:spPr/>
      <dgm:t>
        <a:bodyPr/>
        <a:lstStyle/>
        <a:p>
          <a:r>
            <a:rPr lang="en-US" sz="1800">
              <a:latin typeface="Lato" panose="020F0502020204030203" pitchFamily="34" charset="0"/>
              <a:ea typeface="Lato" panose="020F0502020204030203" pitchFamily="34" charset="0"/>
              <a:cs typeface="Lato" panose="020F0502020204030203" pitchFamily="34" charset="0"/>
            </a:rPr>
            <a:t>Dự báo AQI bằng ML — push notification (Email, Telegram)</a:t>
          </a:r>
        </a:p>
      </dgm:t>
    </dgm:pt>
    <dgm:pt modelId="{5D0CEB9B-E1B5-4DA9-8CEC-806810F1F7AE}" type="parTrans" cxnId="{BDBEB30C-8455-49D2-9C8B-687D7CC9C6EA}">
      <dgm:prSet/>
      <dgm:spPr/>
      <dgm:t>
        <a:bodyPr/>
        <a:lstStyle/>
        <a:p>
          <a:endParaRPr lang="en-US" sz="1800">
            <a:latin typeface="Lato" panose="020F0502020204030203" pitchFamily="34" charset="0"/>
            <a:ea typeface="Lato" panose="020F0502020204030203" pitchFamily="34" charset="0"/>
            <a:cs typeface="Lato" panose="020F0502020204030203" pitchFamily="34" charset="0"/>
          </a:endParaRPr>
        </a:p>
      </dgm:t>
    </dgm:pt>
    <dgm:pt modelId="{A9074927-4017-4C5E-A5A2-A4972EFFA502}" type="sibTrans" cxnId="{BDBEB30C-8455-49D2-9C8B-687D7CC9C6EA}">
      <dgm:prSet custT="1"/>
      <dgm:spPr/>
      <dgm:t>
        <a:bodyPr/>
        <a:lstStyle/>
        <a:p>
          <a:endParaRPr lang="en-US" sz="1800">
            <a:latin typeface="Lato" panose="020F0502020204030203" pitchFamily="34" charset="0"/>
            <a:ea typeface="Lato" panose="020F0502020204030203" pitchFamily="34" charset="0"/>
            <a:cs typeface="Lato" panose="020F0502020204030203" pitchFamily="34" charset="0"/>
          </a:endParaRPr>
        </a:p>
      </dgm:t>
    </dgm:pt>
    <dgm:pt modelId="{66F1F810-7139-4AB5-808C-D041CA060BB3}">
      <dgm:prSet custT="1"/>
      <dgm:spPr/>
      <dgm:t>
        <a:bodyPr/>
        <a:lstStyle/>
        <a:p>
          <a:r>
            <a:rPr lang="en-US" sz="1800">
              <a:latin typeface="Lato" panose="020F0502020204030203" pitchFamily="34" charset="0"/>
              <a:ea typeface="Lato" panose="020F0502020204030203" pitchFamily="34" charset="0"/>
              <a:cs typeface="Lato" panose="020F0502020204030203" pitchFamily="34" charset="0"/>
            </a:rPr>
            <a:t>Triển khai quy mô lớn — hiệu chuẩn cảm biến, app di động, thử nghiệm thực tế (trường học, bệnh viện, KCN)</a:t>
          </a:r>
        </a:p>
      </dgm:t>
    </dgm:pt>
    <dgm:pt modelId="{3C6E0196-B66F-42CD-B639-D1765A672436}" type="parTrans" cxnId="{9E0D8CD6-F8B3-411D-A180-137281B78F74}">
      <dgm:prSet/>
      <dgm:spPr/>
      <dgm:t>
        <a:bodyPr/>
        <a:lstStyle/>
        <a:p>
          <a:endParaRPr lang="en-US" sz="1800">
            <a:latin typeface="Lato" panose="020F0502020204030203" pitchFamily="34" charset="0"/>
            <a:ea typeface="Lato" panose="020F0502020204030203" pitchFamily="34" charset="0"/>
            <a:cs typeface="Lato" panose="020F0502020204030203" pitchFamily="34" charset="0"/>
          </a:endParaRPr>
        </a:p>
      </dgm:t>
    </dgm:pt>
    <dgm:pt modelId="{CC5F5247-E138-44D8-80D8-800A70C0D9D8}" type="sibTrans" cxnId="{9E0D8CD6-F8B3-411D-A180-137281B78F74}">
      <dgm:prSet/>
      <dgm:spPr/>
      <dgm:t>
        <a:bodyPr/>
        <a:lstStyle/>
        <a:p>
          <a:endParaRPr lang="en-US" sz="1800">
            <a:latin typeface="Lato" panose="020F0502020204030203" pitchFamily="34" charset="0"/>
            <a:ea typeface="Lato" panose="020F0502020204030203" pitchFamily="34" charset="0"/>
            <a:cs typeface="Lato" panose="020F0502020204030203" pitchFamily="34" charset="0"/>
          </a:endParaRPr>
        </a:p>
      </dgm:t>
    </dgm:pt>
    <dgm:pt modelId="{0202E8CD-763F-4EA7-9F5F-167B9B1BE705}" type="pres">
      <dgm:prSet presAssocID="{A02F2165-63EA-4DBF-887A-0A1121FF2DB4}" presName="outerComposite" presStyleCnt="0">
        <dgm:presLayoutVars>
          <dgm:chMax val="5"/>
          <dgm:dir/>
          <dgm:resizeHandles val="exact"/>
        </dgm:presLayoutVars>
      </dgm:prSet>
      <dgm:spPr/>
    </dgm:pt>
    <dgm:pt modelId="{02A58E4B-0523-4833-949C-4DA5043517D8}" type="pres">
      <dgm:prSet presAssocID="{A02F2165-63EA-4DBF-887A-0A1121FF2DB4}" presName="dummyMaxCanvas" presStyleCnt="0">
        <dgm:presLayoutVars/>
      </dgm:prSet>
      <dgm:spPr/>
    </dgm:pt>
    <dgm:pt modelId="{A74B1CB5-733B-4D80-B581-05273763D066}" type="pres">
      <dgm:prSet presAssocID="{A02F2165-63EA-4DBF-887A-0A1121FF2DB4}" presName="ThreeNodes_1" presStyleLbl="node1" presStyleIdx="0" presStyleCnt="3" custLinFactNeighborY="-21555">
        <dgm:presLayoutVars>
          <dgm:bulletEnabled val="1"/>
        </dgm:presLayoutVars>
      </dgm:prSet>
      <dgm:spPr/>
    </dgm:pt>
    <dgm:pt modelId="{7E498C44-1464-4D0F-AC93-95CE1855D8FA}" type="pres">
      <dgm:prSet presAssocID="{A02F2165-63EA-4DBF-887A-0A1121FF2DB4}" presName="ThreeNodes_2" presStyleLbl="node1" presStyleIdx="1" presStyleCnt="3">
        <dgm:presLayoutVars>
          <dgm:bulletEnabled val="1"/>
        </dgm:presLayoutVars>
      </dgm:prSet>
      <dgm:spPr/>
    </dgm:pt>
    <dgm:pt modelId="{A646FC23-F6C4-4BDA-8562-375D2288955A}" type="pres">
      <dgm:prSet presAssocID="{A02F2165-63EA-4DBF-887A-0A1121FF2DB4}" presName="ThreeNodes_3" presStyleLbl="node1" presStyleIdx="2" presStyleCnt="3">
        <dgm:presLayoutVars>
          <dgm:bulletEnabled val="1"/>
        </dgm:presLayoutVars>
      </dgm:prSet>
      <dgm:spPr/>
    </dgm:pt>
    <dgm:pt modelId="{5D3F052C-9804-40E8-AACA-15CEBE7E8B75}" type="pres">
      <dgm:prSet presAssocID="{A02F2165-63EA-4DBF-887A-0A1121FF2DB4}" presName="ThreeConn_1-2" presStyleLbl="fgAccFollowNode1" presStyleIdx="0" presStyleCnt="2">
        <dgm:presLayoutVars>
          <dgm:bulletEnabled val="1"/>
        </dgm:presLayoutVars>
      </dgm:prSet>
      <dgm:spPr/>
    </dgm:pt>
    <dgm:pt modelId="{AB228083-F979-43C3-91A5-0DB9E4FF0286}" type="pres">
      <dgm:prSet presAssocID="{A02F2165-63EA-4DBF-887A-0A1121FF2DB4}" presName="ThreeConn_2-3" presStyleLbl="fgAccFollowNode1" presStyleIdx="1" presStyleCnt="2">
        <dgm:presLayoutVars>
          <dgm:bulletEnabled val="1"/>
        </dgm:presLayoutVars>
      </dgm:prSet>
      <dgm:spPr/>
    </dgm:pt>
    <dgm:pt modelId="{66878F3C-5B88-4984-89E9-D7BF4FC6A960}" type="pres">
      <dgm:prSet presAssocID="{A02F2165-63EA-4DBF-887A-0A1121FF2DB4}" presName="ThreeNodes_1_text" presStyleLbl="node1" presStyleIdx="2" presStyleCnt="3">
        <dgm:presLayoutVars>
          <dgm:bulletEnabled val="1"/>
        </dgm:presLayoutVars>
      </dgm:prSet>
      <dgm:spPr/>
    </dgm:pt>
    <dgm:pt modelId="{49717062-41D4-4F95-82FE-74BA6FB6AFDD}" type="pres">
      <dgm:prSet presAssocID="{A02F2165-63EA-4DBF-887A-0A1121FF2DB4}" presName="ThreeNodes_2_text" presStyleLbl="node1" presStyleIdx="2" presStyleCnt="3">
        <dgm:presLayoutVars>
          <dgm:bulletEnabled val="1"/>
        </dgm:presLayoutVars>
      </dgm:prSet>
      <dgm:spPr/>
    </dgm:pt>
    <dgm:pt modelId="{84AE2642-BEA4-46C2-9152-421B3D393A82}" type="pres">
      <dgm:prSet presAssocID="{A02F2165-63EA-4DBF-887A-0A1121FF2DB4}" presName="ThreeNodes_3_text" presStyleLbl="node1" presStyleIdx="2" presStyleCnt="3">
        <dgm:presLayoutVars>
          <dgm:bulletEnabled val="1"/>
        </dgm:presLayoutVars>
      </dgm:prSet>
      <dgm:spPr/>
    </dgm:pt>
  </dgm:ptLst>
  <dgm:cxnLst>
    <dgm:cxn modelId="{16813E00-4825-4C92-9ED8-170BB9DC4A3E}" type="presOf" srcId="{A02F2165-63EA-4DBF-887A-0A1121FF2DB4}" destId="{0202E8CD-763F-4EA7-9F5F-167B9B1BE705}" srcOrd="0" destOrd="0" presId="urn:microsoft.com/office/officeart/2005/8/layout/vProcess5"/>
    <dgm:cxn modelId="{2FC38807-C927-43AF-8946-B0EFE8E30A7E}" type="presOf" srcId="{023B6EA3-DD12-4017-A40A-5AC8E23F530C}" destId="{7E498C44-1464-4D0F-AC93-95CE1855D8FA}" srcOrd="0" destOrd="0" presId="urn:microsoft.com/office/officeart/2005/8/layout/vProcess5"/>
    <dgm:cxn modelId="{BDBEB30C-8455-49D2-9C8B-687D7CC9C6EA}" srcId="{A02F2165-63EA-4DBF-887A-0A1121FF2DB4}" destId="{023B6EA3-DD12-4017-A40A-5AC8E23F530C}" srcOrd="1" destOrd="0" parTransId="{5D0CEB9B-E1B5-4DA9-8CEC-806810F1F7AE}" sibTransId="{A9074927-4017-4C5E-A5A2-A4972EFFA502}"/>
    <dgm:cxn modelId="{06CA5A1D-66FB-408E-811F-4E4B327E6719}" type="presOf" srcId="{023B6EA3-DD12-4017-A40A-5AC8E23F530C}" destId="{49717062-41D4-4F95-82FE-74BA6FB6AFDD}" srcOrd="1" destOrd="0" presId="urn:microsoft.com/office/officeart/2005/8/layout/vProcess5"/>
    <dgm:cxn modelId="{F645D02F-F14B-4DA3-82EA-352466C848D5}" type="presOf" srcId="{66F1F810-7139-4AB5-808C-D041CA060BB3}" destId="{84AE2642-BEA4-46C2-9152-421B3D393A82}" srcOrd="1" destOrd="0" presId="urn:microsoft.com/office/officeart/2005/8/layout/vProcess5"/>
    <dgm:cxn modelId="{27797C56-69C0-4E32-8F41-5932FA961793}" type="presOf" srcId="{7486E596-1BD9-490D-A7AA-7BFF2EDFD06B}" destId="{66878F3C-5B88-4984-89E9-D7BF4FC6A960}" srcOrd="1" destOrd="0" presId="urn:microsoft.com/office/officeart/2005/8/layout/vProcess5"/>
    <dgm:cxn modelId="{A61E6E78-FBDC-4650-9DEA-01ED9DC09661}" srcId="{A02F2165-63EA-4DBF-887A-0A1121FF2DB4}" destId="{7486E596-1BD9-490D-A7AA-7BFF2EDFD06B}" srcOrd="0" destOrd="0" parTransId="{0C9DDC42-32F2-4F35-8CAC-03EE048F398F}" sibTransId="{D1396828-600E-4E9A-912B-DC8C9400D204}"/>
    <dgm:cxn modelId="{DCEA0B93-D8CF-42A1-8157-8C08E68FA335}" type="presOf" srcId="{7486E596-1BD9-490D-A7AA-7BFF2EDFD06B}" destId="{A74B1CB5-733B-4D80-B581-05273763D066}" srcOrd="0" destOrd="0" presId="urn:microsoft.com/office/officeart/2005/8/layout/vProcess5"/>
    <dgm:cxn modelId="{B7EC35A4-C82D-4446-BAD3-5C51F9EEF8F1}" type="presOf" srcId="{D1396828-600E-4E9A-912B-DC8C9400D204}" destId="{5D3F052C-9804-40E8-AACA-15CEBE7E8B75}" srcOrd="0" destOrd="0" presId="urn:microsoft.com/office/officeart/2005/8/layout/vProcess5"/>
    <dgm:cxn modelId="{AB5B26BC-8842-4183-B39A-E0F86808FE54}" type="presOf" srcId="{66F1F810-7139-4AB5-808C-D041CA060BB3}" destId="{A646FC23-F6C4-4BDA-8562-375D2288955A}" srcOrd="0" destOrd="0" presId="urn:microsoft.com/office/officeart/2005/8/layout/vProcess5"/>
    <dgm:cxn modelId="{9E0D8CD6-F8B3-411D-A180-137281B78F74}" srcId="{A02F2165-63EA-4DBF-887A-0A1121FF2DB4}" destId="{66F1F810-7139-4AB5-808C-D041CA060BB3}" srcOrd="2" destOrd="0" parTransId="{3C6E0196-B66F-42CD-B639-D1765A672436}" sibTransId="{CC5F5247-E138-44D8-80D8-800A70C0D9D8}"/>
    <dgm:cxn modelId="{3701DBFC-CA88-4C89-81F7-27ABAB73D4BE}" type="presOf" srcId="{A9074927-4017-4C5E-A5A2-A4972EFFA502}" destId="{AB228083-F979-43C3-91A5-0DB9E4FF0286}" srcOrd="0" destOrd="0" presId="urn:microsoft.com/office/officeart/2005/8/layout/vProcess5"/>
    <dgm:cxn modelId="{B37ABBA9-C29E-44EC-B115-BA282FF28D05}" type="presParOf" srcId="{0202E8CD-763F-4EA7-9F5F-167B9B1BE705}" destId="{02A58E4B-0523-4833-949C-4DA5043517D8}" srcOrd="0" destOrd="0" presId="urn:microsoft.com/office/officeart/2005/8/layout/vProcess5"/>
    <dgm:cxn modelId="{EB9F2377-A77E-4DE2-9855-A573B29894A0}" type="presParOf" srcId="{0202E8CD-763F-4EA7-9F5F-167B9B1BE705}" destId="{A74B1CB5-733B-4D80-B581-05273763D066}" srcOrd="1" destOrd="0" presId="urn:microsoft.com/office/officeart/2005/8/layout/vProcess5"/>
    <dgm:cxn modelId="{34DC2D99-8817-40DC-BA46-B30DC0BC6A88}" type="presParOf" srcId="{0202E8CD-763F-4EA7-9F5F-167B9B1BE705}" destId="{7E498C44-1464-4D0F-AC93-95CE1855D8FA}" srcOrd="2" destOrd="0" presId="urn:microsoft.com/office/officeart/2005/8/layout/vProcess5"/>
    <dgm:cxn modelId="{3B9B2FC1-F3B1-4CA2-AC23-1525EA130A71}" type="presParOf" srcId="{0202E8CD-763F-4EA7-9F5F-167B9B1BE705}" destId="{A646FC23-F6C4-4BDA-8562-375D2288955A}" srcOrd="3" destOrd="0" presId="urn:microsoft.com/office/officeart/2005/8/layout/vProcess5"/>
    <dgm:cxn modelId="{F458648D-BAC1-478D-85BE-C5B527A46D7D}" type="presParOf" srcId="{0202E8CD-763F-4EA7-9F5F-167B9B1BE705}" destId="{5D3F052C-9804-40E8-AACA-15CEBE7E8B75}" srcOrd="4" destOrd="0" presId="urn:microsoft.com/office/officeart/2005/8/layout/vProcess5"/>
    <dgm:cxn modelId="{7FB1688A-228B-4E1D-96E0-D559A5991450}" type="presParOf" srcId="{0202E8CD-763F-4EA7-9F5F-167B9B1BE705}" destId="{AB228083-F979-43C3-91A5-0DB9E4FF0286}" srcOrd="5" destOrd="0" presId="urn:microsoft.com/office/officeart/2005/8/layout/vProcess5"/>
    <dgm:cxn modelId="{596569DE-F4B2-4E5D-B363-6E660D49F805}" type="presParOf" srcId="{0202E8CD-763F-4EA7-9F5F-167B9B1BE705}" destId="{66878F3C-5B88-4984-89E9-D7BF4FC6A960}" srcOrd="6" destOrd="0" presId="urn:microsoft.com/office/officeart/2005/8/layout/vProcess5"/>
    <dgm:cxn modelId="{84F43C1F-7DBE-4E23-BBB2-36F7A648606C}" type="presParOf" srcId="{0202E8CD-763F-4EA7-9F5F-167B9B1BE705}" destId="{49717062-41D4-4F95-82FE-74BA6FB6AFDD}" srcOrd="7" destOrd="0" presId="urn:microsoft.com/office/officeart/2005/8/layout/vProcess5"/>
    <dgm:cxn modelId="{2ACECF27-381C-46B3-9B2F-9DD90087BEA5}" type="presParOf" srcId="{0202E8CD-763F-4EA7-9F5F-167B9B1BE705}" destId="{84AE2642-BEA4-46C2-9152-421B3D393A82}"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A9C070-539B-48F7-99A0-A7E2E03157EF}">
      <dsp:nvSpPr>
        <dsp:cNvPr id="0" name=""/>
        <dsp:cNvSpPr/>
      </dsp:nvSpPr>
      <dsp:spPr>
        <a:xfrm>
          <a:off x="0" y="4010"/>
          <a:ext cx="8674100" cy="8541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A97A9B-66EC-4F50-A747-2E13C092BAA0}">
      <dsp:nvSpPr>
        <dsp:cNvPr id="0" name=""/>
        <dsp:cNvSpPr/>
      </dsp:nvSpPr>
      <dsp:spPr>
        <a:xfrm>
          <a:off x="258375" y="196190"/>
          <a:ext cx="469774" cy="469774"/>
        </a:xfrm>
        <a:prstGeom prst="rect">
          <a:avLst/>
        </a:prstGeom>
        <a:blipFill>
          <a:blip xmlns:r="http://schemas.openxmlformats.org/officeDocument/2006/relationships" r:embed="rId1"/>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FBB4FE-001A-4FB3-839C-9A90EBB4FE9A}">
      <dsp:nvSpPr>
        <dsp:cNvPr id="0" name=""/>
        <dsp:cNvSpPr/>
      </dsp:nvSpPr>
      <dsp:spPr>
        <a:xfrm>
          <a:off x="986526" y="4010"/>
          <a:ext cx="7687573" cy="8541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396" tIns="90396" rIns="90396" bIns="90396" numCol="1" spcCol="1270" anchor="ctr" anchorCtr="0">
          <a:noAutofit/>
        </a:bodyPr>
        <a:lstStyle/>
        <a:p>
          <a:pPr marL="0" lvl="0" indent="0" algn="l" defTabSz="889000">
            <a:lnSpc>
              <a:spcPct val="100000"/>
            </a:lnSpc>
            <a:spcBef>
              <a:spcPct val="0"/>
            </a:spcBef>
            <a:spcAft>
              <a:spcPct val="35000"/>
            </a:spcAft>
            <a:buNone/>
          </a:pPr>
          <a:r>
            <a:rPr lang="en-US" sz="2000" b="1" kern="1200">
              <a:latin typeface="Lato" panose="020F0502020204030203" pitchFamily="34" charset="0"/>
              <a:ea typeface="Lato" panose="020F0502020204030203" pitchFamily="34" charset="0"/>
              <a:cs typeface="Lato" panose="020F0502020204030203" pitchFamily="34" charset="0"/>
            </a:rPr>
            <a:t>① Thu thập 6 thông số</a:t>
          </a:r>
          <a:r>
            <a:rPr lang="en-US" sz="2000" kern="1200">
              <a:latin typeface="Lato" panose="020F0502020204030203" pitchFamily="34" charset="0"/>
              <a:ea typeface="Lato" panose="020F0502020204030203" pitchFamily="34" charset="0"/>
              <a:cs typeface="Lato" panose="020F0502020204030203" pitchFamily="34" charset="0"/>
            </a:rPr>
            <a:t> — PM2.5, PM10, CO₂, TVOC, nhiệt độ, độ ẩm từ cảm biến chi phí thấp</a:t>
          </a:r>
        </a:p>
      </dsp:txBody>
      <dsp:txXfrm>
        <a:off x="986526" y="4010"/>
        <a:ext cx="7687573" cy="854135"/>
      </dsp:txXfrm>
    </dsp:sp>
    <dsp:sp modelId="{5392B063-E0EC-4178-B94B-023B63FAB3AF}">
      <dsp:nvSpPr>
        <dsp:cNvPr id="0" name=""/>
        <dsp:cNvSpPr/>
      </dsp:nvSpPr>
      <dsp:spPr>
        <a:xfrm>
          <a:off x="0" y="1071679"/>
          <a:ext cx="8674100" cy="8541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52A6B9-0848-452D-9082-85E9A535E7AE}">
      <dsp:nvSpPr>
        <dsp:cNvPr id="0" name=""/>
        <dsp:cNvSpPr/>
      </dsp:nvSpPr>
      <dsp:spPr>
        <a:xfrm>
          <a:off x="258375" y="1263859"/>
          <a:ext cx="469774" cy="469774"/>
        </a:xfrm>
        <a:prstGeom prst="rect">
          <a:avLst/>
        </a:prstGeom>
        <a:blipFill>
          <a:blip xmlns:r="http://schemas.openxmlformats.org/officeDocument/2006/relationships" r:embed="rId2"/>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DECE29-4A8B-4BF6-B62A-C950562493EE}">
      <dsp:nvSpPr>
        <dsp:cNvPr id="0" name=""/>
        <dsp:cNvSpPr/>
      </dsp:nvSpPr>
      <dsp:spPr>
        <a:xfrm>
          <a:off x="986526" y="1071679"/>
          <a:ext cx="7687573" cy="8541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396" tIns="90396" rIns="90396" bIns="90396" numCol="1" spcCol="1270" anchor="ctr" anchorCtr="0">
          <a:noAutofit/>
        </a:bodyPr>
        <a:lstStyle/>
        <a:p>
          <a:pPr marL="0" lvl="0" indent="0" algn="l" defTabSz="889000">
            <a:lnSpc>
              <a:spcPct val="100000"/>
            </a:lnSpc>
            <a:spcBef>
              <a:spcPct val="0"/>
            </a:spcBef>
            <a:spcAft>
              <a:spcPct val="35000"/>
            </a:spcAft>
            <a:buNone/>
          </a:pPr>
          <a:r>
            <a:rPr lang="en-US" sz="2000" b="1" kern="1200">
              <a:latin typeface="Lato" panose="020F0502020204030203" pitchFamily="34" charset="0"/>
              <a:ea typeface="Lato" panose="020F0502020204030203" pitchFamily="34" charset="0"/>
              <a:cs typeface="Lato" panose="020F0502020204030203" pitchFamily="34" charset="0"/>
            </a:rPr>
            <a:t>② Truyền LoRa tầm xa</a:t>
          </a:r>
          <a:r>
            <a:rPr lang="en-US" sz="2000" kern="1200">
              <a:latin typeface="Lato" panose="020F0502020204030203" pitchFamily="34" charset="0"/>
              <a:ea typeface="Lato" panose="020F0502020204030203" pitchFamily="34" charset="0"/>
              <a:cs typeface="Lato" panose="020F0502020204030203" pitchFamily="34" charset="0"/>
            </a:rPr>
            <a:t> — không cần WiFi/4G tại từng điểm đo</a:t>
          </a:r>
        </a:p>
      </dsp:txBody>
      <dsp:txXfrm>
        <a:off x="986526" y="1071679"/>
        <a:ext cx="7687573" cy="854135"/>
      </dsp:txXfrm>
    </dsp:sp>
    <dsp:sp modelId="{6A30DA7D-2E45-4AAB-8E83-B6323C081068}">
      <dsp:nvSpPr>
        <dsp:cNvPr id="0" name=""/>
        <dsp:cNvSpPr/>
      </dsp:nvSpPr>
      <dsp:spPr>
        <a:xfrm>
          <a:off x="0" y="2139348"/>
          <a:ext cx="8674100" cy="8541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6899A6-94BF-475C-AC47-B280F5CA0DFC}">
      <dsp:nvSpPr>
        <dsp:cNvPr id="0" name=""/>
        <dsp:cNvSpPr/>
      </dsp:nvSpPr>
      <dsp:spPr>
        <a:xfrm>
          <a:off x="285270" y="2331528"/>
          <a:ext cx="469774" cy="469774"/>
        </a:xfrm>
        <a:prstGeom prst="rect">
          <a:avLst/>
        </a:prstGeom>
        <a:blipFill>
          <a:blip xmlns:r="http://schemas.openxmlformats.org/officeDocument/2006/relationships" r:embed="rId3"/>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359CEE-837C-44E6-8887-760630AC2E69}">
      <dsp:nvSpPr>
        <dsp:cNvPr id="0" name=""/>
        <dsp:cNvSpPr/>
      </dsp:nvSpPr>
      <dsp:spPr>
        <a:xfrm>
          <a:off x="986526" y="2139348"/>
          <a:ext cx="7687573" cy="8541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396" tIns="90396" rIns="90396" bIns="90396" numCol="1" spcCol="1270" anchor="ctr" anchorCtr="0">
          <a:noAutofit/>
        </a:bodyPr>
        <a:lstStyle/>
        <a:p>
          <a:pPr marL="0" lvl="0" indent="0" algn="l" defTabSz="889000">
            <a:lnSpc>
              <a:spcPct val="100000"/>
            </a:lnSpc>
            <a:spcBef>
              <a:spcPct val="0"/>
            </a:spcBef>
            <a:spcAft>
              <a:spcPct val="35000"/>
            </a:spcAft>
            <a:buNone/>
          </a:pPr>
          <a:r>
            <a:rPr lang="en-US" sz="2000" b="1" kern="1200">
              <a:latin typeface="Lato" panose="020F0502020204030203" pitchFamily="34" charset="0"/>
              <a:ea typeface="Lato" panose="020F0502020204030203" pitchFamily="34" charset="0"/>
              <a:cs typeface="Lato" panose="020F0502020204030203" pitchFamily="34" charset="0"/>
            </a:rPr>
            <a:t>③ Xử lý &amp; tính AQI</a:t>
          </a:r>
          <a:r>
            <a:rPr lang="en-US" sz="2000" kern="1200">
              <a:latin typeface="Lato" panose="020F0502020204030203" pitchFamily="34" charset="0"/>
              <a:ea typeface="Lato" panose="020F0502020204030203" pitchFamily="34" charset="0"/>
              <a:cs typeface="Lato" panose="020F0502020204030203" pitchFamily="34" charset="0"/>
            </a:rPr>
            <a:t> — lưu trữ chuỗi thời gian, tính AQI chuẩn US EPA</a:t>
          </a:r>
        </a:p>
      </dsp:txBody>
      <dsp:txXfrm>
        <a:off x="986526" y="2139348"/>
        <a:ext cx="7687573" cy="854135"/>
      </dsp:txXfrm>
    </dsp:sp>
    <dsp:sp modelId="{97E03E53-F913-4EE6-ACAE-B7E32CED8A68}">
      <dsp:nvSpPr>
        <dsp:cNvPr id="0" name=""/>
        <dsp:cNvSpPr/>
      </dsp:nvSpPr>
      <dsp:spPr>
        <a:xfrm>
          <a:off x="0" y="3207017"/>
          <a:ext cx="8674100" cy="8541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5FF4E6-E4C8-43A3-9A26-12B6D424E4B5}">
      <dsp:nvSpPr>
        <dsp:cNvPr id="0" name=""/>
        <dsp:cNvSpPr/>
      </dsp:nvSpPr>
      <dsp:spPr>
        <a:xfrm>
          <a:off x="258375" y="3399197"/>
          <a:ext cx="469774" cy="469774"/>
        </a:xfrm>
        <a:prstGeom prst="rect">
          <a:avLst/>
        </a:prstGeom>
        <a:blipFill>
          <a:blip xmlns:r="http://schemas.openxmlformats.org/officeDocument/2006/relationships" r:embed="rId4"/>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BC8617-BC48-4BF4-8760-6D80397B4C77}">
      <dsp:nvSpPr>
        <dsp:cNvPr id="0" name=""/>
        <dsp:cNvSpPr/>
      </dsp:nvSpPr>
      <dsp:spPr>
        <a:xfrm>
          <a:off x="986526" y="3207017"/>
          <a:ext cx="7687573" cy="8541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396" tIns="90396" rIns="90396" bIns="90396" numCol="1" spcCol="1270" anchor="ctr" anchorCtr="0">
          <a:noAutofit/>
        </a:bodyPr>
        <a:lstStyle/>
        <a:p>
          <a:pPr marL="0" lvl="0" indent="0" algn="l" defTabSz="889000">
            <a:lnSpc>
              <a:spcPct val="100000"/>
            </a:lnSpc>
            <a:spcBef>
              <a:spcPct val="0"/>
            </a:spcBef>
            <a:spcAft>
              <a:spcPct val="35000"/>
            </a:spcAft>
            <a:buNone/>
          </a:pPr>
          <a:r>
            <a:rPr lang="en-US" sz="2000" b="1" kern="1200">
              <a:latin typeface="Lato" panose="020F0502020204030203" pitchFamily="34" charset="0"/>
              <a:ea typeface="Lato" panose="020F0502020204030203" pitchFamily="34" charset="0"/>
              <a:cs typeface="Lato" panose="020F0502020204030203" pitchFamily="34" charset="0"/>
            </a:rPr>
            <a:t>④ Dashboard realtime</a:t>
          </a:r>
          <a:r>
            <a:rPr lang="en-US" sz="2000" kern="1200">
              <a:latin typeface="Lato" panose="020F0502020204030203" pitchFamily="34" charset="0"/>
              <a:ea typeface="Lato" panose="020F0502020204030203" pitchFamily="34" charset="0"/>
              <a:cs typeface="Lato" panose="020F0502020204030203" pitchFamily="34" charset="0"/>
            </a:rPr>
            <a:t> — bản đồ AQI, biểu đồ lịch sử, xếp hạng ô nhiễm</a:t>
          </a:r>
        </a:p>
      </dsp:txBody>
      <dsp:txXfrm>
        <a:off x="986526" y="3207017"/>
        <a:ext cx="7687573" cy="854135"/>
      </dsp:txXfrm>
    </dsp:sp>
    <dsp:sp modelId="{0B119A0A-3632-44A8-ACFB-4AB520647753}">
      <dsp:nvSpPr>
        <dsp:cNvPr id="0" name=""/>
        <dsp:cNvSpPr/>
      </dsp:nvSpPr>
      <dsp:spPr>
        <a:xfrm>
          <a:off x="0" y="4274686"/>
          <a:ext cx="8674100" cy="8541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9835A7-D2BA-4F5C-B76B-65D993FA4306}">
      <dsp:nvSpPr>
        <dsp:cNvPr id="0" name=""/>
        <dsp:cNvSpPr/>
      </dsp:nvSpPr>
      <dsp:spPr>
        <a:xfrm>
          <a:off x="258375" y="4466867"/>
          <a:ext cx="469774" cy="469774"/>
        </a:xfrm>
        <a:prstGeom prst="rect">
          <a:avLst/>
        </a:prstGeom>
        <a:blipFill>
          <a:blip xmlns:r="http://schemas.openxmlformats.org/officeDocument/2006/relationships" r:embed="rId5"/>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E499C0-61F0-4308-B8AC-E6004B446097}">
      <dsp:nvSpPr>
        <dsp:cNvPr id="0" name=""/>
        <dsp:cNvSpPr/>
      </dsp:nvSpPr>
      <dsp:spPr>
        <a:xfrm>
          <a:off x="986526" y="4274686"/>
          <a:ext cx="7687573" cy="8541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396" tIns="90396" rIns="90396" bIns="90396" numCol="1" spcCol="1270" anchor="ctr" anchorCtr="0">
          <a:noAutofit/>
        </a:bodyPr>
        <a:lstStyle/>
        <a:p>
          <a:pPr marL="0" lvl="0" indent="0" algn="l" defTabSz="889000">
            <a:lnSpc>
              <a:spcPct val="100000"/>
            </a:lnSpc>
            <a:spcBef>
              <a:spcPct val="0"/>
            </a:spcBef>
            <a:spcAft>
              <a:spcPct val="35000"/>
            </a:spcAft>
            <a:buNone/>
          </a:pPr>
          <a:r>
            <a:rPr lang="en-US" sz="2000" b="1" kern="1200">
              <a:latin typeface="Lato" panose="020F0502020204030203" pitchFamily="34" charset="0"/>
              <a:ea typeface="Lato" panose="020F0502020204030203" pitchFamily="34" charset="0"/>
              <a:cs typeface="Lato" panose="020F0502020204030203" pitchFamily="34" charset="0"/>
            </a:rPr>
            <a:t>⑤ Admin panel</a:t>
          </a:r>
          <a:r>
            <a:rPr lang="en-US" sz="2000" kern="1200">
              <a:latin typeface="Lato" panose="020F0502020204030203" pitchFamily="34" charset="0"/>
              <a:ea typeface="Lato" panose="020F0502020204030203" pitchFamily="34" charset="0"/>
              <a:cs typeface="Lato" panose="020F0502020204030203" pitchFamily="34" charset="0"/>
            </a:rPr>
            <a:t> — quản lý thiết bị, cảnh báo, cấu hình, xuất dữ liệu</a:t>
          </a:r>
        </a:p>
      </dsp:txBody>
      <dsp:txXfrm>
        <a:off x="986526" y="4274686"/>
        <a:ext cx="7687573" cy="8541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4B1CB5-733B-4D80-B581-05273763D066}">
      <dsp:nvSpPr>
        <dsp:cNvPr id="0" name=""/>
        <dsp:cNvSpPr/>
      </dsp:nvSpPr>
      <dsp:spPr>
        <a:xfrm>
          <a:off x="0" y="0"/>
          <a:ext cx="7372769" cy="748549"/>
        </a:xfrm>
        <a:prstGeom prst="roundRect">
          <a:avLst>
            <a:gd name="adj" fmla="val 10000"/>
          </a:avLst>
        </a:prstGeom>
        <a:solidFill>
          <a:schemeClr val="accent1">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Lato" panose="020F0502020204030203" pitchFamily="34" charset="0"/>
              <a:ea typeface="Lato" panose="020F0502020204030203" pitchFamily="34" charset="0"/>
              <a:cs typeface="Lato" panose="020F0502020204030203" pitchFamily="34" charset="0"/>
            </a:rPr>
            <a:t>Tối ưu phần cứng — ESP32 bare + thêm cảm biến SO₂, NO₂, O₃</a:t>
          </a:r>
        </a:p>
      </dsp:txBody>
      <dsp:txXfrm>
        <a:off x="21924" y="21924"/>
        <a:ext cx="6565026" cy="704701"/>
      </dsp:txXfrm>
    </dsp:sp>
    <dsp:sp modelId="{7E498C44-1464-4D0F-AC93-95CE1855D8FA}">
      <dsp:nvSpPr>
        <dsp:cNvPr id="0" name=""/>
        <dsp:cNvSpPr/>
      </dsp:nvSpPr>
      <dsp:spPr>
        <a:xfrm>
          <a:off x="650538" y="873307"/>
          <a:ext cx="7372769" cy="748549"/>
        </a:xfrm>
        <a:prstGeom prst="roundRect">
          <a:avLst>
            <a:gd name="adj" fmla="val 10000"/>
          </a:avLst>
        </a:prstGeom>
        <a:solidFill>
          <a:schemeClr val="accent1">
            <a:shade val="50000"/>
            <a:hueOff val="268329"/>
            <a:satOff val="-6535"/>
            <a:lumOff val="285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Lato" panose="020F0502020204030203" pitchFamily="34" charset="0"/>
              <a:ea typeface="Lato" panose="020F0502020204030203" pitchFamily="34" charset="0"/>
              <a:cs typeface="Lato" panose="020F0502020204030203" pitchFamily="34" charset="0"/>
            </a:rPr>
            <a:t>Dự báo AQI bằng ML — push notification (Email, Telegram)</a:t>
          </a:r>
        </a:p>
      </dsp:txBody>
      <dsp:txXfrm>
        <a:off x="672462" y="895231"/>
        <a:ext cx="6191825" cy="704701"/>
      </dsp:txXfrm>
    </dsp:sp>
    <dsp:sp modelId="{A646FC23-F6C4-4BDA-8562-375D2288955A}">
      <dsp:nvSpPr>
        <dsp:cNvPr id="0" name=""/>
        <dsp:cNvSpPr/>
      </dsp:nvSpPr>
      <dsp:spPr>
        <a:xfrm>
          <a:off x="1301076" y="1746615"/>
          <a:ext cx="7372769" cy="748549"/>
        </a:xfrm>
        <a:prstGeom prst="roundRect">
          <a:avLst>
            <a:gd name="adj" fmla="val 10000"/>
          </a:avLst>
        </a:prstGeom>
        <a:solidFill>
          <a:schemeClr val="accent1">
            <a:shade val="50000"/>
            <a:hueOff val="268329"/>
            <a:satOff val="-6535"/>
            <a:lumOff val="285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Lato" panose="020F0502020204030203" pitchFamily="34" charset="0"/>
              <a:ea typeface="Lato" panose="020F0502020204030203" pitchFamily="34" charset="0"/>
              <a:cs typeface="Lato" panose="020F0502020204030203" pitchFamily="34" charset="0"/>
            </a:rPr>
            <a:t>Triển khai quy mô lớn — hiệu chuẩn cảm biến, app di động, thử nghiệm thực tế (trường học, bệnh viện, KCN)</a:t>
          </a:r>
        </a:p>
      </dsp:txBody>
      <dsp:txXfrm>
        <a:off x="1323000" y="1768539"/>
        <a:ext cx="6191825" cy="704701"/>
      </dsp:txXfrm>
    </dsp:sp>
    <dsp:sp modelId="{5D3F052C-9804-40E8-AACA-15CEBE7E8B75}">
      <dsp:nvSpPr>
        <dsp:cNvPr id="0" name=""/>
        <dsp:cNvSpPr/>
      </dsp:nvSpPr>
      <dsp:spPr>
        <a:xfrm>
          <a:off x="6886211" y="567650"/>
          <a:ext cx="486557" cy="486557"/>
        </a:xfrm>
        <a:prstGeom prst="downArrow">
          <a:avLst>
            <a:gd name="adj1" fmla="val 55000"/>
            <a:gd name="adj2" fmla="val 45000"/>
          </a:avLst>
        </a:prstGeom>
        <a:solidFill>
          <a:schemeClr val="accent1">
            <a:alpha val="90000"/>
            <a:tint val="55000"/>
            <a:hueOff val="0"/>
            <a:satOff val="0"/>
            <a:lumOff val="0"/>
            <a:alphaOff val="0"/>
          </a:schemeClr>
        </a:solidFill>
        <a:ln w="12700" cap="flat" cmpd="sng" algn="ctr">
          <a:solidFill>
            <a:schemeClr val="accent1">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latin typeface="Lato" panose="020F0502020204030203" pitchFamily="34" charset="0"/>
            <a:ea typeface="Lato" panose="020F0502020204030203" pitchFamily="34" charset="0"/>
            <a:cs typeface="Lato" panose="020F0502020204030203" pitchFamily="34" charset="0"/>
          </a:endParaRPr>
        </a:p>
      </dsp:txBody>
      <dsp:txXfrm>
        <a:off x="6995686" y="567650"/>
        <a:ext cx="267607" cy="366134"/>
      </dsp:txXfrm>
    </dsp:sp>
    <dsp:sp modelId="{AB228083-F979-43C3-91A5-0DB9E4FF0286}">
      <dsp:nvSpPr>
        <dsp:cNvPr id="0" name=""/>
        <dsp:cNvSpPr/>
      </dsp:nvSpPr>
      <dsp:spPr>
        <a:xfrm>
          <a:off x="7536750" y="1435967"/>
          <a:ext cx="486557" cy="486557"/>
        </a:xfrm>
        <a:prstGeom prst="downArrow">
          <a:avLst>
            <a:gd name="adj1" fmla="val 55000"/>
            <a:gd name="adj2" fmla="val 45000"/>
          </a:avLst>
        </a:prstGeom>
        <a:solidFill>
          <a:schemeClr val="accent1">
            <a:alpha val="90000"/>
            <a:tint val="55000"/>
            <a:hueOff val="0"/>
            <a:satOff val="0"/>
            <a:lumOff val="0"/>
            <a:alphaOff val="0"/>
          </a:schemeClr>
        </a:solidFill>
        <a:ln w="12700" cap="flat" cmpd="sng" algn="ctr">
          <a:solidFill>
            <a:schemeClr val="accent1">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latin typeface="Lato" panose="020F0502020204030203" pitchFamily="34" charset="0"/>
            <a:ea typeface="Lato" panose="020F0502020204030203" pitchFamily="34" charset="0"/>
            <a:cs typeface="Lato" panose="020F0502020204030203" pitchFamily="34" charset="0"/>
          </a:endParaRPr>
        </a:p>
      </dsp:txBody>
      <dsp:txXfrm>
        <a:off x="7646225" y="1435967"/>
        <a:ext cx="267607" cy="36613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7/4/2026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0T13:20:14.763"/>
    </inkml:context>
    <inkml:brush xml:id="br0">
      <inkml:brushProperty name="width" value="0.08571" units="cm"/>
      <inkml:brushProperty name="height" value="0.08571" units="cm"/>
    </inkml:brush>
  </inkml:definitions>
  <inkml:trace contextRef="#ctx0" brushRef="#br0">4378 1 7881,'-80'10'0,"-9"-1"0,-9-2-468,-2-3 458,9-2 0,-3-1 0,1 7 1,44-1-1,-1 2 0,-5 3 0,-1 2 1,-2 3-1,-2 0 0,-3 2 1,-2 0-1,-1-1 0,-1-1 0,-4 1 1,-1-2-1,-1 0 0,0 0 1,-2 0-1,0-2 0,1 0 0,-1-1 1,-2-2-1,0 0 0,-1-2 0,-2-1 1,-4 1-1,0-2 0,-1 1 1,-1 0-1,-1 1 0,0 0 0,-1 1 1,1 2-1,-3 1 0,0 2 1,-2 2-1,-1 2-45,-3 1 0,-1 3 0,32-5 0,-1 3 0,1 0 1,1 2-1,1 0 0,0 2-511,0 1 0,2 1 0,-2 2 0,-7 6 0,-2 2 0,2 2 0,-1 2 0,0 0 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7/4/2026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a:solidFill>
                  <a:schemeClr val="tx1"/>
                </a:solidFill>
                <a:effectLst/>
                <a:latin typeface="+mn-lt"/>
                <a:ea typeface="+mn-ea"/>
                <a:cs typeface="+mn-cs"/>
              </a:rPr>
              <a:t>Giới thiệu ngắn: "Kính chào hội đồng, em là Nguyễn Đức Thắm, sinh viên ngành Kỹ thuật máy tính. Hôm nay em xin trình bày đồ án tốt nghiệp với đề tài...</a:t>
            </a:r>
          </a:p>
          <a:p>
            <a:endParaRPr lang="en-US"/>
          </a:p>
        </p:txBody>
      </p:sp>
      <p:sp>
        <p:nvSpPr>
          <p:cNvPr id="4" name="Chỗ dành sẵn cho Số hiệu Bản chiếu 3"/>
          <p:cNvSpPr>
            <a:spLocks noGrp="1"/>
          </p:cNvSpPr>
          <p:nvPr>
            <p:ph type="sldNum" sz="quarter" idx="5"/>
          </p:nvPr>
        </p:nvSpPr>
        <p:spPr/>
        <p:txBody>
          <a:bodyPr/>
          <a:lstStyle/>
          <a:p>
            <a:fld id="{AB2FC7A4-3D1B-482D-8C9D-7642A2CE3076}" type="slidenum">
              <a:rPr lang="en-US" smtClean="0"/>
              <a:t>3</a:t>
            </a:fld>
            <a:endParaRPr lang="en-US"/>
          </a:p>
        </p:txBody>
      </p:sp>
    </p:spTree>
    <p:extLst>
      <p:ext uri="{BB962C8B-B14F-4D97-AF65-F5344CB8AC3E}">
        <p14:creationId xmlns:p14="http://schemas.microsoft.com/office/powerpoint/2010/main" val="1382095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0" kern="1200">
                <a:solidFill>
                  <a:schemeClr val="tx1"/>
                </a:solidFill>
                <a:effectLst/>
                <a:latin typeface="+mn-lt"/>
                <a:ea typeface="+mn-ea"/>
                <a:cs typeface="+mn-cs"/>
              </a:rPr>
              <a:t>- Mở đầu: "Ô nhiễm không khí là vấn đề toàn cầu, gây ~7 triệu ca tử vong sớm mỗi năm theo WHO. PM2.5 là tác nhân chính vì kích thước siêu nhỏ, có thể xâm nhập sâu vào phổi và máu."</a:t>
            </a:r>
          </a:p>
          <a:p>
            <a:r>
              <a:rPr lang="en-US" sz="1200" b="0" kern="1200">
                <a:solidFill>
                  <a:schemeClr val="tx1"/>
                </a:solidFill>
                <a:effectLst/>
                <a:latin typeface="+mn-lt"/>
                <a:ea typeface="+mn-ea"/>
                <a:cs typeface="+mn-cs"/>
              </a:rPr>
              <a:t>- Nhấn mạnh Hà Nội: "Con số 45,4 µg/m³ — gấp 9 lần ngưỡng an toàn — nghĩa là mỗi ngày người dân Hà Nội đang hít không khí ở mức nguy hại."</a:t>
            </a:r>
          </a:p>
          <a:p>
            <a:r>
              <a:rPr lang="en-US" sz="1200" b="0" kern="1200">
                <a:solidFill>
                  <a:schemeClr val="tx1"/>
                </a:solidFill>
                <a:effectLst/>
                <a:latin typeface="+mn-lt"/>
                <a:ea typeface="+mn-ea"/>
                <a:cs typeface="+mn-cs"/>
              </a:rPr>
              <a:t>- Dẫn vào hạn chế: "Với chỉ 35 trạm đo trên cả nước, chúng ta không thể biết chất lượng không khí ở từng khu phố, trường học hay bệnh viện là bao nhiêu. Các giải pháp hiện có đã khắc phục được điều này chưa?"</a:t>
            </a:r>
          </a:p>
          <a:p>
            <a:r>
              <a:rPr lang="en-US" sz="1200" b="0" kern="1200">
                <a:solidFill>
                  <a:schemeClr val="tx1"/>
                </a:solidFill>
                <a:effectLst/>
                <a:latin typeface="+mn-lt"/>
                <a:ea typeface="+mn-ea"/>
                <a:cs typeface="+mn-cs"/>
              </a:rPr>
              <a:t>- Chuyển tiếp: "Em sẽ phân tích 4 hệ thống phổ biến nhất để trả lời câu hỏi này."</a:t>
            </a:r>
          </a:p>
        </p:txBody>
      </p:sp>
      <p:sp>
        <p:nvSpPr>
          <p:cNvPr id="4" name="Chỗ dành sẵn cho Số hiệu Bản chiếu 3"/>
          <p:cNvSpPr>
            <a:spLocks noGrp="1"/>
          </p:cNvSpPr>
          <p:nvPr>
            <p:ph type="sldNum" sz="quarter" idx="5"/>
          </p:nvPr>
        </p:nvSpPr>
        <p:spPr/>
        <p:txBody>
          <a:bodyPr/>
          <a:lstStyle/>
          <a:p>
            <a:fld id="{AB2FC7A4-3D1B-482D-8C9D-7642A2CE3076}" type="slidenum">
              <a:rPr lang="en-US" smtClean="0"/>
              <a:t>5</a:t>
            </a:fld>
            <a:endParaRPr lang="en-US"/>
          </a:p>
        </p:txBody>
      </p:sp>
    </p:spTree>
    <p:extLst>
      <p:ext uri="{BB962C8B-B14F-4D97-AF65-F5344CB8AC3E}">
        <p14:creationId xmlns:p14="http://schemas.microsoft.com/office/powerpoint/2010/main" val="20748379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0" i="0" kern="1200">
                <a:solidFill>
                  <a:schemeClr val="tx1"/>
                </a:solidFill>
                <a:effectLst/>
                <a:latin typeface="+mn-lt"/>
                <a:ea typeface="+mn-ea"/>
                <a:cs typeface="+mn-cs"/>
              </a:rPr>
              <a:t>Giới thiệu: "Em đã khảo sát 4 hệ thống tiêu biểu — cả trong nước và quốc tế — để xác định khoảng trống mà chưa giải pháp nào giải quyết được."</a:t>
            </a:r>
          </a:p>
          <a:p>
            <a:r>
              <a:rPr lang="en-US" sz="1200" b="0" i="0" kern="1200">
                <a:solidFill>
                  <a:schemeClr val="tx1"/>
                </a:solidFill>
                <a:effectLst/>
                <a:latin typeface="+mn-lt"/>
                <a:ea typeface="+mn-ea"/>
                <a:cs typeface="+mn-cs"/>
              </a:rPr>
              <a:t>Giải thích từng hệ thống:</a:t>
            </a:r>
          </a:p>
          <a:p>
            <a:pPr lvl="1"/>
            <a:r>
              <a:rPr lang="en-US" sz="1200" b="0" i="0" kern="1200">
                <a:solidFill>
                  <a:schemeClr val="tx1"/>
                </a:solidFill>
                <a:effectLst/>
                <a:latin typeface="+mn-lt"/>
                <a:ea typeface="+mn-ea"/>
                <a:cs typeface="+mn-cs"/>
              </a:rPr>
              <a:t>"PAM Air phủ hơn 3.000 trạm nhưng chỉ đo PM2.5, mã nguồn đóng, mỗi trạm cần WiFi riêng."</a:t>
            </a:r>
          </a:p>
          <a:p>
            <a:pPr lvl="1"/>
            <a:r>
              <a:rPr lang="en-US" sz="1200" b="0" i="0" kern="1200">
                <a:solidFill>
                  <a:schemeClr val="tx1"/>
                </a:solidFill>
                <a:effectLst/>
                <a:latin typeface="+mn-lt"/>
                <a:ea typeface="+mn-ea"/>
                <a:cs typeface="+mn-cs"/>
              </a:rPr>
              <a:t>"IQAir có dự báo AI nhưng chi phí ~10 triệu VNĐ/thiết bị và phần mềm đóng."</a:t>
            </a:r>
          </a:p>
          <a:p>
            <a:pPr lvl="1"/>
            <a:r>
              <a:rPr lang="en-US" sz="1200" b="0" i="0" kern="1200">
                <a:solidFill>
                  <a:schemeClr val="tx1"/>
                </a:solidFill>
                <a:effectLst/>
                <a:latin typeface="+mn-lt"/>
                <a:ea typeface="+mn-ea"/>
                <a:cs typeface="+mn-cs"/>
              </a:rPr>
              <a:t>"PurpleAir có API mở song chỉ đo bụi mịn và vẫn phụ thuộc WiFi."</a:t>
            </a:r>
          </a:p>
          <a:p>
            <a:pPr lvl="1"/>
            <a:r>
              <a:rPr lang="en-US" sz="1200" b="0" i="0" kern="1200">
                <a:solidFill>
                  <a:schemeClr val="tx1"/>
                </a:solidFill>
                <a:effectLst/>
                <a:latin typeface="+mn-lt"/>
                <a:ea typeface="+mn-ea"/>
                <a:cs typeface="+mn-cs"/>
              </a:rPr>
              <a:t>"VN-AQI đạt chuẩn FEM nhưng chi phí hàng trăm triệu đến hàng tỷ/trạm, chỉ ~35 trạm cả nước."</a:t>
            </a:r>
          </a:p>
          <a:p>
            <a:r>
              <a:rPr lang="en-US" sz="1200" b="0" i="0" kern="1200">
                <a:solidFill>
                  <a:schemeClr val="tx1"/>
                </a:solidFill>
                <a:effectLst/>
                <a:latin typeface="+mn-lt"/>
                <a:ea typeface="+mn-ea"/>
                <a:cs typeface="+mn-cs"/>
              </a:rPr>
              <a:t>Nhấn mạnh: "Đặc biệt, không hệ thống nào hỗ trợ LoRa — giao thức đã được chứng minh truyền 10–15 km với năng lượng rất thấp — để giải quyết bài toán triển khai nơi không có WiFi."</a:t>
            </a:r>
          </a:p>
          <a:p>
            <a:r>
              <a:rPr lang="en-US" sz="1200" b="0" i="0" kern="1200">
                <a:solidFill>
                  <a:schemeClr val="tx1"/>
                </a:solidFill>
                <a:effectLst/>
                <a:latin typeface="+mn-lt"/>
                <a:ea typeface="+mn-ea"/>
                <a:cs typeface="+mn-cs"/>
              </a:rPr>
              <a:t>Chuyển tiếp: "Từ khoảng trống này, em xác định 5 mục tiêu cụ thể cho đề tài."</a:t>
            </a:r>
          </a:p>
          <a:p>
            <a:endParaRPr lang="en-US"/>
          </a:p>
        </p:txBody>
      </p:sp>
      <p:sp>
        <p:nvSpPr>
          <p:cNvPr id="4" name="Chỗ dành sẵn cho Số hiệu Bản chiếu 3"/>
          <p:cNvSpPr>
            <a:spLocks noGrp="1"/>
          </p:cNvSpPr>
          <p:nvPr>
            <p:ph type="sldNum" sz="quarter" idx="5"/>
          </p:nvPr>
        </p:nvSpPr>
        <p:spPr/>
        <p:txBody>
          <a:bodyPr/>
          <a:lstStyle/>
          <a:p>
            <a:fld id="{AB2FC7A4-3D1B-482D-8C9D-7642A2CE3076}" type="slidenum">
              <a:rPr lang="en-US" smtClean="0"/>
              <a:t>6</a:t>
            </a:fld>
            <a:endParaRPr lang="en-US"/>
          </a:p>
        </p:txBody>
      </p:sp>
    </p:spTree>
    <p:extLst>
      <p:ext uri="{BB962C8B-B14F-4D97-AF65-F5344CB8AC3E}">
        <p14:creationId xmlns:p14="http://schemas.microsoft.com/office/powerpoint/2010/main" val="2414251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0" i="0" kern="1200">
                <a:solidFill>
                  <a:schemeClr val="tx1"/>
                </a:solidFill>
                <a:effectLst/>
                <a:latin typeface="+mn-lt"/>
                <a:ea typeface="+mn-ea"/>
                <a:cs typeface="+mn-cs"/>
              </a:rPr>
              <a:t>Mở đầu: "Từ khoảng trống đã phân tích, em xác định 5 mục tiêu cụ thể cho hệ thống."</a:t>
            </a:r>
          </a:p>
          <a:p>
            <a:r>
              <a:rPr lang="en-US" sz="1200" b="0" i="0" kern="1200">
                <a:solidFill>
                  <a:schemeClr val="tx1"/>
                </a:solidFill>
                <a:effectLst/>
                <a:latin typeface="+mn-lt"/>
                <a:ea typeface="+mn-ea"/>
                <a:cs typeface="+mn-cs"/>
              </a:rPr>
              <a:t>Giải thích thứ tự: "Thứ nhất, hệ thống phải đo được đa thông số — không chỉ bụi mịn mà cả CO₂, TVOC, nhiệt độ và độ ẩm — để phản ánh toàn diện chất lượng không khí."</a:t>
            </a:r>
          </a:p>
          <a:p>
            <a:r>
              <a:rPr lang="en-US" sz="1200" b="0" i="0" kern="1200">
                <a:solidFill>
                  <a:schemeClr val="tx1"/>
                </a:solidFill>
                <a:effectLst/>
                <a:latin typeface="+mn-lt"/>
                <a:ea typeface="+mn-ea"/>
                <a:cs typeface="+mn-cs"/>
              </a:rPr>
              <a:t>Nhấn mạnh LoRa: "Thứ hai, điểm khác biệt lớn nhất so với các giải pháp hiện có là sử dụng LoRa để truyền dữ liệu tầm xa, loại bỏ yêu cầu WiFi/4G tại mỗi điểm đo."</a:t>
            </a:r>
          </a:p>
          <a:p>
            <a:r>
              <a:rPr lang="en-US" sz="1200" b="0" i="0" kern="1200">
                <a:solidFill>
                  <a:schemeClr val="tx1"/>
                </a:solidFill>
                <a:effectLst/>
                <a:latin typeface="+mn-lt"/>
                <a:ea typeface="+mn-ea"/>
                <a:cs typeface="+mn-cs"/>
              </a:rPr>
              <a:t>Giải thích AQI: "Thứ ba, dữ liệu thô từ cảm biến sẽ được xử lý và quy đổi sang chỉ số AQI theo chuẩn US EPA — đây là chuẩn được quốc tế công nhận rộng rãi."</a:t>
            </a:r>
          </a:p>
          <a:p>
            <a:r>
              <a:rPr lang="en-US" sz="1200" b="0" i="0" kern="1200">
                <a:solidFill>
                  <a:schemeClr val="tx1"/>
                </a:solidFill>
                <a:effectLst/>
                <a:latin typeface="+mn-lt"/>
                <a:ea typeface="+mn-ea"/>
                <a:cs typeface="+mn-cs"/>
              </a:rPr>
              <a:t>Dashboard + Admin: "Hai mục tiêu cuối hướng đến hai đối tượng sử dụng: người dân xem dashboard theo thời gian thực, và quản trị viên quản lý toàn bộ hệ thống."</a:t>
            </a:r>
          </a:p>
          <a:p>
            <a:r>
              <a:rPr lang="en-US" sz="1200" b="0" i="0" kern="1200">
                <a:solidFill>
                  <a:schemeClr val="tx1"/>
                </a:solidFill>
                <a:effectLst/>
                <a:latin typeface="+mn-lt"/>
                <a:ea typeface="+mn-ea"/>
                <a:cs typeface="+mn-cs"/>
              </a:rPr>
              <a:t>Nhấn mạnh open-source: "Quan trọng, toàn bộ mã nguồn được công khai trên GitHub, cho phép cộng đồng và các tổ chức tái sử dụng hoàn toàn."</a:t>
            </a:r>
          </a:p>
          <a:p>
            <a:r>
              <a:rPr lang="en-US" sz="1200" b="0" i="0" kern="1200">
                <a:solidFill>
                  <a:schemeClr val="tx1"/>
                </a:solidFill>
                <a:effectLst/>
                <a:latin typeface="+mn-lt"/>
                <a:ea typeface="+mn-ea"/>
                <a:cs typeface="+mn-cs"/>
              </a:rPr>
              <a:t>Chuyển tiếp: "Để hiện thực hóa 5 mục tiêu này, em thiết kế hệ thống theo kiến trúc 4 tầng — sẽ trình bày ở slide tiếp theo."</a:t>
            </a:r>
          </a:p>
          <a:p>
            <a:endParaRPr lang="en-US"/>
          </a:p>
        </p:txBody>
      </p:sp>
      <p:sp>
        <p:nvSpPr>
          <p:cNvPr id="4" name="Chỗ dành sẵn cho Số hiệu Bản chiếu 3"/>
          <p:cNvSpPr>
            <a:spLocks noGrp="1"/>
          </p:cNvSpPr>
          <p:nvPr>
            <p:ph type="sldNum" sz="quarter" idx="5"/>
          </p:nvPr>
        </p:nvSpPr>
        <p:spPr/>
        <p:txBody>
          <a:bodyPr/>
          <a:lstStyle/>
          <a:p>
            <a:fld id="{AB2FC7A4-3D1B-482D-8C9D-7642A2CE3076}" type="slidenum">
              <a:rPr lang="en-US" smtClean="0"/>
              <a:t>7</a:t>
            </a:fld>
            <a:endParaRPr lang="en-US"/>
          </a:p>
        </p:txBody>
      </p:sp>
    </p:spTree>
    <p:extLst>
      <p:ext uri="{BB962C8B-B14F-4D97-AF65-F5344CB8AC3E}">
        <p14:creationId xmlns:p14="http://schemas.microsoft.com/office/powerpoint/2010/main" val="2069306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0" kern="1200">
                <a:solidFill>
                  <a:schemeClr val="tx1"/>
                </a:solidFill>
                <a:effectLst/>
                <a:latin typeface="+mn-lt"/>
                <a:ea typeface="+mn-ea"/>
                <a:cs typeface="+mn-cs"/>
              </a:rPr>
              <a:t>- Mở đầu: "Để hiện thực hóa 5 mục tiêu trên, em thiết kế hệ thống theo kiến trúc bốn tầng, mỗi tầng có trách nhiệm rõ ràng và phát triển độc lập."</a:t>
            </a:r>
          </a:p>
          <a:p>
            <a:r>
              <a:rPr lang="en-US" sz="1200" b="0" kern="1200">
                <a:solidFill>
                  <a:schemeClr val="tx1"/>
                </a:solidFill>
                <a:effectLst/>
                <a:latin typeface="+mn-lt"/>
                <a:ea typeface="+mn-ea"/>
                <a:cs typeface="+mn-cs"/>
              </a:rPr>
              <a:t>- Giải thích tầng cảm biến: "Tầng dưới cùng là Sensor Node — mỗi node gồm ESP32 kết nối 3 cảm biến đo 6 thông số, dữ liệu được đóng gói thành gói nhị phân chỉ 18 byte và phát qua sóng LoRa 433 MHz, không cần WiFi tại điểm đo."</a:t>
            </a:r>
          </a:p>
          <a:p>
            <a:r>
              <a:rPr lang="en-US" sz="1200" b="0" kern="1200">
                <a:solidFill>
                  <a:schemeClr val="tx1"/>
                </a:solidFill>
                <a:effectLst/>
                <a:latin typeface="+mn-lt"/>
                <a:ea typeface="+mn-ea"/>
                <a:cs typeface="+mn-cs"/>
              </a:rPr>
              <a:t>- Giải thích tầng trung chuyển: "Gateway đóng vai trò cầu nối — nhận gói LoRa từ nhiều Sensor Node theo mô hình Hub-Spoke, lưu vào bộ đệm vòng rồi gửi lên server qua WiFi dưới dạng HTTP POST."</a:t>
            </a:r>
          </a:p>
          <a:p>
            <a:r>
              <a:rPr lang="en-US" sz="1200" b="0" kern="1200">
                <a:solidFill>
                  <a:schemeClr val="tx1"/>
                </a:solidFill>
                <a:effectLst/>
                <a:latin typeface="+mn-lt"/>
                <a:ea typeface="+mn-ea"/>
                <a:cs typeface="+mn-cs"/>
              </a:rPr>
              <a:t>- Giải thích tầng máy chủ: "Backend Server chạy Node.js, xử lý dữ liệu telemetry, tính AQI theo chuẩn US EPA, lưu vào TimescaleDB — một extension chuyên biệt cho dữ liệu chuỗi thời gian. Toàn bộ được đóng gói Docker."</a:t>
            </a:r>
          </a:p>
          <a:p>
            <a:r>
              <a:rPr lang="en-US" sz="1200" b="0" kern="1200">
                <a:solidFill>
                  <a:schemeClr val="tx1"/>
                </a:solidFill>
                <a:effectLst/>
                <a:latin typeface="+mn-lt"/>
                <a:ea typeface="+mn-ea"/>
                <a:cs typeface="+mn-cs"/>
              </a:rPr>
              <a:t>- Giải thích tầng hiển thị: "Cuối cùng, giao diện web React nhận dữ liệu realtime qua Socket.IO, hiển thị dashboard cho người dùng và trang quản trị cho admin."</a:t>
            </a:r>
          </a:p>
          <a:p>
            <a:r>
              <a:rPr lang="en-US" sz="1200" b="0" kern="1200">
                <a:solidFill>
                  <a:schemeClr val="tx1"/>
                </a:solidFill>
                <a:effectLst/>
                <a:latin typeface="+mn-lt"/>
                <a:ea typeface="+mn-ea"/>
                <a:cs typeface="+mn-cs"/>
              </a:rPr>
              <a:t>- Nhấn mạnh ưu điểm: "Kiến trúc 4 tầng cho phép mở rộng theo chiều ngang — ví dụ thêm Sensor Node mới mà không cần thay đổi Backend, và mỗi tầng hoạt động độc lập."</a:t>
            </a:r>
          </a:p>
          <a:p>
            <a:r>
              <a:rPr lang="en-US" sz="1200" b="0" kern="1200">
                <a:solidFill>
                  <a:schemeClr val="tx1"/>
                </a:solidFill>
                <a:effectLst/>
                <a:latin typeface="+mn-lt"/>
                <a:ea typeface="+mn-ea"/>
                <a:cs typeface="+mn-cs"/>
              </a:rPr>
              <a:t>- Chuyển tiếp: "Slide tiếp theo em sẽ trình bày chi tiết tầng cảm biến — phần cứng và các cảm biến được sử dụng."</a:t>
            </a:r>
          </a:p>
          <a:p>
            <a:endParaRPr lang="en-US"/>
          </a:p>
        </p:txBody>
      </p:sp>
      <p:sp>
        <p:nvSpPr>
          <p:cNvPr id="4" name="Chỗ dành sẵn cho Số hiệu Bản chiếu 3"/>
          <p:cNvSpPr>
            <a:spLocks noGrp="1"/>
          </p:cNvSpPr>
          <p:nvPr>
            <p:ph type="sldNum" sz="quarter" idx="5"/>
          </p:nvPr>
        </p:nvSpPr>
        <p:spPr/>
        <p:txBody>
          <a:bodyPr/>
          <a:lstStyle/>
          <a:p>
            <a:fld id="{AB2FC7A4-3D1B-482D-8C9D-7642A2CE3076}" type="slidenum">
              <a:rPr lang="en-US" smtClean="0"/>
              <a:t>8</a:t>
            </a:fld>
            <a:endParaRPr lang="en-US"/>
          </a:p>
        </p:txBody>
      </p:sp>
    </p:spTree>
    <p:extLst>
      <p:ext uri="{BB962C8B-B14F-4D97-AF65-F5344CB8AC3E}">
        <p14:creationId xmlns:p14="http://schemas.microsoft.com/office/powerpoint/2010/main" val="40542485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BF95B-8F87-7F40-BF0A-5AC44958986E}"/>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D8DAF384-8837-2747-D676-FE031421CF5A}"/>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32B3F96D-B7B4-A62A-DA6A-0A91F5AF919C}"/>
              </a:ext>
            </a:extLst>
          </p:cNvPr>
          <p:cNvSpPr>
            <a:spLocks noGrp="1"/>
          </p:cNvSpPr>
          <p:nvPr>
            <p:ph type="body" idx="1"/>
          </p:nvPr>
        </p:nvSpPr>
        <p:spPr/>
        <p:txBody>
          <a:bodyPr/>
          <a:lstStyle/>
          <a:p>
            <a:r>
              <a:rPr lang="en-US" sz="1200" b="0" kern="1200">
                <a:solidFill>
                  <a:schemeClr val="tx1"/>
                </a:solidFill>
                <a:effectLst/>
                <a:latin typeface="+mn-lt"/>
                <a:ea typeface="+mn-ea"/>
                <a:cs typeface="+mn-cs"/>
              </a:rPr>
              <a:t>- Mở đầu: "Để hiện thực hóa 5 mục tiêu trên, em thiết kế hệ thống theo kiến trúc bốn tầng, mỗi tầng có trách nhiệm rõ ràng và phát triển độc lập."</a:t>
            </a:r>
          </a:p>
          <a:p>
            <a:r>
              <a:rPr lang="en-US" sz="1200" b="0" kern="1200">
                <a:solidFill>
                  <a:schemeClr val="tx1"/>
                </a:solidFill>
                <a:effectLst/>
                <a:latin typeface="+mn-lt"/>
                <a:ea typeface="+mn-ea"/>
                <a:cs typeface="+mn-cs"/>
              </a:rPr>
              <a:t>- Giải thích tầng cảm biến: "Tầng dưới cùng là Sensor Node — mỗi node gồm ESP32 kết nối 3 cảm biến đo 6 thông số, dữ liệu được đóng gói thành gói nhị phân chỉ 18 byte và phát qua sóng LoRa 433 MHz, không cần WiFi tại điểm đo."</a:t>
            </a:r>
          </a:p>
          <a:p>
            <a:r>
              <a:rPr lang="en-US" sz="1200" b="0" kern="1200">
                <a:solidFill>
                  <a:schemeClr val="tx1"/>
                </a:solidFill>
                <a:effectLst/>
                <a:latin typeface="+mn-lt"/>
                <a:ea typeface="+mn-ea"/>
                <a:cs typeface="+mn-cs"/>
              </a:rPr>
              <a:t>- Giải thích tầng trung chuyển: "Gateway đóng vai trò cầu nối — nhận gói LoRa từ nhiều Sensor Node theo mô hình Hub-Spoke, lưu vào bộ đệm vòng rồi gửi lên server qua WiFi dưới dạng HTTP POST."</a:t>
            </a:r>
          </a:p>
          <a:p>
            <a:r>
              <a:rPr lang="en-US" sz="1200" b="0" kern="1200">
                <a:solidFill>
                  <a:schemeClr val="tx1"/>
                </a:solidFill>
                <a:effectLst/>
                <a:latin typeface="+mn-lt"/>
                <a:ea typeface="+mn-ea"/>
                <a:cs typeface="+mn-cs"/>
              </a:rPr>
              <a:t>- Giải thích tầng máy chủ: "Backend Server chạy Node.js, xử lý dữ liệu telemetry, tính AQI theo chuẩn US EPA, lưu vào TimescaleDB — một extension chuyên biệt cho dữ liệu chuỗi thời gian. Toàn bộ được đóng gói Docker."</a:t>
            </a:r>
          </a:p>
          <a:p>
            <a:r>
              <a:rPr lang="en-US" sz="1200" b="0" kern="1200">
                <a:solidFill>
                  <a:schemeClr val="tx1"/>
                </a:solidFill>
                <a:effectLst/>
                <a:latin typeface="+mn-lt"/>
                <a:ea typeface="+mn-ea"/>
                <a:cs typeface="+mn-cs"/>
              </a:rPr>
              <a:t>- Giải thích tầng hiển thị: "Cuối cùng, giao diện web React nhận dữ liệu realtime qua Socket.IO, hiển thị dashboard cho người dùng và trang quản trị cho admin."</a:t>
            </a:r>
          </a:p>
          <a:p>
            <a:r>
              <a:rPr lang="en-US" sz="1200" b="0" kern="1200">
                <a:solidFill>
                  <a:schemeClr val="tx1"/>
                </a:solidFill>
                <a:effectLst/>
                <a:latin typeface="+mn-lt"/>
                <a:ea typeface="+mn-ea"/>
                <a:cs typeface="+mn-cs"/>
              </a:rPr>
              <a:t>- Nhấn mạnh ưu điểm: "Kiến trúc 4 tầng cho phép mở rộng theo chiều ngang — ví dụ thêm Sensor Node mới mà không cần thay đổi Backend, và mỗi tầng hoạt động độc lập."</a:t>
            </a:r>
          </a:p>
          <a:p>
            <a:r>
              <a:rPr lang="en-US" sz="1200" b="0" kern="1200">
                <a:solidFill>
                  <a:schemeClr val="tx1"/>
                </a:solidFill>
                <a:effectLst/>
                <a:latin typeface="+mn-lt"/>
                <a:ea typeface="+mn-ea"/>
                <a:cs typeface="+mn-cs"/>
              </a:rPr>
              <a:t>- Chuyển tiếp: "Slide tiếp theo em sẽ trình bày chi tiết tầng cảm biến — phần cứng và các cảm biến được sử dụng."</a:t>
            </a:r>
          </a:p>
          <a:p>
            <a:endParaRPr lang="en-US"/>
          </a:p>
        </p:txBody>
      </p:sp>
      <p:sp>
        <p:nvSpPr>
          <p:cNvPr id="4" name="Chỗ dành sẵn cho Số hiệu Bản chiếu 3">
            <a:extLst>
              <a:ext uri="{FF2B5EF4-FFF2-40B4-BE49-F238E27FC236}">
                <a16:creationId xmlns:a16="http://schemas.microsoft.com/office/drawing/2014/main" id="{D309C623-B778-3DBE-ED2C-2C0E82DBB9E2}"/>
              </a:ext>
            </a:extLst>
          </p:cNvPr>
          <p:cNvSpPr>
            <a:spLocks noGrp="1"/>
          </p:cNvSpPr>
          <p:nvPr>
            <p:ph type="sldNum" sz="quarter" idx="5"/>
          </p:nvPr>
        </p:nvSpPr>
        <p:spPr/>
        <p:txBody>
          <a:bodyPr/>
          <a:lstStyle/>
          <a:p>
            <a:fld id="{AB2FC7A4-3D1B-482D-8C9D-7642A2CE3076}" type="slidenum">
              <a:rPr lang="en-US" smtClean="0"/>
              <a:t>9</a:t>
            </a:fld>
            <a:endParaRPr lang="en-US"/>
          </a:p>
        </p:txBody>
      </p:sp>
    </p:spTree>
    <p:extLst>
      <p:ext uri="{BB962C8B-B14F-4D97-AF65-F5344CB8AC3E}">
        <p14:creationId xmlns:p14="http://schemas.microsoft.com/office/powerpoint/2010/main" val="19958836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F11B3-9191-BBD2-0605-F88A950A267A}"/>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22561B83-6834-B5E8-83D8-26ADE94CA9AF}"/>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91E20AE5-FBC2-2E20-5C55-531C98696B7F}"/>
              </a:ext>
            </a:extLst>
          </p:cNvPr>
          <p:cNvSpPr>
            <a:spLocks noGrp="1"/>
          </p:cNvSpPr>
          <p:nvPr>
            <p:ph type="body" idx="1"/>
          </p:nvPr>
        </p:nvSpPr>
        <p:spPr/>
        <p:txBody>
          <a:bodyPr/>
          <a:lstStyle/>
          <a:p>
            <a:r>
              <a:rPr lang="en-US" sz="1200" b="0" i="0" kern="1200">
                <a:solidFill>
                  <a:schemeClr val="tx1"/>
                </a:solidFill>
                <a:effectLst/>
                <a:latin typeface="+mn-lt"/>
                <a:ea typeface="+mn-ea"/>
                <a:cs typeface="+mn-cs"/>
              </a:rPr>
              <a:t>Mở đầu: "Slide trước em đã trình bày phần cứng, bây giờ em trình bày cách dữ liệu từ các cảm biến được đóng gói và truyền qua LoRa."</a:t>
            </a:r>
          </a:p>
          <a:p>
            <a:r>
              <a:rPr lang="en-US" sz="1200" b="0" i="0" kern="1200">
                <a:solidFill>
                  <a:schemeClr val="tx1"/>
                </a:solidFill>
                <a:effectLst/>
                <a:latin typeface="+mn-lt"/>
                <a:ea typeface="+mn-ea"/>
                <a:cs typeface="+mn-cs"/>
              </a:rPr>
              <a:t>Giải thích bài toán: "LoRa là kênh truyền băng thông hẹp, air-time tỷ lệ thuận với kích thước gói tin. Nếu dùng JSON như giao tiếp Gateway–Backend thì mỗi gói tin sẽ khoảng 150–200 byte, kéo dài air-time và tăng nguy cơ va chạm gói tin. Em thiết kế giao thức binary chỉ 18 byte, giảm air-time khoảng 11 lần."</a:t>
            </a:r>
          </a:p>
          <a:p>
            <a:r>
              <a:rPr lang="en-US" sz="1200" b="0" i="0" kern="1200">
                <a:solidFill>
                  <a:schemeClr val="tx1"/>
                </a:solidFill>
                <a:effectLst/>
                <a:latin typeface="+mn-lt"/>
                <a:ea typeface="+mn-ea"/>
                <a:cs typeface="+mn-cs"/>
              </a:rPr>
              <a:t>Giải thích kỹ thuật nhân 10: "Các giá trị số thực như nhiệt độ 32.5°C được nhân 10 thành 325, lưu dạng integer 2 byte. Cách này loại bỏ hoàn toàn floating-point khỏi gói tin mà vẫn giữ một chữ số thập phân. Giá trị sentinel 0xFFFF đánh dấu cảm biến bị lỗi đọc."</a:t>
            </a:r>
          </a:p>
          <a:p>
            <a:r>
              <a:rPr lang="en-US" sz="1200" b="0" i="0" kern="1200">
                <a:solidFill>
                  <a:schemeClr val="tx1"/>
                </a:solidFill>
                <a:effectLst/>
                <a:latin typeface="+mn-lt"/>
                <a:ea typeface="+mn-ea"/>
                <a:cs typeface="+mn-cs"/>
              </a:rPr>
              <a:t>Giải thích deduplication: "Trong mô hình Hub-Spoke, vùng phủ sóng của hai Gateway có thể chồng lấp — cùng một gói tin được nhiều Gateway nhận. Trường msgId là bộ đếm tuần hoàn 0–255, Backend dùng cặp khóa (nodeId, msgId) trong bộ nhớ đệm để lọc trùng trước khi ghi vào cơ sở dữ liệu."</a:t>
            </a:r>
          </a:p>
          <a:p>
            <a:r>
              <a:rPr lang="en-US" sz="1200" b="0" i="0" kern="1200">
                <a:solidFill>
                  <a:schemeClr val="tx1"/>
                </a:solidFill>
                <a:effectLst/>
                <a:latin typeface="+mn-lt"/>
                <a:ea typeface="+mn-ea"/>
                <a:cs typeface="+mn-cs"/>
              </a:rPr>
              <a:t>Nhấn mạnh kết quả: "Thử nghiệm khoảng cách truyền LoRa trong không gian thoáng đạt 800 mét — đủ để một Gateway phục vụ nhiều Sensor Node trong bán kính triển khai thực tế."</a:t>
            </a:r>
          </a:p>
          <a:p>
            <a:r>
              <a:rPr lang="en-US" sz="1200" b="0" i="0" kern="1200">
                <a:solidFill>
                  <a:schemeClr val="tx1"/>
                </a:solidFill>
                <a:effectLst/>
                <a:latin typeface="+mn-lt"/>
                <a:ea typeface="+mn-ea"/>
                <a:cs typeface="+mn-cs"/>
              </a:rPr>
              <a:t>Chuyển tiếp: "Slide tiếp theo em sẽ trình bày chi tiết firmware Sensor Node với cơ chế Deep-sleep và firmware Gateway với kiến trúc superloop."</a:t>
            </a:r>
          </a:p>
        </p:txBody>
      </p:sp>
      <p:sp>
        <p:nvSpPr>
          <p:cNvPr id="4" name="Chỗ dành sẵn cho Số hiệu Bản chiếu 3">
            <a:extLst>
              <a:ext uri="{FF2B5EF4-FFF2-40B4-BE49-F238E27FC236}">
                <a16:creationId xmlns:a16="http://schemas.microsoft.com/office/drawing/2014/main" id="{52BBFC2B-8F6C-B391-198F-8E4852ADCB26}"/>
              </a:ext>
            </a:extLst>
          </p:cNvPr>
          <p:cNvSpPr>
            <a:spLocks noGrp="1"/>
          </p:cNvSpPr>
          <p:nvPr>
            <p:ph type="sldNum" sz="quarter" idx="5"/>
          </p:nvPr>
        </p:nvSpPr>
        <p:spPr/>
        <p:txBody>
          <a:bodyPr/>
          <a:lstStyle/>
          <a:p>
            <a:fld id="{AB2FC7A4-3D1B-482D-8C9D-7642A2CE3076}" type="slidenum">
              <a:rPr lang="en-US" smtClean="0"/>
              <a:t>10</a:t>
            </a:fld>
            <a:endParaRPr lang="en-US"/>
          </a:p>
        </p:txBody>
      </p:sp>
    </p:spTree>
    <p:extLst>
      <p:ext uri="{BB962C8B-B14F-4D97-AF65-F5344CB8AC3E}">
        <p14:creationId xmlns:p14="http://schemas.microsoft.com/office/powerpoint/2010/main" val="37069476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FA505-0225-88F8-32F1-C716B843F5BC}"/>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796E9A34-3592-5664-DF1F-CA6FB5442976}"/>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1FED32DF-F61F-58A6-3411-C82F0F3BD0A7}"/>
              </a:ext>
            </a:extLst>
          </p:cNvPr>
          <p:cNvSpPr>
            <a:spLocks noGrp="1"/>
          </p:cNvSpPr>
          <p:nvPr>
            <p:ph type="body" idx="1"/>
          </p:nvPr>
        </p:nvSpPr>
        <p:spPr/>
        <p:txBody>
          <a:bodyPr/>
          <a:lstStyle/>
          <a:p>
            <a:r>
              <a:rPr lang="en-US" sz="1200" b="0" i="0" kern="1200">
                <a:solidFill>
                  <a:schemeClr val="tx1"/>
                </a:solidFill>
                <a:effectLst/>
                <a:latin typeface="+mn-lt"/>
                <a:ea typeface="+mn-ea"/>
                <a:cs typeface="+mn-cs"/>
              </a:rPr>
              <a:t>Mở đầu: "Slide trước em đã trình bày giao thức LoRa 18 byte, bây giờ em trình bày chi tiết firmware hai thiết bị — Sensor Node và Gateway."</a:t>
            </a:r>
          </a:p>
          <a:p>
            <a:r>
              <a:rPr lang="en-US" sz="1200" b="0" i="0" kern="1200">
                <a:solidFill>
                  <a:schemeClr val="tx1"/>
                </a:solidFill>
                <a:effectLst/>
                <a:latin typeface="+mn-lt"/>
                <a:ea typeface="+mn-ea"/>
                <a:cs typeface="+mn-cs"/>
              </a:rPr>
              <a:t>Giải thích deep-sleep: "ESP32 hỗ trợ chế độ Deep-sleep, triệt tiêu điện năng các module ngoại vi khi không dùng. Thay vì chạy vòng lặp liên tục như FreeRTOS, firmware chỉ thức dậy theo chu kỳ Timer để đọc cảm biến, đóng gói 18 byte gửi qua LoRa, lưu kết quả vào vùng nhớ RTC rồi quay lại ngủ. Nếu người dùng nhấn nút BOOT, thiết bị bỏ qua lấy mẫu, truy xuất dữ liệu từ RTC memory hiển thị lên OLED trong 10 giây."</a:t>
            </a:r>
          </a:p>
          <a:p>
            <a:r>
              <a:rPr lang="en-US" sz="1200" b="0" i="0" kern="1200">
                <a:solidFill>
                  <a:schemeClr val="tx1"/>
                </a:solidFill>
                <a:effectLst/>
                <a:latin typeface="+mn-lt"/>
                <a:ea typeface="+mn-ea"/>
                <a:cs typeface="+mn-cs"/>
              </a:rPr>
              <a:t>Giải thích gateway superloop: "Gateway không cần deep-sleep vì dùng nguồn điện trực tiếp. Em chọn kiến trúc superloop — vòng lặp chính tuần tự: nhận gói tin từ UART LoRa, cập nhật OLED, tích luỹ vào ring buffer. Khi đủ số lượng gói hoặc hết chu kỳ thời gian, Gateway serialize bộ đệm thành JSON array và gửi lên Backend qua HTTP POST. Kiến trúc này đơn giản hơn FreeRTOS mà vẫn đáp ứng yêu cầu, vì các tác vụ đều tuần tự."</a:t>
            </a:r>
          </a:p>
          <a:p>
            <a:r>
              <a:rPr lang="en-US" sz="1200" b="0" i="0" kern="1200">
                <a:solidFill>
                  <a:schemeClr val="tx1"/>
                </a:solidFill>
                <a:effectLst/>
                <a:latin typeface="+mn-lt"/>
                <a:ea typeface="+mn-ea"/>
                <a:cs typeface="+mn-cs"/>
              </a:rPr>
              <a:t>Giải thích provisioning: "Khi Sensor Node chưa có cấu hình hoặc sau factory reset (giữ nút BOOT 5 giây), thiết bị phát WiFi AP với SSID 'AirQuality-SN-Setup' và phục vụ trang web captive portal tại 192.168.4.1. Người dùng nhập Node ID, firmware lưu vào NVS và khởi động lại. Gateway cũng có cơ chế tương tự — tự đăng ký với Backend Server khi kết nối lần đầu."</a:t>
            </a:r>
          </a:p>
          <a:p>
            <a:r>
              <a:rPr lang="en-US" sz="1200" b="0" i="0" kern="1200">
                <a:solidFill>
                  <a:schemeClr val="tx1"/>
                </a:solidFill>
                <a:effectLst/>
                <a:latin typeface="+mn-lt"/>
                <a:ea typeface="+mn-ea"/>
                <a:cs typeface="+mn-cs"/>
              </a:rPr>
              <a:t>Chuyển tiếp: "Với firmware hoàn chỉnh ở tầng cảm biến và tầng trung chuyển, slide tiếp theo em sẽ trình bày Backend pipeline — cách tầng máy chủ xử lý dữ liệu từ Gateway."</a:t>
            </a:r>
          </a:p>
        </p:txBody>
      </p:sp>
      <p:sp>
        <p:nvSpPr>
          <p:cNvPr id="4" name="Chỗ dành sẵn cho Số hiệu Bản chiếu 3">
            <a:extLst>
              <a:ext uri="{FF2B5EF4-FFF2-40B4-BE49-F238E27FC236}">
                <a16:creationId xmlns:a16="http://schemas.microsoft.com/office/drawing/2014/main" id="{AAAC25D9-C193-01AB-6322-D65680E87D52}"/>
              </a:ext>
            </a:extLst>
          </p:cNvPr>
          <p:cNvSpPr>
            <a:spLocks noGrp="1"/>
          </p:cNvSpPr>
          <p:nvPr>
            <p:ph type="sldNum" sz="quarter" idx="5"/>
          </p:nvPr>
        </p:nvSpPr>
        <p:spPr/>
        <p:txBody>
          <a:bodyPr/>
          <a:lstStyle/>
          <a:p>
            <a:fld id="{AB2FC7A4-3D1B-482D-8C9D-7642A2CE3076}" type="slidenum">
              <a:rPr lang="en-US" smtClean="0"/>
              <a:t>11</a:t>
            </a:fld>
            <a:endParaRPr lang="en-US"/>
          </a:p>
        </p:txBody>
      </p:sp>
    </p:spTree>
    <p:extLst>
      <p:ext uri="{BB962C8B-B14F-4D97-AF65-F5344CB8AC3E}">
        <p14:creationId xmlns:p14="http://schemas.microsoft.com/office/powerpoint/2010/main" val="2940395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9AABD-5AC7-74FA-B998-7899E182EDD9}"/>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8072F355-18A7-568B-693C-95E96F92ED5E}"/>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B73732AA-1249-CEF1-F3F8-D764B7A3DB1F}"/>
              </a:ext>
            </a:extLst>
          </p:cNvPr>
          <p:cNvSpPr>
            <a:spLocks noGrp="1"/>
          </p:cNvSpPr>
          <p:nvPr>
            <p:ph type="body" idx="1"/>
          </p:nvPr>
        </p:nvSpPr>
        <p:spPr/>
        <p:txBody>
          <a:bodyPr/>
          <a:lstStyle/>
          <a:p>
            <a:r>
              <a:rPr lang="en-US" sz="1200" b="0" i="0" kern="1200">
                <a:solidFill>
                  <a:schemeClr val="tx1"/>
                </a:solidFill>
                <a:effectLst/>
                <a:latin typeface="+mn-lt"/>
                <a:ea typeface="+mn-ea"/>
                <a:cs typeface="+mn-cs"/>
              </a:rPr>
              <a:t>Mở đầu: "Slide trước em đã trình bày firmware Sensor Node và Gateway, bây giờ em trình bày cách Backend Server — tầng máy chủ — xử lý dữ liệu nhận từ Gateway."</a:t>
            </a:r>
          </a:p>
          <a:p>
            <a:r>
              <a:rPr lang="en-US" sz="1200" b="0" i="0" kern="1200">
                <a:solidFill>
                  <a:schemeClr val="tx1"/>
                </a:solidFill>
                <a:effectLst/>
                <a:latin typeface="+mn-lt"/>
                <a:ea typeface="+mn-ea"/>
                <a:cs typeface="+mn-cs"/>
              </a:rPr>
              <a:t>Giải thích kiến trúc phân lớp: "Backend được tổ chức theo mô hình 3 lớp: lớp Controller tiếp nhận HTTP request, lớp Service chứa logic nghiệp vụ, và lớp Data Access tương tác với cơ sở dữ liệu thông qua Prisma ORM. Phụ thuộc tuân thủ chiều một hướng — lớp trên gọi lớp dưới, không ngược lại — giúp kiểm thử và bảo trì từng lớp độc lập."</a:t>
            </a:r>
          </a:p>
          <a:p>
            <a:r>
              <a:rPr lang="en-US" sz="1200" b="0" i="0" kern="1200">
                <a:solidFill>
                  <a:schemeClr val="tx1"/>
                </a:solidFill>
                <a:effectLst/>
                <a:latin typeface="+mn-lt"/>
                <a:ea typeface="+mn-ea"/>
                <a:cs typeface="+mn-cs"/>
              </a:rPr>
              <a:t>Giải thích pipeline telemetry: "Đây là luồng xử lý cốt lõi. Khi Gateway gửi HTTP POST chứa batch dữ liệu, Controller chuyển cho telemetryService. Bước 1: module dedupCache lọc gói tin trùng lặp — xử lý trường hợp nhiều Gateway cùng nhận một gói LoRa. Bước 2: một database transaction duy nhất cập nhật trạng thái Gateway, Sensor Node và ghi dữ liệu đo — ba thao tác này nằm chung transaction để đảm bảo nhất quán. Bước 3: alertService kiểm tra ngưỡng cảnh báo, nhưng bước này nằm NGOÀI transaction — nghĩa là nếu alertService bị lỗi, dữ liệu đo vẫn đã được lưu thành công. Đây là quyết định thiết kế quan trọng nhất — zero data loss."</a:t>
            </a:r>
          </a:p>
          <a:p>
            <a:r>
              <a:rPr lang="en-US" sz="1200" b="0" i="0" kern="1200">
                <a:solidFill>
                  <a:schemeClr val="tx1"/>
                </a:solidFill>
                <a:effectLst/>
                <a:latin typeface="+mn-lt"/>
                <a:ea typeface="+mn-ea"/>
                <a:cs typeface="+mn-cs"/>
              </a:rPr>
              <a:t>Giải thích realtime + alert: "Sau khi xử lý xong, Controller tính AQI qua aqiService và phát sự kiện Socket.IO để Frontend cập nhật tức thì. Nếu có cảnh báo mới, sự kiện new-alert cũng được phát. Cơ chế cooldown 15 phút ngăn tạo cảnh báo trùng lặp cho cùng thiết bị và thông số trong khoảng thời gian ngắn."</a:t>
            </a:r>
          </a:p>
          <a:p>
            <a:r>
              <a:rPr lang="en-US" sz="1200" b="0" i="0" kern="1200">
                <a:solidFill>
                  <a:schemeClr val="tx1"/>
                </a:solidFill>
                <a:effectLst/>
                <a:latin typeface="+mn-lt"/>
                <a:ea typeface="+mn-ea"/>
                <a:cs typeface="+mn-cs"/>
              </a:rPr>
              <a:t>Chuyển tiếp: "Với pipeline xử lý telemetry rõ ràng, slide tiếp theo em sẽ trình bày tầng cơ sở dữ liệu — cách TimescaleDB lưu trữ dữ liệu chuỗi thời gian và cách tính AQI."</a:t>
            </a:r>
          </a:p>
        </p:txBody>
      </p:sp>
      <p:sp>
        <p:nvSpPr>
          <p:cNvPr id="4" name="Chỗ dành sẵn cho Số hiệu Bản chiếu 3">
            <a:extLst>
              <a:ext uri="{FF2B5EF4-FFF2-40B4-BE49-F238E27FC236}">
                <a16:creationId xmlns:a16="http://schemas.microsoft.com/office/drawing/2014/main" id="{C515E08D-0E70-AD3B-6FA0-5BC1CB3CDCE7}"/>
              </a:ext>
            </a:extLst>
          </p:cNvPr>
          <p:cNvSpPr>
            <a:spLocks noGrp="1"/>
          </p:cNvSpPr>
          <p:nvPr>
            <p:ph type="sldNum" sz="quarter" idx="5"/>
          </p:nvPr>
        </p:nvSpPr>
        <p:spPr/>
        <p:txBody>
          <a:bodyPr/>
          <a:lstStyle/>
          <a:p>
            <a:fld id="{AB2FC7A4-3D1B-482D-8C9D-7642A2CE3076}" type="slidenum">
              <a:rPr lang="en-US" smtClean="0"/>
              <a:t>12</a:t>
            </a:fld>
            <a:endParaRPr lang="en-US"/>
          </a:p>
        </p:txBody>
      </p:sp>
    </p:spTree>
    <p:extLst>
      <p:ext uri="{BB962C8B-B14F-4D97-AF65-F5344CB8AC3E}">
        <p14:creationId xmlns:p14="http://schemas.microsoft.com/office/powerpoint/2010/main" val="11353807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FB00F-139E-B1F8-DEEF-7DD2D18BCC09}"/>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0B983B69-869E-5FF0-2FEF-67A8751FC09F}"/>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F6FF0113-FD42-A6F4-59D4-C094158F51DA}"/>
              </a:ext>
            </a:extLst>
          </p:cNvPr>
          <p:cNvSpPr>
            <a:spLocks noGrp="1"/>
          </p:cNvSpPr>
          <p:nvPr>
            <p:ph type="body" idx="1"/>
          </p:nvPr>
        </p:nvSpPr>
        <p:spPr/>
        <p:txBody>
          <a:bodyPr/>
          <a:lstStyle/>
          <a:p>
            <a:r>
              <a:rPr lang="en-US" sz="1200" b="0" i="0" kern="1200">
                <a:solidFill>
                  <a:schemeClr val="tx1"/>
                </a:solidFill>
                <a:effectLst/>
                <a:latin typeface="+mn-lt"/>
                <a:ea typeface="+mn-ea"/>
                <a:cs typeface="+mn-cs"/>
              </a:rPr>
              <a:t>Mở đầu: "Slide trước em đã trình bày firmware Sensor Node và Gateway, bây giờ em trình bày cách Backend Server — tầng máy chủ — xử lý dữ liệu nhận từ Gateway."</a:t>
            </a:r>
          </a:p>
          <a:p>
            <a:r>
              <a:rPr lang="en-US" sz="1200" b="0" i="0" kern="1200">
                <a:solidFill>
                  <a:schemeClr val="tx1"/>
                </a:solidFill>
                <a:effectLst/>
                <a:latin typeface="+mn-lt"/>
                <a:ea typeface="+mn-ea"/>
                <a:cs typeface="+mn-cs"/>
              </a:rPr>
              <a:t>Giải thích kiến trúc phân lớp: "Backend được tổ chức theo mô hình 3 lớp: lớp Controller tiếp nhận HTTP request, lớp Service chứa logic nghiệp vụ, và lớp Data Access tương tác với cơ sở dữ liệu thông qua Prisma ORM. Phụ thuộc tuân thủ chiều một hướng — lớp trên gọi lớp dưới, không ngược lại — giúp kiểm thử và bảo trì từng lớp độc lập."</a:t>
            </a:r>
          </a:p>
          <a:p>
            <a:r>
              <a:rPr lang="en-US" sz="1200" b="0" i="0" kern="1200">
                <a:solidFill>
                  <a:schemeClr val="tx1"/>
                </a:solidFill>
                <a:effectLst/>
                <a:latin typeface="+mn-lt"/>
                <a:ea typeface="+mn-ea"/>
                <a:cs typeface="+mn-cs"/>
              </a:rPr>
              <a:t>Giải thích pipeline telemetry: "Đây là luồng xử lý cốt lõi. Khi Gateway gửi HTTP POST chứa batch dữ liệu, Controller chuyển cho telemetryService. Bước 1: module dedupCache lọc gói tin trùng lặp — xử lý trường hợp nhiều Gateway cùng nhận một gói LoRa. Bước 2: một database transaction duy nhất cập nhật trạng thái Gateway, Sensor Node và ghi dữ liệu đo — ba thao tác này nằm chung transaction để đảm bảo nhất quán. Bước 3: alertService kiểm tra ngưỡng cảnh báo, nhưng bước này nằm NGOÀI transaction — nghĩa là nếu alertService bị lỗi, dữ liệu đo vẫn đã được lưu thành công. Đây là quyết định thiết kế quan trọng nhất — zero data loss."</a:t>
            </a:r>
          </a:p>
          <a:p>
            <a:r>
              <a:rPr lang="en-US" sz="1200" b="0" i="0" kern="1200">
                <a:solidFill>
                  <a:schemeClr val="tx1"/>
                </a:solidFill>
                <a:effectLst/>
                <a:latin typeface="+mn-lt"/>
                <a:ea typeface="+mn-ea"/>
                <a:cs typeface="+mn-cs"/>
              </a:rPr>
              <a:t>Giải thích realtime + alert: "Sau khi xử lý xong, Controller tính AQI qua aqiService và phát sự kiện Socket.IO để Frontend cập nhật tức thì. Nếu có cảnh báo mới, sự kiện new-alert cũng được phát. Cơ chế cooldown 15 phút ngăn tạo cảnh báo trùng lặp cho cùng thiết bị và thông số trong khoảng thời gian ngắn."</a:t>
            </a:r>
          </a:p>
          <a:p>
            <a:r>
              <a:rPr lang="en-US" sz="1200" b="0" i="0" kern="1200">
                <a:solidFill>
                  <a:schemeClr val="tx1"/>
                </a:solidFill>
                <a:effectLst/>
                <a:latin typeface="+mn-lt"/>
                <a:ea typeface="+mn-ea"/>
                <a:cs typeface="+mn-cs"/>
              </a:rPr>
              <a:t>Chuyển tiếp: "Với pipeline xử lý telemetry rõ ràng, slide tiếp theo em sẽ trình bày tầng cơ sở dữ liệu — cách TimescaleDB lưu trữ dữ liệu chuỗi thời gian và cách tính AQI."</a:t>
            </a:r>
          </a:p>
        </p:txBody>
      </p:sp>
      <p:sp>
        <p:nvSpPr>
          <p:cNvPr id="4" name="Chỗ dành sẵn cho Số hiệu Bản chiếu 3">
            <a:extLst>
              <a:ext uri="{FF2B5EF4-FFF2-40B4-BE49-F238E27FC236}">
                <a16:creationId xmlns:a16="http://schemas.microsoft.com/office/drawing/2014/main" id="{56E42523-ABDB-6E58-B7E6-6A1E3E4E0CF9}"/>
              </a:ext>
            </a:extLst>
          </p:cNvPr>
          <p:cNvSpPr>
            <a:spLocks noGrp="1"/>
          </p:cNvSpPr>
          <p:nvPr>
            <p:ph type="sldNum" sz="quarter" idx="5"/>
          </p:nvPr>
        </p:nvSpPr>
        <p:spPr/>
        <p:txBody>
          <a:bodyPr/>
          <a:lstStyle/>
          <a:p>
            <a:fld id="{AB2FC7A4-3D1B-482D-8C9D-7642A2CE3076}" type="slidenum">
              <a:rPr lang="en-US" smtClean="0"/>
              <a:t>13</a:t>
            </a:fld>
            <a:endParaRPr lang="en-US"/>
          </a:p>
        </p:txBody>
      </p:sp>
    </p:spTree>
    <p:extLst>
      <p:ext uri="{BB962C8B-B14F-4D97-AF65-F5344CB8AC3E}">
        <p14:creationId xmlns:p14="http://schemas.microsoft.com/office/powerpoint/2010/main" val="1214958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549E9-9C1C-2C79-B0B2-6E583B1BDEC5}"/>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DD887882-FB1C-77FA-C7D8-E6C78600E026}"/>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DCD801CD-6802-E358-7220-C74FE3B9681F}"/>
              </a:ext>
            </a:extLst>
          </p:cNvPr>
          <p:cNvSpPr>
            <a:spLocks noGrp="1"/>
          </p:cNvSpPr>
          <p:nvPr>
            <p:ph type="body" idx="1"/>
          </p:nvPr>
        </p:nvSpPr>
        <p:spPr/>
        <p:txBody>
          <a:bodyPr/>
          <a:lstStyle/>
          <a:p>
            <a:r>
              <a:rPr lang="en-US" sz="1200" b="0" i="0" kern="1200">
                <a:solidFill>
                  <a:schemeClr val="tx1"/>
                </a:solidFill>
                <a:effectLst/>
                <a:latin typeface="+mn-lt"/>
                <a:ea typeface="+mn-ea"/>
                <a:cs typeface="+mn-cs"/>
              </a:rPr>
              <a:t>Mở đầu: "Slide trước em đã trình bày pipeline xử lý telemetry trên Backend. Bây giờ em trình bày tầng cơ sở dữ liệu — cách hệ thống lưu trữ dữ liệu chuỗi thời gian và tính chỉ số AQI."</a:t>
            </a:r>
          </a:p>
          <a:p>
            <a:r>
              <a:rPr lang="en-US" sz="1200" b="0" i="0" kern="1200">
                <a:solidFill>
                  <a:schemeClr val="tx1"/>
                </a:solidFill>
                <a:effectLst/>
                <a:latin typeface="+mn-lt"/>
                <a:ea typeface="+mn-ea"/>
                <a:cs typeface="+mn-cs"/>
              </a:rPr>
              <a:t>Giải thích CSDL: "CSDL sử dụng PostgreSQL 15 với hai extension. TimescaleDB chuyển bảng measurements thành hypertable — tự động phân mảnh theo thời gian, giúp tối ưu hiệu năng ghi và truy vấn khi dữ liệu tăng liên tục. Continuous Aggregate hourly_measurements tự động tính giá trị trung bình theo giờ — nhờ đó khi người dùng xem lịch sử 30 ngày, hệ thống truy vấn view đã tính sẵn thay vì tính từ dữ liệu thô, đáp ứng yêu cầu phản hồi dưới 3 giây. Retention Policy tự động xóa dữ liệu thô quá 3 tháng để kiểm soát dung lượng."</a:t>
            </a:r>
          </a:p>
          <a:p>
            <a:r>
              <a:rPr lang="en-US" sz="1200" b="0" i="0" kern="1200">
                <a:solidFill>
                  <a:schemeClr val="tx1"/>
                </a:solidFill>
                <a:effectLst/>
                <a:latin typeface="+mn-lt"/>
                <a:ea typeface="+mn-ea"/>
                <a:cs typeface="+mn-cs"/>
              </a:rPr>
              <a:t>Giải thích PostGIS: "PostGIS bổ sung kiểu dữ liệu không gian cho cột geom của bảng sensor_nodes — lưu toạ độ GPS theo chuẩn WGS84. Khi người dùng mở Dashboard, hệ thống gọi hàm ST_DistanceSphere để tìm trạm đo gần nhất dựa trên vị trí GPS của trình duyệt."</a:t>
            </a:r>
          </a:p>
          <a:p>
            <a:r>
              <a:rPr lang="en-US" sz="1200" b="0" i="0" kern="1200">
                <a:solidFill>
                  <a:schemeClr val="tx1"/>
                </a:solidFill>
                <a:effectLst/>
                <a:latin typeface="+mn-lt"/>
                <a:ea typeface="+mn-ea"/>
                <a:cs typeface="+mn-cs"/>
              </a:rPr>
              <a:t>Giải thích AQI: "Hệ thống tính AQI theo chuẩn US EPA. Với mỗi chất ô nhiễm dạng hạt — PM2.5 và PM10 — em tra bảng breakpoint để tìm khoảng nồng độ chứa giá trị đo, sau đó áp dụng công thức nội suy tuyến tính. AQI tổng hợp lấy giá trị lớn nhất giữa AQI PM2.5 và AQI PM10, sau đó ánh xạ sang 6 mức mã màu từ Xanh lá — Tốt đến Nâu đỏ — Nguy hiểm. Module aqiService triển khai thuật toán này và đã được kiểm thử 19/19 unit test đạt."</a:t>
            </a:r>
          </a:p>
          <a:p>
            <a:r>
              <a:rPr lang="en-US" sz="1200" b="0" i="0" kern="1200">
                <a:solidFill>
                  <a:schemeClr val="tx1"/>
                </a:solidFill>
                <a:effectLst/>
                <a:latin typeface="+mn-lt"/>
                <a:ea typeface="+mn-ea"/>
                <a:cs typeface="+mn-cs"/>
              </a:rPr>
              <a:t>Chuyển tiếp: "Với CSDL và AQI đã rõ, slide tiếp theo em sẽ demo giao diện người dùng — nơi hiển thị kết quả của toàn bộ pipeline."</a:t>
            </a:r>
          </a:p>
        </p:txBody>
      </p:sp>
      <p:sp>
        <p:nvSpPr>
          <p:cNvPr id="4" name="Chỗ dành sẵn cho Số hiệu Bản chiếu 3">
            <a:extLst>
              <a:ext uri="{FF2B5EF4-FFF2-40B4-BE49-F238E27FC236}">
                <a16:creationId xmlns:a16="http://schemas.microsoft.com/office/drawing/2014/main" id="{7093896D-9C17-E70D-7271-752D7755DCB4}"/>
              </a:ext>
            </a:extLst>
          </p:cNvPr>
          <p:cNvSpPr>
            <a:spLocks noGrp="1"/>
          </p:cNvSpPr>
          <p:nvPr>
            <p:ph type="sldNum" sz="quarter" idx="5"/>
          </p:nvPr>
        </p:nvSpPr>
        <p:spPr/>
        <p:txBody>
          <a:bodyPr/>
          <a:lstStyle/>
          <a:p>
            <a:fld id="{AB2FC7A4-3D1B-482D-8C9D-7642A2CE3076}" type="slidenum">
              <a:rPr lang="en-US" smtClean="0"/>
              <a:t>14</a:t>
            </a:fld>
            <a:endParaRPr lang="en-US"/>
          </a:p>
        </p:txBody>
      </p:sp>
    </p:spTree>
    <p:extLst>
      <p:ext uri="{BB962C8B-B14F-4D97-AF65-F5344CB8AC3E}">
        <p14:creationId xmlns:p14="http://schemas.microsoft.com/office/powerpoint/2010/main" val="1461610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B1014-6680-2449-1579-DA8E5F2F2FA6}"/>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7BC7F898-8D44-FAA8-F9D1-5F9C104186AE}"/>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E12B3478-7294-B9DF-CB71-6DB4B90B579B}"/>
              </a:ext>
            </a:extLst>
          </p:cNvPr>
          <p:cNvSpPr>
            <a:spLocks noGrp="1"/>
          </p:cNvSpPr>
          <p:nvPr>
            <p:ph type="body" idx="1"/>
          </p:nvPr>
        </p:nvSpPr>
        <p:spPr/>
        <p:txBody>
          <a:bodyPr/>
          <a:lstStyle/>
          <a:p>
            <a:r>
              <a:rPr lang="en-US" sz="1200" b="0" i="0" kern="1200">
                <a:solidFill>
                  <a:schemeClr val="tx1"/>
                </a:solidFill>
                <a:effectLst/>
                <a:latin typeface="+mn-lt"/>
                <a:ea typeface="+mn-ea"/>
                <a:cs typeface="+mn-cs"/>
              </a:rPr>
              <a:t>Mở đầu: "Slide trước em đã trình bày cơ sở dữ liệu và cách tính AQI. Bây giờ em demo giao diện người dùng — nơi hiển thị kết quả của toàn bộ pipeline cho người dùng cuối."</a:t>
            </a:r>
          </a:p>
          <a:p>
            <a:r>
              <a:rPr lang="en-US" sz="1200" b="0" i="0" kern="1200">
                <a:solidFill>
                  <a:schemeClr val="tx1"/>
                </a:solidFill>
                <a:effectLst/>
                <a:latin typeface="+mn-lt"/>
                <a:ea typeface="+mn-ea"/>
                <a:cs typeface="+mn-cs"/>
              </a:rPr>
              <a:t>Giải thích Dashboard: "Khi người dùng truy cập trang chủ, hệ thống yêu cầu quyền vị trí GPS và ưu tiên hiển thị dữ liệu trạm đo gần nhất. Hàng đầu tiên là 6 thẻ thông số nổi bật, mỗi thẻ có viền màu cảnh báo tương ứng mức AQI. Bên dưới là bản đồ AQI khu vực cùng danh sách trạm lân cận. Nửa dưới là biểu đồ lịch sử và thẻ khuyến nghị sức khỏe. Tất cả dữ liệu cập nhật liên tục realtime qua Socket.IO — khi Gateway gửi dữ liệu mới, dashboard tự động cập nhật mà không cần tải lại trang."</a:t>
            </a:r>
          </a:p>
          <a:p>
            <a:r>
              <a:rPr lang="en-US" sz="1200" b="0" i="0" kern="1200">
                <a:solidFill>
                  <a:schemeClr val="tx1"/>
                </a:solidFill>
                <a:effectLst/>
                <a:latin typeface="+mn-lt"/>
                <a:ea typeface="+mn-ea"/>
                <a:cs typeface="+mn-cs"/>
              </a:rPr>
              <a:t>Giải thích Bản đồ: "Trang bản đồ hiển thị toàn bộ trạm đo trên Leaflet với tile OpenStreetMap. Mỗi trạm là marker hình tròn với mã màu AQI theo chuẩn US EPA. Nhấn vào marker sẽ hiện popup chi tiết gồm tên trạm, AQI, PM2.5 và thời gian cập nhật cuối."</a:t>
            </a:r>
          </a:p>
          <a:p>
            <a:r>
              <a:rPr lang="en-US" sz="1200" b="0" i="0" kern="1200">
                <a:solidFill>
                  <a:schemeClr val="tx1"/>
                </a:solidFill>
                <a:effectLst/>
                <a:latin typeface="+mn-lt"/>
                <a:ea typeface="+mn-ea"/>
                <a:cs typeface="+mn-cs"/>
              </a:rPr>
              <a:t>Giải thích Lịch sử &amp; Xếp hạng: "Trang lịch sử cho phép chọn trạm, chọn thông số và chế độ hiển thị theo giờ hoặc theo ngày. Chế độ theo giờ truy vấn từ Continuous Aggregate hourly_measurements nên rất nhanh. Trang xếp hạng sắp xếp tất cả trạm theo AQI để người dùng so sánh nhanh."</a:t>
            </a:r>
          </a:p>
          <a:p>
            <a:r>
              <a:rPr lang="en-US" sz="1200" b="0" i="0" kern="1200">
                <a:solidFill>
                  <a:schemeClr val="tx1"/>
                </a:solidFill>
                <a:effectLst/>
                <a:latin typeface="+mn-lt"/>
                <a:ea typeface="+mn-ea"/>
                <a:cs typeface="+mn-cs"/>
              </a:rPr>
              <a:t>Lưu ý bổ sung: "Giao diện hỗ trợ responsive trên nhiều kích thước màn hình và đa ngôn ngữ Việt–Anh qua react-i18next. Hệ thống sử dụng 28 component tái sử dụng với dark theme thống nhất."</a:t>
            </a:r>
          </a:p>
          <a:p>
            <a:r>
              <a:rPr lang="en-US" sz="1200" b="0" i="0" kern="1200">
                <a:solidFill>
                  <a:schemeClr val="tx1"/>
                </a:solidFill>
                <a:effectLst/>
                <a:latin typeface="+mn-lt"/>
                <a:ea typeface="+mn-ea"/>
                <a:cs typeface="+mn-cs"/>
              </a:rPr>
              <a:t>Chuyển tiếp: "Đó là phần giao diện người dùng. Slide tiếp theo em sẽ trình bày giao diện quản trị dành cho admin."</a:t>
            </a:r>
          </a:p>
        </p:txBody>
      </p:sp>
      <p:sp>
        <p:nvSpPr>
          <p:cNvPr id="4" name="Chỗ dành sẵn cho Số hiệu Bản chiếu 3">
            <a:extLst>
              <a:ext uri="{FF2B5EF4-FFF2-40B4-BE49-F238E27FC236}">
                <a16:creationId xmlns:a16="http://schemas.microsoft.com/office/drawing/2014/main" id="{EEA288B1-B9CC-D1B4-8AE7-8EFD800FF3A6}"/>
              </a:ext>
            </a:extLst>
          </p:cNvPr>
          <p:cNvSpPr>
            <a:spLocks noGrp="1"/>
          </p:cNvSpPr>
          <p:nvPr>
            <p:ph type="sldNum" sz="quarter" idx="5"/>
          </p:nvPr>
        </p:nvSpPr>
        <p:spPr/>
        <p:txBody>
          <a:bodyPr/>
          <a:lstStyle/>
          <a:p>
            <a:fld id="{AB2FC7A4-3D1B-482D-8C9D-7642A2CE3076}" type="slidenum">
              <a:rPr lang="en-US" smtClean="0"/>
              <a:t>15</a:t>
            </a:fld>
            <a:endParaRPr lang="en-US"/>
          </a:p>
        </p:txBody>
      </p:sp>
    </p:spTree>
    <p:extLst>
      <p:ext uri="{BB962C8B-B14F-4D97-AF65-F5344CB8AC3E}">
        <p14:creationId xmlns:p14="http://schemas.microsoft.com/office/powerpoint/2010/main" val="25492842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CA9BD-6F94-FD10-0B30-18C9CAB5B1D6}"/>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96503BE4-6993-E7B9-82ED-951959D4CE30}"/>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AD0FF642-98C6-E99D-6C83-75A130EB19E0}"/>
              </a:ext>
            </a:extLst>
          </p:cNvPr>
          <p:cNvSpPr>
            <a:spLocks noGrp="1"/>
          </p:cNvSpPr>
          <p:nvPr>
            <p:ph type="body" idx="1"/>
          </p:nvPr>
        </p:nvSpPr>
        <p:spPr/>
        <p:txBody>
          <a:bodyPr/>
          <a:lstStyle/>
          <a:p>
            <a:r>
              <a:rPr lang="en-US" sz="1200" b="0" i="0" kern="1200">
                <a:solidFill>
                  <a:schemeClr val="tx1"/>
                </a:solidFill>
                <a:effectLst/>
                <a:latin typeface="+mn-lt"/>
                <a:ea typeface="+mn-ea"/>
                <a:cs typeface="+mn-cs"/>
              </a:rPr>
              <a:t>Mở đầu: "Slide trước em đã trình bày cơ sở dữ liệu và cách tính AQI. Bây giờ em demo giao diện người dùng — nơi hiển thị kết quả của toàn bộ pipeline cho người dùng cuối."</a:t>
            </a:r>
          </a:p>
          <a:p>
            <a:r>
              <a:rPr lang="en-US" sz="1200" b="0" i="0" kern="1200">
                <a:solidFill>
                  <a:schemeClr val="tx1"/>
                </a:solidFill>
                <a:effectLst/>
                <a:latin typeface="+mn-lt"/>
                <a:ea typeface="+mn-ea"/>
                <a:cs typeface="+mn-cs"/>
              </a:rPr>
              <a:t>Giải thích Dashboard: "Khi người dùng truy cập trang chủ, hệ thống yêu cầu quyền vị trí GPS và ưu tiên hiển thị dữ liệu trạm đo gần nhất. Hàng đầu tiên là 6 thẻ thông số nổi bật, mỗi thẻ có viền màu cảnh báo tương ứng mức AQI. Bên dưới là bản đồ AQI khu vực cùng danh sách trạm lân cận. Nửa dưới là biểu đồ lịch sử và thẻ khuyến nghị sức khỏe. Tất cả dữ liệu cập nhật liên tục realtime qua Socket.IO — khi Gateway gửi dữ liệu mới, dashboard tự động cập nhật mà không cần tải lại trang."</a:t>
            </a:r>
          </a:p>
          <a:p>
            <a:r>
              <a:rPr lang="en-US" sz="1200" b="0" i="0" kern="1200">
                <a:solidFill>
                  <a:schemeClr val="tx1"/>
                </a:solidFill>
                <a:effectLst/>
                <a:latin typeface="+mn-lt"/>
                <a:ea typeface="+mn-ea"/>
                <a:cs typeface="+mn-cs"/>
              </a:rPr>
              <a:t>Giải thích Bản đồ: "Trang bản đồ hiển thị toàn bộ trạm đo trên Leaflet với tile OpenStreetMap. Mỗi trạm là marker hình tròn với mã màu AQI theo chuẩn US EPA. Nhấn vào marker sẽ hiện popup chi tiết gồm tên trạm, AQI, PM2.5 và thời gian cập nhật cuối."</a:t>
            </a:r>
          </a:p>
          <a:p>
            <a:r>
              <a:rPr lang="en-US" sz="1200" b="0" i="0" kern="1200">
                <a:solidFill>
                  <a:schemeClr val="tx1"/>
                </a:solidFill>
                <a:effectLst/>
                <a:latin typeface="+mn-lt"/>
                <a:ea typeface="+mn-ea"/>
                <a:cs typeface="+mn-cs"/>
              </a:rPr>
              <a:t>Giải thích Lịch sử &amp; Xếp hạng: "Trang lịch sử cho phép chọn trạm, chọn thông số và chế độ hiển thị theo giờ hoặc theo ngày. Chế độ theo giờ truy vấn từ Continuous Aggregate hourly_measurements nên rất nhanh. Trang xếp hạng sắp xếp tất cả trạm theo AQI để người dùng so sánh nhanh."</a:t>
            </a:r>
          </a:p>
          <a:p>
            <a:r>
              <a:rPr lang="en-US" sz="1200" b="0" i="0" kern="1200">
                <a:solidFill>
                  <a:schemeClr val="tx1"/>
                </a:solidFill>
                <a:effectLst/>
                <a:latin typeface="+mn-lt"/>
                <a:ea typeface="+mn-ea"/>
                <a:cs typeface="+mn-cs"/>
              </a:rPr>
              <a:t>Lưu ý bổ sung: "Giao diện hỗ trợ responsive trên nhiều kích thước màn hình và đa ngôn ngữ Việt–Anh qua react-i18next. Hệ thống sử dụng 28 component tái sử dụng với dark theme thống nhất."</a:t>
            </a:r>
          </a:p>
          <a:p>
            <a:r>
              <a:rPr lang="en-US" sz="1200" b="0" i="0" kern="1200">
                <a:solidFill>
                  <a:schemeClr val="tx1"/>
                </a:solidFill>
                <a:effectLst/>
                <a:latin typeface="+mn-lt"/>
                <a:ea typeface="+mn-ea"/>
                <a:cs typeface="+mn-cs"/>
              </a:rPr>
              <a:t>Chuyển tiếp: "Đó là phần giao diện người dùng. Slide tiếp theo em sẽ trình bày giao diện quản trị dành cho admin."</a:t>
            </a:r>
          </a:p>
        </p:txBody>
      </p:sp>
      <p:sp>
        <p:nvSpPr>
          <p:cNvPr id="4" name="Chỗ dành sẵn cho Số hiệu Bản chiếu 3">
            <a:extLst>
              <a:ext uri="{FF2B5EF4-FFF2-40B4-BE49-F238E27FC236}">
                <a16:creationId xmlns:a16="http://schemas.microsoft.com/office/drawing/2014/main" id="{9B524E4B-4CFB-625E-5FC0-A62EB9BDDA10}"/>
              </a:ext>
            </a:extLst>
          </p:cNvPr>
          <p:cNvSpPr>
            <a:spLocks noGrp="1"/>
          </p:cNvSpPr>
          <p:nvPr>
            <p:ph type="sldNum" sz="quarter" idx="5"/>
          </p:nvPr>
        </p:nvSpPr>
        <p:spPr/>
        <p:txBody>
          <a:bodyPr/>
          <a:lstStyle/>
          <a:p>
            <a:fld id="{AB2FC7A4-3D1B-482D-8C9D-7642A2CE3076}" type="slidenum">
              <a:rPr lang="en-US" smtClean="0"/>
              <a:t>16</a:t>
            </a:fld>
            <a:endParaRPr lang="en-US"/>
          </a:p>
        </p:txBody>
      </p:sp>
    </p:spTree>
    <p:extLst>
      <p:ext uri="{BB962C8B-B14F-4D97-AF65-F5344CB8AC3E}">
        <p14:creationId xmlns:p14="http://schemas.microsoft.com/office/powerpoint/2010/main" val="1559442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0" i="0" kern="1200">
                <a:solidFill>
                  <a:schemeClr val="tx1"/>
                </a:solidFill>
                <a:effectLst/>
                <a:latin typeface="+mn-lt"/>
                <a:ea typeface="+mn-ea"/>
                <a:cs typeface="+mn-cs"/>
              </a:rPr>
              <a:t>Mở đầu: "Sau khi trình bày xong giao diện hệ thống, em xin trình bày kết quả kiểm thử và triển khai."</a:t>
            </a:r>
          </a:p>
          <a:p>
            <a:r>
              <a:rPr lang="en-US" sz="1200" b="0" i="0" kern="1200">
                <a:solidFill>
                  <a:schemeClr val="tx1"/>
                </a:solidFill>
                <a:effectLst/>
                <a:latin typeface="+mn-lt"/>
                <a:ea typeface="+mn-ea"/>
                <a:cs typeface="+mn-cs"/>
              </a:rPr>
              <a:t>Giải thích kiểm thử: "Em thực hiện tổng cộng 44 test case, chia thành hai nhóm. Nhóm thứ nhất là 25 test case kiểm thử chức năng thủ công, bao phủ sáu chức năng chính: Dashboard 5 case, Quản lý thiết bị 6 case, Giám sát cảnh báo 6 case, Lịch sử 3 case, Bản đồ AQI 3 case và Xuất CSV 2 case. Nhóm thứ hai là 19 unit test tự động bằng Jest cho module tính AQI — module này là pure function nên không cần mock database. Tất cả 44/44 đều pass."</a:t>
            </a:r>
          </a:p>
          <a:p>
            <a:r>
              <a:rPr lang="en-US" sz="1200" b="0" i="0" kern="1200">
                <a:solidFill>
                  <a:schemeClr val="tx1"/>
                </a:solidFill>
                <a:effectLst/>
                <a:latin typeface="+mn-lt"/>
                <a:ea typeface="+mn-ea"/>
                <a:cs typeface="+mn-cs"/>
              </a:rPr>
              <a:t>Giải thích triển khai: "Hệ thống được đóng gói bằng Docker Compose gồm 4 container: database TimescaleDB, backend Node.js, Nginx làm reverse proxy đồng thời phục vụ file static frontend, và Certbot tự gia hạn SSL mỗi 12 giờ. Toàn bộ triển khai trên VPS DigitalOcean cấu hình nhỏ, chỉ cần 1 vCPU và 1 GB RAM."</a:t>
            </a:r>
          </a:p>
          <a:p>
            <a:r>
              <a:rPr lang="en-US" sz="1200" b="0" i="0" kern="1200">
                <a:solidFill>
                  <a:schemeClr val="tx1"/>
                </a:solidFill>
                <a:effectLst/>
                <a:latin typeface="+mn-lt"/>
                <a:ea typeface="+mn-ea"/>
                <a:cs typeface="+mn-cs"/>
              </a:rPr>
              <a:t>Giải thích uptime: "Trong 7 ngày vận hành thử nghiệm, 4 container duy trì uptime 100%, không xảy ra tràn bộ nhớ hay restart. Socket.IO realtime hoạt động trơn tru — khi có dữ liệu mới từ Gateway, dashboard cập nhật tức thì."</a:t>
            </a:r>
          </a:p>
          <a:p>
            <a:r>
              <a:rPr lang="en-US" sz="1200" b="0" i="0" kern="1200">
                <a:solidFill>
                  <a:schemeClr val="tx1"/>
                </a:solidFill>
                <a:effectLst/>
                <a:latin typeface="+mn-lt"/>
                <a:ea typeface="+mn-ea"/>
                <a:cs typeface="+mn-cs"/>
              </a:rPr>
              <a:t>Chuyển tiếp: "Slide tiếp theo em sẽ trình bày chi tiết hai kịch bản thực nghiệm thực tế."</a:t>
            </a:r>
          </a:p>
          <a:p>
            <a:endParaRPr lang="en-US"/>
          </a:p>
        </p:txBody>
      </p:sp>
      <p:sp>
        <p:nvSpPr>
          <p:cNvPr id="4" name="Chỗ dành sẵn cho Số hiệu Bản chiếu 3"/>
          <p:cNvSpPr>
            <a:spLocks noGrp="1"/>
          </p:cNvSpPr>
          <p:nvPr>
            <p:ph type="sldNum" sz="quarter" idx="5"/>
          </p:nvPr>
        </p:nvSpPr>
        <p:spPr/>
        <p:txBody>
          <a:bodyPr/>
          <a:lstStyle/>
          <a:p>
            <a:fld id="{AB2FC7A4-3D1B-482D-8C9D-7642A2CE3076}" type="slidenum">
              <a:rPr lang="en-US" smtClean="0"/>
              <a:t>17</a:t>
            </a:fld>
            <a:endParaRPr lang="en-US"/>
          </a:p>
        </p:txBody>
      </p:sp>
    </p:spTree>
    <p:extLst>
      <p:ext uri="{BB962C8B-B14F-4D97-AF65-F5344CB8AC3E}">
        <p14:creationId xmlns:p14="http://schemas.microsoft.com/office/powerpoint/2010/main" val="33603689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971FA-4229-4E0C-519F-7F34A697B257}"/>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003B7504-D84A-8721-3C1F-9FA9EF8D6322}"/>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7087DACF-AB06-2D65-834B-C39DD93B1F5A}"/>
              </a:ext>
            </a:extLst>
          </p:cNvPr>
          <p:cNvSpPr>
            <a:spLocks noGrp="1"/>
          </p:cNvSpPr>
          <p:nvPr>
            <p:ph type="body" idx="1"/>
          </p:nvPr>
        </p:nvSpPr>
        <p:spPr/>
        <p:txBody>
          <a:bodyPr/>
          <a:lstStyle/>
          <a:p>
            <a:r>
              <a:rPr lang="en-US" sz="1200" b="0" i="0" kern="1200">
                <a:solidFill>
                  <a:schemeClr val="tx1"/>
                </a:solidFill>
                <a:effectLst/>
                <a:latin typeface="+mn-lt"/>
                <a:ea typeface="+mn-ea"/>
                <a:cs typeface="+mn-cs"/>
              </a:rPr>
              <a:t>Mở đầu: "Slide trước em đã trình bày firmware Sensor Node và Gateway, bây giờ em trình bày cách Backend Server — tầng máy chủ — xử lý dữ liệu nhận từ Gateway."</a:t>
            </a:r>
          </a:p>
          <a:p>
            <a:r>
              <a:rPr lang="en-US" sz="1200" b="0" i="0" kern="1200">
                <a:solidFill>
                  <a:schemeClr val="tx1"/>
                </a:solidFill>
                <a:effectLst/>
                <a:latin typeface="+mn-lt"/>
                <a:ea typeface="+mn-ea"/>
                <a:cs typeface="+mn-cs"/>
              </a:rPr>
              <a:t>Giải thích kiến trúc phân lớp: "Backend được tổ chức theo mô hình 3 lớp: lớp Controller tiếp nhận HTTP request, lớp Service chứa logic nghiệp vụ, và lớp Data Access tương tác với cơ sở dữ liệu thông qua Prisma ORM. Phụ thuộc tuân thủ chiều một hướng — lớp trên gọi lớp dưới, không ngược lại — giúp kiểm thử và bảo trì từng lớp độc lập."</a:t>
            </a:r>
          </a:p>
          <a:p>
            <a:r>
              <a:rPr lang="en-US" sz="1200" b="0" i="0" kern="1200">
                <a:solidFill>
                  <a:schemeClr val="tx1"/>
                </a:solidFill>
                <a:effectLst/>
                <a:latin typeface="+mn-lt"/>
                <a:ea typeface="+mn-ea"/>
                <a:cs typeface="+mn-cs"/>
              </a:rPr>
              <a:t>Giải thích pipeline telemetry: "Đây là luồng xử lý cốt lõi. Khi Gateway gửi HTTP POST chứa batch dữ liệu, Controller chuyển cho telemetryService. Bước 1: module dedupCache lọc gói tin trùng lặp — xử lý trường hợp nhiều Gateway cùng nhận một gói LoRa. Bước 2: một database transaction duy nhất cập nhật trạng thái Gateway, Sensor Node và ghi dữ liệu đo — ba thao tác này nằm chung transaction để đảm bảo nhất quán. Bước 3: alertService kiểm tra ngưỡng cảnh báo, nhưng bước này nằm NGOÀI transaction — nghĩa là nếu alertService bị lỗi, dữ liệu đo vẫn đã được lưu thành công. Đây là quyết định thiết kế quan trọng nhất — zero data loss."</a:t>
            </a:r>
          </a:p>
          <a:p>
            <a:r>
              <a:rPr lang="en-US" sz="1200" b="0" i="0" kern="1200">
                <a:solidFill>
                  <a:schemeClr val="tx1"/>
                </a:solidFill>
                <a:effectLst/>
                <a:latin typeface="+mn-lt"/>
                <a:ea typeface="+mn-ea"/>
                <a:cs typeface="+mn-cs"/>
              </a:rPr>
              <a:t>Giải thích realtime + alert: "Sau khi xử lý xong, Controller tính AQI qua aqiService và phát sự kiện Socket.IO để Frontend cập nhật tức thì. Nếu có cảnh báo mới, sự kiện new-alert cũng được phát. Cơ chế cooldown 15 phút ngăn tạo cảnh báo trùng lặp cho cùng thiết bị và thông số trong khoảng thời gian ngắn."</a:t>
            </a:r>
          </a:p>
          <a:p>
            <a:r>
              <a:rPr lang="en-US" sz="1200" b="0" i="0" kern="1200">
                <a:solidFill>
                  <a:schemeClr val="tx1"/>
                </a:solidFill>
                <a:effectLst/>
                <a:latin typeface="+mn-lt"/>
                <a:ea typeface="+mn-ea"/>
                <a:cs typeface="+mn-cs"/>
              </a:rPr>
              <a:t>Chuyển tiếp: "Với pipeline xử lý telemetry rõ ràng, slide tiếp theo em sẽ trình bày tầng cơ sở dữ liệu — cách TimescaleDB lưu trữ dữ liệu chuỗi thời gian và cách tính AQI."</a:t>
            </a:r>
          </a:p>
        </p:txBody>
      </p:sp>
      <p:sp>
        <p:nvSpPr>
          <p:cNvPr id="4" name="Chỗ dành sẵn cho Số hiệu Bản chiếu 3">
            <a:extLst>
              <a:ext uri="{FF2B5EF4-FFF2-40B4-BE49-F238E27FC236}">
                <a16:creationId xmlns:a16="http://schemas.microsoft.com/office/drawing/2014/main" id="{B802488E-2B21-B93F-8940-D6F62F862A58}"/>
              </a:ext>
            </a:extLst>
          </p:cNvPr>
          <p:cNvSpPr>
            <a:spLocks noGrp="1"/>
          </p:cNvSpPr>
          <p:nvPr>
            <p:ph type="sldNum" sz="quarter" idx="5"/>
          </p:nvPr>
        </p:nvSpPr>
        <p:spPr/>
        <p:txBody>
          <a:bodyPr/>
          <a:lstStyle/>
          <a:p>
            <a:fld id="{AB2FC7A4-3D1B-482D-8C9D-7642A2CE3076}" type="slidenum">
              <a:rPr lang="en-US" smtClean="0"/>
              <a:t>18</a:t>
            </a:fld>
            <a:endParaRPr lang="en-US"/>
          </a:p>
        </p:txBody>
      </p:sp>
    </p:spTree>
    <p:extLst>
      <p:ext uri="{BB962C8B-B14F-4D97-AF65-F5344CB8AC3E}">
        <p14:creationId xmlns:p14="http://schemas.microsoft.com/office/powerpoint/2010/main" val="1202888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25FD4-0C24-CE85-4A39-537DBE49E5F1}"/>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00FF6BC0-C662-8AD1-2426-CA835C6496B7}"/>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B2B11D59-BD0E-5220-3500-8D9DA7611678}"/>
              </a:ext>
            </a:extLst>
          </p:cNvPr>
          <p:cNvSpPr>
            <a:spLocks noGrp="1"/>
          </p:cNvSpPr>
          <p:nvPr>
            <p:ph type="body" idx="1"/>
          </p:nvPr>
        </p:nvSpPr>
        <p:spPr/>
        <p:txBody>
          <a:bodyPr/>
          <a:lstStyle/>
          <a:p>
            <a:r>
              <a:rPr lang="en-US" sz="1200" b="0" i="0" kern="1200">
                <a:solidFill>
                  <a:schemeClr val="tx1"/>
                </a:solidFill>
                <a:effectLst/>
                <a:latin typeface="+mn-lt"/>
                <a:ea typeface="+mn-ea"/>
                <a:cs typeface="+mn-cs"/>
              </a:rPr>
              <a:t>Mở đầu: "Từ kết quả thực nghiệm vừa trình bày, em xin tổng hợp bốn đóng góp kỹ thuật chính của đồ án."</a:t>
            </a:r>
          </a:p>
          <a:p>
            <a:r>
              <a:rPr lang="en-US" sz="1200" b="0" i="0" kern="1200">
                <a:solidFill>
                  <a:schemeClr val="tx1"/>
                </a:solidFill>
                <a:effectLst/>
                <a:latin typeface="+mn-lt"/>
                <a:ea typeface="+mn-ea"/>
                <a:cs typeface="+mn-cs"/>
              </a:rPr>
              <a:t>Đóng góp 1: "Đầu tiên, hệ thống tích hợp bốn miền kỹ thuật hoàn toàn khác nhau — phần cứng, firmware C/C++, backend Node.js, và frontend React — thành một hệ thống end-to-end hoạt động ổn định. Tổng quy mô khoảng 14 nghìn dòng mã, phát triển trong 4 tháng. Em áp dụng chiến lược contract-first: định nghĩa giao thức và schema giao tiếp giữa các tầng trước, rồi phát triển từ dưới lên. Triển khai production chỉ bằng một lệnh docker compose up."</a:t>
            </a:r>
          </a:p>
          <a:p>
            <a:r>
              <a:rPr lang="en-US" sz="1200" b="0" i="0" kern="1200">
                <a:solidFill>
                  <a:schemeClr val="tx1"/>
                </a:solidFill>
                <a:effectLst/>
                <a:latin typeface="+mn-lt"/>
                <a:ea typeface="+mn-ea"/>
                <a:cs typeface="+mn-cs"/>
              </a:rPr>
              <a:t>Đóng góp 2: "Thứ hai, giao thức LoRa binary 18 byte thay vì JSON 150–200 byte, giảm air-time 11 lần. Cơ chế deduplication bằng cặp khóa nodeId–msgId đảm bảo dữ liệu không bị trùng khi nhiều Gateway thu cùng một gói tin."</a:t>
            </a:r>
          </a:p>
          <a:p>
            <a:r>
              <a:rPr lang="en-US" sz="1200" b="0" i="0" kern="1200">
                <a:solidFill>
                  <a:schemeClr val="tx1"/>
                </a:solidFill>
                <a:effectLst/>
                <a:latin typeface="+mn-lt"/>
                <a:ea typeface="+mn-ea"/>
                <a:cs typeface="+mn-cs"/>
              </a:rPr>
              <a:t>Đóng góp 3: "Thứ ba, pipeline xử lý telemetry tách riêng bước lưu dữ liệu và bước cảnh báo. Lỗi ở bước cảnh báo không rollback dữ liệu đo — đảm bảo zero data loss. Module tính AQI được kiểm thử 19 unit test giá trị biên, tổng cộng 44/44 test case pass."</a:t>
            </a:r>
          </a:p>
          <a:p>
            <a:r>
              <a:rPr lang="en-US" sz="1200" b="0" i="0" kern="1200">
                <a:solidFill>
                  <a:schemeClr val="tx1"/>
                </a:solidFill>
                <a:effectLst/>
                <a:latin typeface="+mn-lt"/>
                <a:ea typeface="+mn-ea"/>
                <a:cs typeface="+mn-cs"/>
              </a:rPr>
              <a:t>Đóng góp 4: "Cuối cùng, chi phí mỗi Sensor Node chỉ khoảng 875 nghìn đồng, rẻ hơn IQAir 11 lần. Toàn bộ mã nguồn 4 tầng được công khai dưới giấy phép mã nguồn mở, cho phép cộng đồng tái sử dụng và mở rộng."</a:t>
            </a:r>
          </a:p>
          <a:p>
            <a:r>
              <a:rPr lang="en-US" sz="1200" b="0" i="0" kern="1200">
                <a:solidFill>
                  <a:schemeClr val="tx1"/>
                </a:solidFill>
                <a:effectLst/>
                <a:latin typeface="+mn-lt"/>
                <a:ea typeface="+mn-ea"/>
                <a:cs typeface="+mn-cs"/>
              </a:rPr>
              <a:t>Chuyển tiếp: "Slide tiếp theo em sẽ trình bày kết luận và hướng phát triển của đồ án."</a:t>
            </a:r>
          </a:p>
        </p:txBody>
      </p:sp>
      <p:sp>
        <p:nvSpPr>
          <p:cNvPr id="4" name="Chỗ dành sẵn cho Số hiệu Bản chiếu 3">
            <a:extLst>
              <a:ext uri="{FF2B5EF4-FFF2-40B4-BE49-F238E27FC236}">
                <a16:creationId xmlns:a16="http://schemas.microsoft.com/office/drawing/2014/main" id="{63DEB69D-A451-E53B-AF18-DAE0D36DF01E}"/>
              </a:ext>
            </a:extLst>
          </p:cNvPr>
          <p:cNvSpPr>
            <a:spLocks noGrp="1"/>
          </p:cNvSpPr>
          <p:nvPr>
            <p:ph type="sldNum" sz="quarter" idx="5"/>
          </p:nvPr>
        </p:nvSpPr>
        <p:spPr/>
        <p:txBody>
          <a:bodyPr/>
          <a:lstStyle/>
          <a:p>
            <a:fld id="{AB2FC7A4-3D1B-482D-8C9D-7642A2CE3076}" type="slidenum">
              <a:rPr lang="en-US" smtClean="0"/>
              <a:t>19</a:t>
            </a:fld>
            <a:endParaRPr lang="en-US"/>
          </a:p>
        </p:txBody>
      </p:sp>
    </p:spTree>
    <p:extLst>
      <p:ext uri="{BB962C8B-B14F-4D97-AF65-F5344CB8AC3E}">
        <p14:creationId xmlns:p14="http://schemas.microsoft.com/office/powerpoint/2010/main" val="3636743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355BC-449D-F7DE-1DE8-1AE3FEEFA35C}"/>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3CBD341E-2714-A218-E90F-7A3A4831A04D}"/>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E829EA2F-916F-F068-7C0F-AE917603C8D2}"/>
              </a:ext>
            </a:extLst>
          </p:cNvPr>
          <p:cNvSpPr>
            <a:spLocks noGrp="1"/>
          </p:cNvSpPr>
          <p:nvPr>
            <p:ph type="body" idx="1"/>
          </p:nvPr>
        </p:nvSpPr>
        <p:spPr/>
        <p:txBody>
          <a:bodyPr/>
          <a:lstStyle/>
          <a:p>
            <a:r>
              <a:rPr lang="en-US" sz="1200" b="0" i="0" kern="1200">
                <a:solidFill>
                  <a:schemeClr val="tx1"/>
                </a:solidFill>
                <a:effectLst/>
                <a:latin typeface="+mn-lt"/>
                <a:ea typeface="+mn-ea"/>
                <a:cs typeface="+mn-cs"/>
              </a:rPr>
              <a:t>Mở đầu: "Trước khi kết thúc, em xin tổng kết lại kết quả và đề xuất hướng phát triển cho đồ án."</a:t>
            </a:r>
          </a:p>
          <a:p>
            <a:r>
              <a:rPr lang="en-US" sz="1200" b="0" i="0" kern="1200">
                <a:solidFill>
                  <a:schemeClr val="tx1"/>
                </a:solidFill>
                <a:effectLst/>
                <a:latin typeface="+mn-lt"/>
                <a:ea typeface="+mn-ea"/>
                <a:cs typeface="+mn-cs"/>
              </a:rPr>
              <a:t>Kết luận: "Hệ thống hoàn thành đầy đủ chín chức năng và năm yêu cầu phi chức năng đã đặt ra. Toàn bộ 44 kịch bản kiểm thử đều pass, hệ thống duy trì uptime 100% trong bảy ngày trên môi trường production. So với các giải pháp đã khảo sát, đây là giải pháp duy nhất đồng thời đáp ứng bốn tiêu chí: đo đa thông số, truyền LoRa, mã nguồn mở và chi phí thấp."</a:t>
            </a:r>
          </a:p>
          <a:p>
            <a:r>
              <a:rPr lang="en-US" sz="1200" b="0" i="0" kern="1200">
                <a:solidFill>
                  <a:schemeClr val="tx1"/>
                </a:solidFill>
                <a:effectLst/>
                <a:latin typeface="+mn-lt"/>
                <a:ea typeface="+mn-ea"/>
                <a:cs typeface="+mn-cs"/>
              </a:rPr>
              <a:t>Hạn chế: "Tuy nhiên, hệ thống còn ba hạn chế chính. Một là tuổi thọ pin dài hạn trên một tháng chưa được đo kiểm thực tế. Hai là chưa tích hợp tính năng hiệu chuẩn cảm biến theo chuẩn đo lường, nên số liệu có thể lệch dần theo thời gian. Ba là giao diện chỉ hỗ trợ trình duyệt web, chưa có ứng dụng di động."</a:t>
            </a:r>
          </a:p>
          <a:p>
            <a:r>
              <a:rPr lang="en-US" sz="1200" b="0" i="0" kern="1200">
                <a:solidFill>
                  <a:schemeClr val="tx1"/>
                </a:solidFill>
                <a:effectLst/>
                <a:latin typeface="+mn-lt"/>
                <a:ea typeface="+mn-ea"/>
                <a:cs typeface="+mn-cs"/>
              </a:rPr>
              <a:t>Hướng phát triển: "Em đề xuất bốn hướng phát triển. Thứ nhất, thiết kế lại mạch dùng ESP32 bare thay vì board DevKit để tối ưu điện năng, đồng thời bổ sung cảm biến SO₂, NO₂, O₃. Thứ hai, tích hợp chuẩn LoRaWAN qua Chirpstack hoặc The Things Network để tận dụng hạ tầng mạng sẵn có và hỗ trợ downlink điều chỉnh chu kỳ đo từ xa. Thứ ba, tích hợp mô hình dự báo AQI ngắn hạn bằng LSTM hoặc Prophet, kèm push notification qua Email và Telegram. Thứ tư, hiệu chuẩn cảm biến bằng cách đặt cạnh trạm đo chuẩn, phát triển app di động, và thử nghiệm triển khai thực tế tại trường học, bệnh viện hoặc khu công nghiệp."</a:t>
            </a:r>
          </a:p>
          <a:p>
            <a:r>
              <a:rPr lang="en-US" sz="1200" b="0" i="0" kern="1200">
                <a:solidFill>
                  <a:schemeClr val="tx1"/>
                </a:solidFill>
                <a:effectLst/>
                <a:latin typeface="+mn-lt"/>
                <a:ea typeface="+mn-ea"/>
                <a:cs typeface="+mn-cs"/>
              </a:rPr>
              <a:t>Kết: "Em xin cảm ơn hội đồng đã lắng nghe. Em sẵn sàng trả lời câu hỏi."</a:t>
            </a:r>
          </a:p>
        </p:txBody>
      </p:sp>
      <p:sp>
        <p:nvSpPr>
          <p:cNvPr id="4" name="Chỗ dành sẵn cho Số hiệu Bản chiếu 3">
            <a:extLst>
              <a:ext uri="{FF2B5EF4-FFF2-40B4-BE49-F238E27FC236}">
                <a16:creationId xmlns:a16="http://schemas.microsoft.com/office/drawing/2014/main" id="{9D66AC8F-DB91-3FB2-C57D-C7F72B1B567F}"/>
              </a:ext>
            </a:extLst>
          </p:cNvPr>
          <p:cNvSpPr>
            <a:spLocks noGrp="1"/>
          </p:cNvSpPr>
          <p:nvPr>
            <p:ph type="sldNum" sz="quarter" idx="5"/>
          </p:nvPr>
        </p:nvSpPr>
        <p:spPr/>
        <p:txBody>
          <a:bodyPr/>
          <a:lstStyle/>
          <a:p>
            <a:fld id="{AB2FC7A4-3D1B-482D-8C9D-7642A2CE3076}" type="slidenum">
              <a:rPr lang="en-US" smtClean="0"/>
              <a:t>20</a:t>
            </a:fld>
            <a:endParaRPr lang="en-US"/>
          </a:p>
        </p:txBody>
      </p:sp>
    </p:spTree>
    <p:extLst>
      <p:ext uri="{BB962C8B-B14F-4D97-AF65-F5344CB8AC3E}">
        <p14:creationId xmlns:p14="http://schemas.microsoft.com/office/powerpoint/2010/main" val="27019119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0" i="0" kern="1200">
                <a:solidFill>
                  <a:schemeClr val="tx1"/>
                </a:solidFill>
                <a:effectLst/>
                <a:latin typeface="+mn-lt"/>
                <a:ea typeface="+mn-ea"/>
                <a:cs typeface="+mn-cs"/>
              </a:rPr>
              <a:t>"Em xin chân thành cảm ơn các thầy cô trong hội đồng đã dành thời gian lắng nghe bài trình bày của em."</a:t>
            </a:r>
          </a:p>
          <a:p>
            <a:r>
              <a:rPr lang="en-US" sz="1200" b="0" i="0" kern="1200">
                <a:solidFill>
                  <a:schemeClr val="tx1"/>
                </a:solidFill>
                <a:effectLst/>
                <a:latin typeface="+mn-lt"/>
                <a:ea typeface="+mn-ea"/>
                <a:cs typeface="+mn-cs"/>
              </a:rPr>
              <a:t>"Em cũng xin gửi lời cảm ơn đặc biệt đến thầy Lê Bá Vui đã hướng dẫn em trong suốt quá trình thực hiện đồ án."</a:t>
            </a:r>
          </a:p>
          <a:p>
            <a:r>
              <a:rPr lang="en-US" sz="1200" b="0" i="0" kern="1200">
                <a:solidFill>
                  <a:schemeClr val="tx1"/>
                </a:solidFill>
                <a:effectLst/>
                <a:latin typeface="+mn-lt"/>
                <a:ea typeface="+mn-ea"/>
                <a:cs typeface="+mn-cs"/>
              </a:rPr>
              <a:t>"Toàn bộ mã nguồn của hệ thống đã được công khai trên GitHub, các thầy cô có thể truy cập theo đường link trên slide."</a:t>
            </a:r>
          </a:p>
          <a:p>
            <a:r>
              <a:rPr lang="en-US" sz="1200" b="0" i="0" kern="1200">
                <a:solidFill>
                  <a:schemeClr val="tx1"/>
                </a:solidFill>
                <a:effectLst/>
                <a:latin typeface="+mn-lt"/>
                <a:ea typeface="+mn-ea"/>
                <a:cs typeface="+mn-cs"/>
              </a:rPr>
              <a:t>"Em sẵn sàng trả lời các câu hỏi của hội đồng ạ."</a:t>
            </a:r>
          </a:p>
          <a:p>
            <a:endParaRPr lang="en-US"/>
          </a:p>
        </p:txBody>
      </p:sp>
      <p:sp>
        <p:nvSpPr>
          <p:cNvPr id="4" name="Chỗ dành sẵn cho Số hiệu Bản chiếu 3"/>
          <p:cNvSpPr>
            <a:spLocks noGrp="1"/>
          </p:cNvSpPr>
          <p:nvPr>
            <p:ph type="sldNum" sz="quarter" idx="5"/>
          </p:nvPr>
        </p:nvSpPr>
        <p:spPr/>
        <p:txBody>
          <a:bodyPr/>
          <a:lstStyle/>
          <a:p>
            <a:fld id="{AB2FC7A4-3D1B-482D-8C9D-7642A2CE3076}" type="slidenum">
              <a:rPr lang="en-US" smtClean="0"/>
              <a:t>21</a:t>
            </a:fld>
            <a:endParaRPr lang="en-US"/>
          </a:p>
        </p:txBody>
      </p:sp>
    </p:spTree>
    <p:extLst>
      <p:ext uri="{BB962C8B-B14F-4D97-AF65-F5344CB8AC3E}">
        <p14:creationId xmlns:p14="http://schemas.microsoft.com/office/powerpoint/2010/main" val="12444318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67880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313388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15024"/>
            <a:ext cx="8674100" cy="488097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5" r:id="rId5"/>
    <p:sldLayoutId id="2147483683" r:id="rId6"/>
    <p:sldLayoutId id="2147483676" r:id="rId7"/>
    <p:sldLayoutId id="2147483679" r:id="rId8"/>
    <p:sldLayoutId id="2147483680" r:id="rId9"/>
    <p:sldLayoutId id="2147483681" r:id="rId10"/>
    <p:sldLayoutId id="2147483682" r:id="rId11"/>
    <p:sldLayoutId id="214748367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0.xml"/><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0.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36.jpeg"/></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7.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Viết tay 1">
                <a:extLst>
                  <a:ext uri="{FF2B5EF4-FFF2-40B4-BE49-F238E27FC236}">
                    <a16:creationId xmlns:a16="http://schemas.microsoft.com/office/drawing/2014/main" id="{3766EBD4-31D7-B665-869A-01DABDA2039D}"/>
                  </a:ext>
                </a:extLst>
              </p14:cNvPr>
              <p14:cNvContentPartPr/>
              <p14:nvPr/>
            </p14:nvContentPartPr>
            <p14:xfrm>
              <a:off x="5899505" y="3203640"/>
              <a:ext cx="1576440" cy="352440"/>
            </p14:xfrm>
          </p:contentPart>
        </mc:Choice>
        <mc:Fallback xmlns="">
          <p:pic>
            <p:nvPicPr>
              <p:cNvPr id="2" name="Viết tay 1">
                <a:extLst>
                  <a:ext uri="{FF2B5EF4-FFF2-40B4-BE49-F238E27FC236}">
                    <a16:creationId xmlns:a16="http://schemas.microsoft.com/office/drawing/2014/main" id="{3766EBD4-31D7-B665-869A-01DABDA2039D}"/>
                  </a:ext>
                </a:extLst>
              </p:cNvPr>
              <p:cNvPicPr/>
              <p:nvPr/>
            </p:nvPicPr>
            <p:blipFill>
              <a:blip r:embed="rId3"/>
              <a:stretch>
                <a:fillRect/>
              </a:stretch>
            </p:blipFill>
            <p:spPr>
              <a:xfrm>
                <a:off x="5884385" y="3188520"/>
                <a:ext cx="1606680" cy="383040"/>
              </a:xfrm>
              <a:prstGeom prst="rect">
                <a:avLst/>
              </a:prstGeom>
            </p:spPr>
          </p:pic>
        </mc:Fallback>
      </mc:AlternateContent>
    </p:spTree>
    <p:extLst>
      <p:ext uri="{BB962C8B-B14F-4D97-AF65-F5344CB8AC3E}">
        <p14:creationId xmlns:p14="http://schemas.microsoft.com/office/powerpoint/2010/main" val="108208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3716-1A4C-0838-86B6-64CAAF77DF5B}"/>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945003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188726" y="1816590"/>
            <a:ext cx="7204111" cy="1473788"/>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vi-VN" sz="4000"/>
              <a:t>Hệ thống giám sát chất lượng không khí đô thị</a:t>
            </a:r>
            <a:r>
              <a:rPr lang="en-US" sz="4000"/>
              <a:t> </a:t>
            </a:r>
            <a:r>
              <a:rPr lang="vi-VN" sz="4000"/>
              <a:t>sử dụng mạng cảm biến không dây LoRa</a:t>
            </a:r>
            <a:endParaRPr lang="en-US" sz="4000" dirty="0"/>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1" y="3567622"/>
            <a:ext cx="7419774"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400" b="0"/>
              <a:t>Sinh viên:	Nguyễn Đức Thắm – MSSV: 20225395</a:t>
            </a:r>
            <a:endParaRPr lang="en-US" sz="2400" b="0" dirty="0"/>
          </a:p>
          <a:p>
            <a:r>
              <a:rPr lang="en-US" sz="2400" b="0"/>
              <a:t>GVHD:	ThS. Lê Bá Vui</a:t>
            </a:r>
          </a:p>
          <a:p>
            <a:r>
              <a:rPr lang="en-US" sz="2400" b="0"/>
              <a:t>Khoa:		Kỹ thuật máy tính</a:t>
            </a:r>
          </a:p>
          <a:p>
            <a:r>
              <a:rPr lang="en-US" sz="2400" b="0"/>
              <a:t>Trường: 	Công nghệ thông tin và truyền thông</a:t>
            </a:r>
            <a:endParaRPr lang="en-US" sz="2400" b="0" dirty="0"/>
          </a:p>
          <a:p>
            <a:endParaRPr lang="en-US" sz="2400" b="0" dirty="0"/>
          </a:p>
        </p:txBody>
      </p:sp>
    </p:spTree>
    <p:extLst>
      <p:ext uri="{BB962C8B-B14F-4D97-AF65-F5344CB8AC3E}">
        <p14:creationId xmlns:p14="http://schemas.microsoft.com/office/powerpoint/2010/main" val="743172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A7ECF-1792-4255-AF79-1338056A166B}"/>
              </a:ext>
            </a:extLst>
          </p:cNvPr>
          <p:cNvSpPr>
            <a:spLocks noGrp="1"/>
          </p:cNvSpPr>
          <p:nvPr>
            <p:ph type="title"/>
          </p:nvPr>
        </p:nvSpPr>
        <p:spPr/>
        <p:txBody>
          <a:bodyPr/>
          <a:lstStyle/>
          <a:p>
            <a:r>
              <a:rPr lang="en-US"/>
              <a:t>Nội dung trình bày</a:t>
            </a:r>
          </a:p>
        </p:txBody>
      </p:sp>
      <p:sp>
        <p:nvSpPr>
          <p:cNvPr id="3" name="Text Placeholder 2">
            <a:extLst>
              <a:ext uri="{FF2B5EF4-FFF2-40B4-BE49-F238E27FC236}">
                <a16:creationId xmlns:a16="http://schemas.microsoft.com/office/drawing/2014/main" id="{387A365B-2C63-46A3-AD64-BA52831BEC40}"/>
              </a:ext>
            </a:extLst>
          </p:cNvPr>
          <p:cNvSpPr>
            <a:spLocks noGrp="1"/>
          </p:cNvSpPr>
          <p:nvPr>
            <p:ph type="body" sz="quarter" idx="13"/>
          </p:nvPr>
        </p:nvSpPr>
        <p:spPr/>
        <p:txBody>
          <a:bodyPr/>
          <a:lstStyle/>
          <a:p>
            <a:pPr marL="457200" indent="-457200">
              <a:buFont typeface="+mj-lt"/>
              <a:buAutoNum type="arabicPeriod"/>
            </a:pPr>
            <a:r>
              <a:rPr lang="en-US" sz="2400" b="1"/>
              <a:t>Đặt vấn đề</a:t>
            </a:r>
          </a:p>
          <a:p>
            <a:pPr marL="457200" indent="-457200">
              <a:buFont typeface="+mj-lt"/>
              <a:buAutoNum type="arabicPeriod"/>
            </a:pPr>
            <a:r>
              <a:rPr lang="en-US" sz="2400" b="1"/>
              <a:t>Mục tiêu của đề tài</a:t>
            </a:r>
          </a:p>
          <a:p>
            <a:pPr marL="457200" indent="-457200">
              <a:buFont typeface="+mj-lt"/>
              <a:buAutoNum type="arabicPeriod"/>
            </a:pPr>
            <a:r>
              <a:rPr lang="en-US" sz="2400" b="1"/>
              <a:t>Giải pháp kỹ thuật</a:t>
            </a:r>
          </a:p>
          <a:p>
            <a:pPr marL="457200" indent="-457200">
              <a:buFont typeface="+mj-lt"/>
              <a:buAutoNum type="arabicPeriod"/>
            </a:pPr>
            <a:r>
              <a:rPr lang="en-US" sz="2400" b="1"/>
              <a:t>Backend &amp; Cơ sở dữ liệu</a:t>
            </a:r>
          </a:p>
          <a:p>
            <a:pPr marL="457200" indent="-457200">
              <a:buFont typeface="+mj-lt"/>
              <a:buAutoNum type="arabicPeriod"/>
            </a:pPr>
            <a:r>
              <a:rPr lang="en-US" sz="2400" b="1"/>
              <a:t>Demo giao diện</a:t>
            </a:r>
          </a:p>
          <a:p>
            <a:pPr marL="457200" indent="-457200">
              <a:buFont typeface="+mj-lt"/>
              <a:buAutoNum type="arabicPeriod"/>
            </a:pPr>
            <a:r>
              <a:rPr lang="en-US" sz="2400" b="1"/>
              <a:t>Kiểm thử &amp; Thực nghiệm</a:t>
            </a:r>
          </a:p>
          <a:p>
            <a:pPr marL="457200" indent="-457200">
              <a:buFont typeface="+mj-lt"/>
              <a:buAutoNum type="arabicPeriod"/>
            </a:pPr>
            <a:r>
              <a:rPr lang="en-US" sz="2400" b="1"/>
              <a:t>Đóng góp &amp; Kết luận</a:t>
            </a:r>
          </a:p>
        </p:txBody>
      </p:sp>
      <p:sp>
        <p:nvSpPr>
          <p:cNvPr id="4" name="Slide Number Placeholder 3">
            <a:extLst>
              <a:ext uri="{FF2B5EF4-FFF2-40B4-BE49-F238E27FC236}">
                <a16:creationId xmlns:a16="http://schemas.microsoft.com/office/drawing/2014/main" id="{FB67697B-E2F6-452F-B4AF-9444ACC6F580}"/>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Tree>
    <p:extLst>
      <p:ext uri="{BB962C8B-B14F-4D97-AF65-F5344CB8AC3E}">
        <p14:creationId xmlns:p14="http://schemas.microsoft.com/office/powerpoint/2010/main" val="3194012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Đồ họa 7">
            <a:extLst>
              <a:ext uri="{FF2B5EF4-FFF2-40B4-BE49-F238E27FC236}">
                <a16:creationId xmlns:a16="http://schemas.microsoft.com/office/drawing/2014/main" id="{8734EB6E-3E79-6861-F065-CB9132C526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4175" y="833717"/>
            <a:ext cx="4477833" cy="5572415"/>
          </a:xfrm>
          <a:prstGeom prst="rect">
            <a:avLst/>
          </a:prstGeom>
        </p:spPr>
      </p:pic>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a:t>1. Đặt vấn đề - Thực trạng ô nhiễm không khí</a:t>
            </a:r>
            <a:br>
              <a:rPr lang="en-US"/>
            </a:br>
            <a:br>
              <a:rPr lang="en-US"/>
            </a:br>
            <a:endParaRPr lang="en-US"/>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a:xfrm>
            <a:off x="21991" y="1048871"/>
            <a:ext cx="4622184" cy="5163670"/>
          </a:xfrm>
        </p:spPr>
        <p:txBody>
          <a:bodyPr anchor="t"/>
          <a:lstStyle/>
          <a:p>
            <a:r>
              <a:rPr lang="vi-VN" sz="2000"/>
              <a:t>PM2.5 Việt Nam: </a:t>
            </a:r>
            <a:r>
              <a:rPr lang="vi-VN" b="1">
                <a:solidFill>
                  <a:schemeClr val="accent2"/>
                </a:solidFill>
              </a:rPr>
              <a:t>28,7</a:t>
            </a:r>
            <a:r>
              <a:rPr lang="vi-VN" b="1"/>
              <a:t> µg/m³ </a:t>
            </a:r>
            <a:r>
              <a:rPr lang="vi-VN" sz="2000"/>
              <a:t>gấp ~</a:t>
            </a:r>
            <a:r>
              <a:rPr lang="vi-VN" sz="2000" b="1"/>
              <a:t>6×</a:t>
            </a:r>
            <a:r>
              <a:rPr lang="vi-VN" sz="2000"/>
              <a:t> ngưỡng WHO (</a:t>
            </a:r>
            <a:r>
              <a:rPr lang="vi-VN" sz="2000" b="1">
                <a:solidFill>
                  <a:schemeClr val="accent6"/>
                </a:solidFill>
              </a:rPr>
              <a:t>5</a:t>
            </a:r>
            <a:r>
              <a:rPr lang="vi-VN" sz="2000"/>
              <a:t> µg/m³)</a:t>
            </a:r>
          </a:p>
          <a:p>
            <a:r>
              <a:rPr lang="vi-VN" sz="2000"/>
              <a:t>Hà Nội: </a:t>
            </a:r>
            <a:r>
              <a:rPr lang="vi-VN" b="1">
                <a:solidFill>
                  <a:srgbClr val="FF0000"/>
                </a:solidFill>
              </a:rPr>
              <a:t>45,4</a:t>
            </a:r>
            <a:r>
              <a:rPr lang="vi-VN" b="1"/>
              <a:t> µg/m³ </a:t>
            </a:r>
            <a:br>
              <a:rPr lang="en-US" b="1"/>
            </a:br>
            <a:r>
              <a:rPr lang="vi-VN" sz="2000"/>
              <a:t>gấp </a:t>
            </a:r>
            <a:r>
              <a:rPr lang="vi-VN" sz="2000" b="1"/>
              <a:t>9×</a:t>
            </a:r>
            <a:r>
              <a:rPr lang="vi-VN" sz="2000"/>
              <a:t> ngưỡng WHO, xếp thứ 7/121 thủ đô</a:t>
            </a:r>
          </a:p>
          <a:p>
            <a:r>
              <a:rPr lang="vi-VN" sz="2000"/>
              <a:t>Xếp thứ </a:t>
            </a:r>
            <a:r>
              <a:rPr lang="vi-VN" sz="2000" b="1"/>
              <a:t>23</a:t>
            </a:r>
            <a:r>
              <a:rPr lang="vi-VN" sz="2000"/>
              <a:t> thế giới, thứ </a:t>
            </a:r>
            <a:r>
              <a:rPr lang="vi-VN" sz="2000" b="1"/>
              <a:t>2</a:t>
            </a:r>
            <a:r>
              <a:rPr lang="vi-VN" sz="2000"/>
              <a:t> Đông Nam Á về ô nhiễm (IQAir 2024)</a:t>
            </a:r>
          </a:p>
          <a:p>
            <a:r>
              <a:rPr lang="vi-VN" sz="2000"/>
              <a:t>Chỉ </a:t>
            </a:r>
            <a:r>
              <a:rPr lang="vi-VN" sz="2000" b="1"/>
              <a:t>~35 </a:t>
            </a:r>
            <a:r>
              <a:rPr lang="vi-VN" sz="2000"/>
              <a:t>trạm đo tự động trên cả nước → không đủ giám sát vi mô</a:t>
            </a:r>
            <a:endParaRPr lang="en-US" sz="2000"/>
          </a:p>
        </p:txBody>
      </p:sp>
    </p:spTree>
    <p:extLst>
      <p:ext uri="{BB962C8B-B14F-4D97-AF65-F5344CB8AC3E}">
        <p14:creationId xmlns:p14="http://schemas.microsoft.com/office/powerpoint/2010/main" val="292364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r>
              <a:rPr lang="en-US"/>
              <a:t>1. Đặt vấn đề - Hạn chế của giải pháp hiện tại</a:t>
            </a:r>
          </a:p>
        </p:txBody>
      </p:sp>
      <p:sp>
        <p:nvSpPr>
          <p:cNvPr id="4" name="Text Placeholder 3">
            <a:extLst>
              <a:ext uri="{FF2B5EF4-FFF2-40B4-BE49-F238E27FC236}">
                <a16:creationId xmlns:a16="http://schemas.microsoft.com/office/drawing/2014/main" id="{BC311219-8684-45FC-A126-E067924AC7F7}"/>
              </a:ext>
            </a:extLst>
          </p:cNvPr>
          <p:cNvSpPr>
            <a:spLocks noGrp="1"/>
          </p:cNvSpPr>
          <p:nvPr>
            <p:ph type="body" sz="quarter" idx="13"/>
          </p:nvPr>
        </p:nvSpPr>
        <p:spPr>
          <a:xfrm>
            <a:off x="234950" y="4570655"/>
            <a:ext cx="8674100" cy="1686710"/>
          </a:xfrm>
        </p:spPr>
        <p:txBody>
          <a:bodyPr/>
          <a:lstStyle/>
          <a:p>
            <a:r>
              <a:rPr lang="en-US" sz="2000" b="1"/>
              <a:t>Không hệ thống nào đáp ứng đồng thời 4 tiêu chí:</a:t>
            </a:r>
            <a:r>
              <a:rPr lang="en-US" sz="2000"/>
              <a:t> đa thông số, LoRa tầm xa, mã nguồn mở, chi phí thấp</a:t>
            </a:r>
          </a:p>
          <a:p>
            <a:r>
              <a:rPr lang="en-US" sz="2000" b="1"/>
              <a:t>WiFi/4G bắt buộc</a:t>
            </a:r>
            <a:r>
              <a:rPr lang="en-US" sz="2000"/>
              <a:t> tại mỗi điểm đo → không triển khai được nơi thiếu hạ tầng mạng</a:t>
            </a:r>
          </a:p>
          <a:p>
            <a:r>
              <a:rPr lang="en-US" sz="2000" b="1"/>
              <a:t>Mã nguồn đóng</a:t>
            </a:r>
            <a:r>
              <a:rPr lang="en-US" sz="2000"/>
              <a:t> → không tùy biến, không tích hợp bên thứ ba</a:t>
            </a:r>
          </a:p>
        </p:txBody>
      </p:sp>
      <p:graphicFrame>
        <p:nvGraphicFramePr>
          <p:cNvPr id="6" name="Bảng 5">
            <a:extLst>
              <a:ext uri="{FF2B5EF4-FFF2-40B4-BE49-F238E27FC236}">
                <a16:creationId xmlns:a16="http://schemas.microsoft.com/office/drawing/2014/main" id="{F64E2BAB-94E2-9308-A31E-61CD12037A78}"/>
              </a:ext>
            </a:extLst>
          </p:cNvPr>
          <p:cNvGraphicFramePr>
            <a:graphicFrameLocks noGrp="1"/>
          </p:cNvGraphicFramePr>
          <p:nvPr>
            <p:extLst>
              <p:ext uri="{D42A27DB-BD31-4B8C-83A1-F6EECF244321}">
                <p14:modId xmlns:p14="http://schemas.microsoft.com/office/powerpoint/2010/main" val="1742731530"/>
              </p:ext>
            </p:extLst>
          </p:nvPr>
        </p:nvGraphicFramePr>
        <p:xfrm>
          <a:off x="234950" y="1469724"/>
          <a:ext cx="8673847" cy="2786170"/>
        </p:xfrm>
        <a:graphic>
          <a:graphicData uri="http://schemas.openxmlformats.org/drawingml/2006/table">
            <a:tbl>
              <a:tblPr firstRow="1" bandRow="1">
                <a:tableStyleId>{21E4AEA4-8DFA-4A89-87EB-49C32662AFE0}</a:tableStyleId>
              </a:tblPr>
              <a:tblGrid>
                <a:gridCol w="1977125">
                  <a:extLst>
                    <a:ext uri="{9D8B030D-6E8A-4147-A177-3AD203B41FA5}">
                      <a16:colId xmlns:a16="http://schemas.microsoft.com/office/drawing/2014/main" val="990515080"/>
                    </a:ext>
                  </a:extLst>
                </a:gridCol>
                <a:gridCol w="1492412">
                  <a:extLst>
                    <a:ext uri="{9D8B030D-6E8A-4147-A177-3AD203B41FA5}">
                      <a16:colId xmlns:a16="http://schemas.microsoft.com/office/drawing/2014/main" val="1080524832"/>
                    </a:ext>
                  </a:extLst>
                </a:gridCol>
                <a:gridCol w="1734770">
                  <a:extLst>
                    <a:ext uri="{9D8B030D-6E8A-4147-A177-3AD203B41FA5}">
                      <a16:colId xmlns:a16="http://schemas.microsoft.com/office/drawing/2014/main" val="596008544"/>
                    </a:ext>
                  </a:extLst>
                </a:gridCol>
                <a:gridCol w="1734770">
                  <a:extLst>
                    <a:ext uri="{9D8B030D-6E8A-4147-A177-3AD203B41FA5}">
                      <a16:colId xmlns:a16="http://schemas.microsoft.com/office/drawing/2014/main" val="316829951"/>
                    </a:ext>
                  </a:extLst>
                </a:gridCol>
                <a:gridCol w="1734770">
                  <a:extLst>
                    <a:ext uri="{9D8B030D-6E8A-4147-A177-3AD203B41FA5}">
                      <a16:colId xmlns:a16="http://schemas.microsoft.com/office/drawing/2014/main" val="1240984961"/>
                    </a:ext>
                  </a:extLst>
                </a:gridCol>
              </a:tblGrid>
              <a:tr h="411132">
                <a:tc>
                  <a:txBody>
                    <a:bodyPr/>
                    <a:lstStyle/>
                    <a:p>
                      <a:pPr algn="ctr"/>
                      <a:r>
                        <a:rPr lang="en-US" sz="2000">
                          <a:latin typeface="Lato" panose="020F0502020204030203" pitchFamily="34" charset="0"/>
                          <a:ea typeface="Lato" panose="020F0502020204030203" pitchFamily="34" charset="0"/>
                          <a:cs typeface="Lato" panose="020F0502020204030203" pitchFamily="34" charset="0"/>
                        </a:rPr>
                        <a:t>Tiêu chí</a:t>
                      </a:r>
                    </a:p>
                  </a:txBody>
                  <a:tcPr marL="101375" marR="101375" marT="50687" marB="50687" anchor="ctr"/>
                </a:tc>
                <a:tc>
                  <a:txBody>
                    <a:bodyPr/>
                    <a:lstStyle/>
                    <a:p>
                      <a:pPr algn="ctr"/>
                      <a:r>
                        <a:rPr lang="en-US" sz="2000" b="1" kern="1200">
                          <a:solidFill>
                            <a:schemeClr val="lt1"/>
                          </a:solidFill>
                          <a:effectLst/>
                          <a:latin typeface="Lato" panose="020F0502020204030203" pitchFamily="34" charset="0"/>
                          <a:ea typeface="Lato" panose="020F0502020204030203" pitchFamily="34" charset="0"/>
                          <a:cs typeface="Lato" panose="020F0502020204030203" pitchFamily="34" charset="0"/>
                        </a:rPr>
                        <a:t>PAM Air</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1" kern="1200">
                          <a:solidFill>
                            <a:schemeClr val="lt1"/>
                          </a:solidFill>
                          <a:effectLst/>
                          <a:latin typeface="Lato" panose="020F0502020204030203" pitchFamily="34" charset="0"/>
                          <a:ea typeface="Lato" panose="020F0502020204030203" pitchFamily="34" charset="0"/>
                          <a:cs typeface="Lato" panose="020F0502020204030203" pitchFamily="34" charset="0"/>
                        </a:rPr>
                        <a:t>IQAir</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1" kern="1200">
                          <a:solidFill>
                            <a:schemeClr val="lt1"/>
                          </a:solidFill>
                          <a:effectLst/>
                          <a:latin typeface="Lato" panose="020F0502020204030203" pitchFamily="34" charset="0"/>
                          <a:ea typeface="Lato" panose="020F0502020204030203" pitchFamily="34" charset="0"/>
                          <a:cs typeface="Lato" panose="020F0502020204030203" pitchFamily="34" charset="0"/>
                        </a:rPr>
                        <a:t>PurpleAir</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1" kern="1200">
                          <a:solidFill>
                            <a:schemeClr val="lt1"/>
                          </a:solidFill>
                          <a:effectLst/>
                          <a:latin typeface="Lato" panose="020F0502020204030203" pitchFamily="34" charset="0"/>
                          <a:ea typeface="Lato" panose="020F0502020204030203" pitchFamily="34" charset="0"/>
                          <a:cs typeface="Lato" panose="020F0502020204030203" pitchFamily="34" charset="0"/>
                        </a:rPr>
                        <a:t>VN-AQI</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extLst>
                  <a:ext uri="{0D108BD9-81ED-4DB2-BD59-A6C34878D82A}">
                    <a16:rowId xmlns:a16="http://schemas.microsoft.com/office/drawing/2014/main" val="1835069278"/>
                  </a:ext>
                </a:extLst>
              </a:tr>
              <a:tr h="411132">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Cảm biến</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PM2.5</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PM2.5, CO₂</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PM2.5, PM10</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Đầy đủ (FEM)</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extLst>
                  <a:ext uri="{0D108BD9-81ED-4DB2-BD59-A6C34878D82A}">
                    <a16:rowId xmlns:a16="http://schemas.microsoft.com/office/drawing/2014/main" val="2157786967"/>
                  </a:ext>
                </a:extLst>
              </a:tr>
              <a:tr h="411132">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Truyền thông</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WiFi/4G</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WiFi</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WiFi</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Chuyên dụng</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extLst>
                  <a:ext uri="{0D108BD9-81ED-4DB2-BD59-A6C34878D82A}">
                    <a16:rowId xmlns:a16="http://schemas.microsoft.com/office/drawing/2014/main" val="2023125218"/>
                  </a:ext>
                </a:extLst>
              </a:tr>
              <a:tr h="430668">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Chi phí/trạm</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Trung bình</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1" kern="1200">
                          <a:solidFill>
                            <a:schemeClr val="dk1"/>
                          </a:solidFill>
                          <a:effectLst/>
                          <a:latin typeface="Lato" panose="020F0502020204030203" pitchFamily="34" charset="0"/>
                          <a:ea typeface="Lato" panose="020F0502020204030203" pitchFamily="34" charset="0"/>
                          <a:cs typeface="Lato" panose="020F0502020204030203" pitchFamily="34" charset="0"/>
                        </a:rPr>
                        <a:t>Cao (~10tr)</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Trung bình</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1" kern="1200">
                          <a:solidFill>
                            <a:schemeClr val="dk1"/>
                          </a:solidFill>
                          <a:effectLst/>
                          <a:latin typeface="Lato" panose="020F0502020204030203" pitchFamily="34" charset="0"/>
                          <a:ea typeface="Lato" panose="020F0502020204030203" pitchFamily="34" charset="0"/>
                          <a:cs typeface="Lato" panose="020F0502020204030203" pitchFamily="34" charset="0"/>
                        </a:rPr>
                        <a:t>Rất cao</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extLst>
                  <a:ext uri="{0D108BD9-81ED-4DB2-BD59-A6C34878D82A}">
                    <a16:rowId xmlns:a16="http://schemas.microsoft.com/office/drawing/2014/main" val="1188332443"/>
                  </a:ext>
                </a:extLst>
              </a:tr>
              <a:tr h="411132">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Mã nguồn mở</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Một phần</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extLst>
                  <a:ext uri="{0D108BD9-81ED-4DB2-BD59-A6C34878D82A}">
                    <a16:rowId xmlns:a16="http://schemas.microsoft.com/office/drawing/2014/main" val="2351462621"/>
                  </a:ext>
                </a:extLst>
              </a:tr>
              <a:tr h="411132">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Hỗ trợ LoRa</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tc>
                  <a:txBody>
                    <a:bodyPr/>
                    <a:lstStyle/>
                    <a:p>
                      <a:pPr algn="ctr"/>
                      <a:r>
                        <a:rPr lang="en-US" sz="2000" b="0" kern="1200">
                          <a:solidFill>
                            <a:schemeClr val="dk1"/>
                          </a:solidFill>
                          <a:effectLst/>
                          <a:latin typeface="Lato" panose="020F0502020204030203" pitchFamily="34" charset="0"/>
                          <a:ea typeface="Lato" panose="020F0502020204030203" pitchFamily="34" charset="0"/>
                          <a:cs typeface="Lato" panose="020F0502020204030203" pitchFamily="34" charset="0"/>
                        </a:rPr>
                        <a:t>❌</a:t>
                      </a:r>
                      <a:endParaRPr lang="en-US" sz="2000">
                        <a:latin typeface="Lato" panose="020F0502020204030203" pitchFamily="34" charset="0"/>
                        <a:ea typeface="Lato" panose="020F0502020204030203" pitchFamily="34" charset="0"/>
                        <a:cs typeface="Lato" panose="020F0502020204030203" pitchFamily="34" charset="0"/>
                      </a:endParaRPr>
                    </a:p>
                  </a:txBody>
                  <a:tcPr marL="101375" marR="101375" marT="50687" marB="50687" anchor="ctr"/>
                </a:tc>
                <a:extLst>
                  <a:ext uri="{0D108BD9-81ED-4DB2-BD59-A6C34878D82A}">
                    <a16:rowId xmlns:a16="http://schemas.microsoft.com/office/drawing/2014/main" val="965317052"/>
                  </a:ext>
                </a:extLst>
              </a:tr>
            </a:tbl>
          </a:graphicData>
        </a:graphic>
      </p:graphicFrame>
      <p:sp>
        <p:nvSpPr>
          <p:cNvPr id="7" name="Hộp Văn bản 6">
            <a:extLst>
              <a:ext uri="{FF2B5EF4-FFF2-40B4-BE49-F238E27FC236}">
                <a16:creationId xmlns:a16="http://schemas.microsoft.com/office/drawing/2014/main" id="{D4DE8CE4-C69B-F610-BCA7-769BAC540392}"/>
              </a:ext>
            </a:extLst>
          </p:cNvPr>
          <p:cNvSpPr txBox="1"/>
          <p:nvPr/>
        </p:nvSpPr>
        <p:spPr>
          <a:xfrm>
            <a:off x="1366990" y="845405"/>
            <a:ext cx="6409765" cy="461665"/>
          </a:xfrm>
          <a:prstGeom prst="rect">
            <a:avLst/>
          </a:prstGeom>
          <a:noFill/>
        </p:spPr>
        <p:txBody>
          <a:bodyPr wrap="square" rtlCol="0">
            <a:spAutoFit/>
          </a:bodyPr>
          <a:lstStyle/>
          <a:p>
            <a:r>
              <a:rPr lang="en-US" sz="2400" b="1">
                <a:solidFill>
                  <a:schemeClr val="accent2"/>
                </a:solidFill>
                <a:latin typeface="Lato" panose="020F0502020204030203" pitchFamily="34" charset="0"/>
                <a:ea typeface="Lato" panose="020F0502020204030203" pitchFamily="34" charset="0"/>
                <a:cs typeface="Lato" panose="020F0502020204030203" pitchFamily="34" charset="0"/>
              </a:rPr>
              <a:t>Bảng so sánh hệ thống giám sát CLKK hiện có</a:t>
            </a:r>
          </a:p>
        </p:txBody>
      </p:sp>
    </p:spTree>
    <p:extLst>
      <p:ext uri="{BB962C8B-B14F-4D97-AF65-F5344CB8AC3E}">
        <p14:creationId xmlns:p14="http://schemas.microsoft.com/office/powerpoint/2010/main" val="2751358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D9F-F079-E7CB-275B-4B407F7320C6}"/>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CE73DABA-0E07-DDEE-86EE-B4224D9C9822}"/>
              </a:ext>
            </a:extLst>
          </p:cNvPr>
          <p:cNvSpPr>
            <a:spLocks noGrp="1"/>
          </p:cNvSpPr>
          <p:nvPr>
            <p:ph type="title"/>
          </p:nvPr>
        </p:nvSpPr>
        <p:spPr/>
        <p:txBody>
          <a:bodyPr/>
          <a:lstStyle/>
          <a:p>
            <a:r>
              <a:rPr lang="en-US"/>
              <a:t>2. Mục tiêu đề tài</a:t>
            </a:r>
          </a:p>
        </p:txBody>
      </p:sp>
      <p:graphicFrame>
        <p:nvGraphicFramePr>
          <p:cNvPr id="8" name="Text Placeholder 3">
            <a:extLst>
              <a:ext uri="{FF2B5EF4-FFF2-40B4-BE49-F238E27FC236}">
                <a16:creationId xmlns:a16="http://schemas.microsoft.com/office/drawing/2014/main" id="{9685E792-403D-4DB7-F0A1-0AAB26116777}"/>
              </a:ext>
            </a:extLst>
          </p:cNvPr>
          <p:cNvGraphicFramePr/>
          <p:nvPr>
            <p:extLst>
              <p:ext uri="{D42A27DB-BD31-4B8C-83A1-F6EECF244321}">
                <p14:modId xmlns:p14="http://schemas.microsoft.com/office/powerpoint/2010/main" val="2563619366"/>
              </p:ext>
            </p:extLst>
          </p:nvPr>
        </p:nvGraphicFramePr>
        <p:xfrm>
          <a:off x="234950" y="963168"/>
          <a:ext cx="8674100" cy="51328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44728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2BCA-A953-E4E8-9DF4-8067541650B1}"/>
              </a:ext>
            </a:extLst>
          </p:cNvPr>
          <p:cNvSpPr>
            <a:spLocks noGrp="1"/>
          </p:cNvSpPr>
          <p:nvPr>
            <p:ph type="title"/>
          </p:nvPr>
        </p:nvSpPr>
        <p:spPr/>
        <p:txBody>
          <a:bodyPr/>
          <a:lstStyle/>
          <a:p>
            <a:r>
              <a:rPr lang="en-US"/>
              <a:t>3. Giải pháp kỹ thuật - </a:t>
            </a:r>
            <a:r>
              <a:rPr lang="en-US" b="0"/>
              <a:t>Kiến trúc tổng thể hệ thống</a:t>
            </a:r>
            <a:br>
              <a:rPr lang="en-US" b="0"/>
            </a:br>
            <a:br>
              <a:rPr lang="en-US"/>
            </a:br>
            <a:endParaRPr lang="en-US"/>
          </a:p>
        </p:txBody>
      </p:sp>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8</a:t>
            </a:fld>
            <a:endParaRPr lang="en-US" dirty="0"/>
          </a:p>
        </p:txBody>
      </p:sp>
      <p:pic>
        <p:nvPicPr>
          <p:cNvPr id="7" name="Chỗ dành sẵn cho Nội dung 6">
            <a:extLst>
              <a:ext uri="{FF2B5EF4-FFF2-40B4-BE49-F238E27FC236}">
                <a16:creationId xmlns:a16="http://schemas.microsoft.com/office/drawing/2014/main" id="{B274B61B-856D-732F-13FD-B5589443AAE2}"/>
              </a:ext>
            </a:extLst>
          </p:cNvPr>
          <p:cNvPicPr>
            <a:picLocks noChangeAspect="1"/>
          </p:cNvPicPr>
          <p:nvPr/>
        </p:nvPicPr>
        <p:blipFill>
          <a:blip r:embed="rId3"/>
          <a:srcRect t="5186"/>
          <a:stretch>
            <a:fillRect/>
          </a:stretch>
        </p:blipFill>
        <p:spPr>
          <a:xfrm>
            <a:off x="13549" y="842682"/>
            <a:ext cx="8956186" cy="5468471"/>
          </a:xfrm>
          <a:prstGeom prst="rect">
            <a:avLst/>
          </a:prstGeom>
        </p:spPr>
      </p:pic>
      <p:sp>
        <p:nvSpPr>
          <p:cNvPr id="6" name="Hộp Văn bản 5">
            <a:extLst>
              <a:ext uri="{FF2B5EF4-FFF2-40B4-BE49-F238E27FC236}">
                <a16:creationId xmlns:a16="http://schemas.microsoft.com/office/drawing/2014/main" id="{9E92DACC-FE11-5494-AD8C-1E673112B376}"/>
              </a:ext>
            </a:extLst>
          </p:cNvPr>
          <p:cNvSpPr txBox="1"/>
          <p:nvPr/>
        </p:nvSpPr>
        <p:spPr>
          <a:xfrm>
            <a:off x="4069976" y="4545105"/>
            <a:ext cx="4688542" cy="1323439"/>
          </a:xfrm>
          <a:prstGeom prst="rect">
            <a:avLst/>
          </a:prstGeom>
          <a:noFill/>
        </p:spPr>
        <p:txBody>
          <a:bodyPr wrap="square" rtlCol="0">
            <a:spAutoFit/>
          </a:bodyPr>
          <a:lstStyle/>
          <a:p>
            <a:pPr marL="285750" indent="-285750">
              <a:buFont typeface="Arial" panose="020B0604020202020204" pitchFamily="34" charset="0"/>
              <a:buChar char="•"/>
            </a:pPr>
            <a:r>
              <a:rPr lang="en-US" sz="2000">
                <a:solidFill>
                  <a:schemeClr val="accent2"/>
                </a:solidFill>
                <a:latin typeface="Lato" panose="020F0502020204030203" pitchFamily="34" charset="0"/>
                <a:ea typeface="Lato" panose="020F0502020204030203" pitchFamily="34" charset="0"/>
                <a:cs typeface="Lato" panose="020F0502020204030203" pitchFamily="34" charset="0"/>
              </a:rPr>
              <a:t>Tầng Cảm biến (Sensor Layer)</a:t>
            </a:r>
          </a:p>
          <a:p>
            <a:pPr marL="285750" indent="-285750">
              <a:buFont typeface="Arial" panose="020B0604020202020204" pitchFamily="34" charset="0"/>
              <a:buChar char="•"/>
            </a:pPr>
            <a:r>
              <a:rPr lang="en-US" sz="2000">
                <a:solidFill>
                  <a:srgbClr val="7030A0"/>
                </a:solidFill>
                <a:latin typeface="Lato" panose="020F0502020204030203" pitchFamily="34" charset="0"/>
                <a:ea typeface="Lato" panose="020F0502020204030203" pitchFamily="34" charset="0"/>
                <a:cs typeface="Lato" panose="020F0502020204030203" pitchFamily="34" charset="0"/>
              </a:rPr>
              <a:t>Tầng Trung chuyển (Gateway Layer) </a:t>
            </a:r>
          </a:p>
          <a:p>
            <a:pPr marL="285750" indent="-285750">
              <a:buFont typeface="Arial" panose="020B0604020202020204" pitchFamily="34" charset="0"/>
              <a:buChar char="•"/>
            </a:pPr>
            <a:r>
              <a:rPr lang="en-US" sz="2000">
                <a:solidFill>
                  <a:schemeClr val="accent1"/>
                </a:solidFill>
                <a:latin typeface="Lato" panose="020F0502020204030203" pitchFamily="34" charset="0"/>
                <a:ea typeface="Lato" panose="020F0502020204030203" pitchFamily="34" charset="0"/>
                <a:cs typeface="Lato" panose="020F0502020204030203" pitchFamily="34" charset="0"/>
              </a:rPr>
              <a:t>Tầng Máy chủ (Server Layer)</a:t>
            </a:r>
          </a:p>
          <a:p>
            <a:pPr marL="285750" indent="-285750">
              <a:buFont typeface="Arial" panose="020B0604020202020204" pitchFamily="34" charset="0"/>
              <a:buChar char="•"/>
            </a:pPr>
            <a:r>
              <a:rPr lang="en-US" sz="2000">
                <a:solidFill>
                  <a:srgbClr val="00B050"/>
                </a:solidFill>
                <a:latin typeface="Lato" panose="020F0502020204030203" pitchFamily="34" charset="0"/>
                <a:ea typeface="Lato" panose="020F0502020204030203" pitchFamily="34" charset="0"/>
                <a:cs typeface="Lato" panose="020F0502020204030203" pitchFamily="34" charset="0"/>
              </a:rPr>
              <a:t>Tầng Hiển thị (Presentation Layer) </a:t>
            </a:r>
          </a:p>
        </p:txBody>
      </p:sp>
    </p:spTree>
    <p:extLst>
      <p:ext uri="{BB962C8B-B14F-4D97-AF65-F5344CB8AC3E}">
        <p14:creationId xmlns:p14="http://schemas.microsoft.com/office/powerpoint/2010/main" val="2581069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1D602-389E-170B-A27C-714303085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66340-64B1-CA65-D971-3AAB86F6171F}"/>
              </a:ext>
            </a:extLst>
          </p:cNvPr>
          <p:cNvSpPr>
            <a:spLocks noGrp="1"/>
          </p:cNvSpPr>
          <p:nvPr>
            <p:ph type="title"/>
          </p:nvPr>
        </p:nvSpPr>
        <p:spPr/>
        <p:txBody>
          <a:bodyPr/>
          <a:lstStyle/>
          <a:p>
            <a:r>
              <a:rPr lang="en-US"/>
              <a:t>3. Giải pháp kỹ thuật - </a:t>
            </a:r>
            <a:r>
              <a:rPr lang="en-US" b="0"/>
              <a:t>Phần cứng &amp; Cảm biến </a:t>
            </a:r>
            <a:br>
              <a:rPr lang="en-US" b="0"/>
            </a:br>
            <a:br>
              <a:rPr lang="en-US" b="0"/>
            </a:br>
            <a:br>
              <a:rPr lang="en-US"/>
            </a:br>
            <a:endParaRPr lang="en-US"/>
          </a:p>
        </p:txBody>
      </p:sp>
      <p:sp>
        <p:nvSpPr>
          <p:cNvPr id="5" name="Slide Number Placeholder 4">
            <a:extLst>
              <a:ext uri="{FF2B5EF4-FFF2-40B4-BE49-F238E27FC236}">
                <a16:creationId xmlns:a16="http://schemas.microsoft.com/office/drawing/2014/main" id="{E4BBDB9C-3283-6026-1A31-922684AFD4C0}"/>
              </a:ext>
            </a:extLst>
          </p:cNvPr>
          <p:cNvSpPr>
            <a:spLocks noGrp="1"/>
          </p:cNvSpPr>
          <p:nvPr>
            <p:ph type="sldNum" sz="quarter" idx="12"/>
          </p:nvPr>
        </p:nvSpPr>
        <p:spPr/>
        <p:txBody>
          <a:bodyPr/>
          <a:lstStyle/>
          <a:p>
            <a:fld id="{9EA0BE3B-158A-4EDF-80DC-E394A0D1600F}" type="slidenum">
              <a:rPr lang="en-US" smtClean="0"/>
              <a:pPr/>
              <a:t>9</a:t>
            </a:fld>
            <a:endParaRPr lang="en-US" dirty="0"/>
          </a:p>
        </p:txBody>
      </p:sp>
      <p:pic>
        <p:nvPicPr>
          <p:cNvPr id="4" name="Hình ảnh 3">
            <a:extLst>
              <a:ext uri="{FF2B5EF4-FFF2-40B4-BE49-F238E27FC236}">
                <a16:creationId xmlns:a16="http://schemas.microsoft.com/office/drawing/2014/main" id="{C387E34C-8D88-B35C-B40C-95409D2BEA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3979" y="1631531"/>
            <a:ext cx="5449769" cy="4460598"/>
          </a:xfrm>
          <a:prstGeom prst="rect">
            <a:avLst/>
          </a:prstGeom>
        </p:spPr>
      </p:pic>
      <p:sp>
        <p:nvSpPr>
          <p:cNvPr id="8" name="Hộp Văn bản 7">
            <a:extLst>
              <a:ext uri="{FF2B5EF4-FFF2-40B4-BE49-F238E27FC236}">
                <a16:creationId xmlns:a16="http://schemas.microsoft.com/office/drawing/2014/main" id="{836D4519-4641-9696-430C-879A677938E4}"/>
              </a:ext>
            </a:extLst>
          </p:cNvPr>
          <p:cNvSpPr txBox="1"/>
          <p:nvPr/>
        </p:nvSpPr>
        <p:spPr>
          <a:xfrm>
            <a:off x="0" y="4445494"/>
            <a:ext cx="3881718" cy="1015663"/>
          </a:xfrm>
          <a:prstGeom prst="rect">
            <a:avLst/>
          </a:prstGeom>
          <a:noFill/>
        </p:spPr>
        <p:txBody>
          <a:bodyPr wrap="square" rtlCol="0">
            <a:spAutoFit/>
          </a:bodyPr>
          <a:lstStyle/>
          <a:p>
            <a:pPr marL="285750" indent="-285750">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ESP32 DevKit V1 </a:t>
            </a:r>
          </a:p>
          <a:p>
            <a:pPr marL="285750" indent="-285750">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Module LoRa AS32-TTL-100 </a:t>
            </a:r>
          </a:p>
          <a:p>
            <a:pPr marL="285750" indent="-285750">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3 cảm biến → 6 thông số </a:t>
            </a:r>
          </a:p>
        </p:txBody>
      </p:sp>
      <p:graphicFrame>
        <p:nvGraphicFramePr>
          <p:cNvPr id="9" name="Bảng 8">
            <a:extLst>
              <a:ext uri="{FF2B5EF4-FFF2-40B4-BE49-F238E27FC236}">
                <a16:creationId xmlns:a16="http://schemas.microsoft.com/office/drawing/2014/main" id="{D854043F-085D-B073-3F3F-4111FFC685E5}"/>
              </a:ext>
            </a:extLst>
          </p:cNvPr>
          <p:cNvGraphicFramePr>
            <a:graphicFrameLocks noGrp="1"/>
          </p:cNvGraphicFramePr>
          <p:nvPr>
            <p:extLst>
              <p:ext uri="{D42A27DB-BD31-4B8C-83A1-F6EECF244321}">
                <p14:modId xmlns:p14="http://schemas.microsoft.com/office/powerpoint/2010/main" val="2690614291"/>
              </p:ext>
            </p:extLst>
          </p:nvPr>
        </p:nvGraphicFramePr>
        <p:xfrm>
          <a:off x="118408" y="896947"/>
          <a:ext cx="4334761" cy="2321380"/>
        </p:xfrm>
        <a:graphic>
          <a:graphicData uri="http://schemas.openxmlformats.org/drawingml/2006/table">
            <a:tbl>
              <a:tblPr firstRow="1" bandRow="1">
                <a:tableStyleId>{21E4AEA4-8DFA-4A89-87EB-49C32662AFE0}</a:tableStyleId>
              </a:tblPr>
              <a:tblGrid>
                <a:gridCol w="1025643">
                  <a:extLst>
                    <a:ext uri="{9D8B030D-6E8A-4147-A177-3AD203B41FA5}">
                      <a16:colId xmlns:a16="http://schemas.microsoft.com/office/drawing/2014/main" val="990515080"/>
                    </a:ext>
                  </a:extLst>
                </a:gridCol>
                <a:gridCol w="1560630">
                  <a:extLst>
                    <a:ext uri="{9D8B030D-6E8A-4147-A177-3AD203B41FA5}">
                      <a16:colId xmlns:a16="http://schemas.microsoft.com/office/drawing/2014/main" val="1080524832"/>
                    </a:ext>
                  </a:extLst>
                </a:gridCol>
                <a:gridCol w="946268">
                  <a:extLst>
                    <a:ext uri="{9D8B030D-6E8A-4147-A177-3AD203B41FA5}">
                      <a16:colId xmlns:a16="http://schemas.microsoft.com/office/drawing/2014/main" val="596008544"/>
                    </a:ext>
                  </a:extLst>
                </a:gridCol>
                <a:gridCol w="802220">
                  <a:extLst>
                    <a:ext uri="{9D8B030D-6E8A-4147-A177-3AD203B41FA5}">
                      <a16:colId xmlns:a16="http://schemas.microsoft.com/office/drawing/2014/main" val="316829951"/>
                    </a:ext>
                  </a:extLst>
                </a:gridCol>
              </a:tblGrid>
              <a:tr h="580345">
                <a:tc>
                  <a:txBody>
                    <a:bodyPr/>
                    <a:lstStyle/>
                    <a:p>
                      <a:pPr algn="ctr"/>
                      <a:r>
                        <a:rPr lang="en-US" sz="1500" b="1" i="0" kern="1200">
                          <a:solidFill>
                            <a:schemeClr val="lt1"/>
                          </a:solidFill>
                          <a:effectLst/>
                          <a:latin typeface="Lato" panose="020F0502020204030203" pitchFamily="34" charset="0"/>
                          <a:ea typeface="Lato" panose="020F0502020204030203" pitchFamily="34" charset="0"/>
                          <a:cs typeface="Lato" panose="020F0502020204030203" pitchFamily="34" charset="0"/>
                        </a:rPr>
                        <a:t>Cảm biến</a:t>
                      </a:r>
                      <a:endParaRPr lang="en-US" sz="1300">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tc>
                  <a:txBody>
                    <a:bodyPr/>
                    <a:lstStyle/>
                    <a:p>
                      <a:pPr algn="ctr"/>
                      <a:r>
                        <a:rPr lang="en-US" sz="1500" b="1" i="0" kern="1200">
                          <a:solidFill>
                            <a:schemeClr val="lt1"/>
                          </a:solidFill>
                          <a:effectLst/>
                          <a:latin typeface="Lato" panose="020F0502020204030203" pitchFamily="34" charset="0"/>
                          <a:ea typeface="Lato" panose="020F0502020204030203" pitchFamily="34" charset="0"/>
                          <a:cs typeface="Lato" panose="020F0502020204030203" pitchFamily="34" charset="0"/>
                        </a:rPr>
                        <a:t>Thông số đo</a:t>
                      </a:r>
                      <a:endParaRPr lang="en-US" sz="1300">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tc>
                  <a:txBody>
                    <a:bodyPr/>
                    <a:lstStyle/>
                    <a:p>
                      <a:pPr algn="ctr"/>
                      <a:r>
                        <a:rPr lang="en-US" sz="1500" b="1" i="0" kern="1200">
                          <a:solidFill>
                            <a:schemeClr val="lt1"/>
                          </a:solidFill>
                          <a:effectLst/>
                          <a:latin typeface="Lato" panose="020F0502020204030203" pitchFamily="34" charset="0"/>
                          <a:ea typeface="Lato" panose="020F0502020204030203" pitchFamily="34" charset="0"/>
                          <a:cs typeface="Lato" panose="020F0502020204030203" pitchFamily="34" charset="0"/>
                        </a:rPr>
                        <a:t>Giao tiếp</a:t>
                      </a:r>
                      <a:endParaRPr lang="en-US" sz="1300">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tc>
                  <a:txBody>
                    <a:bodyPr/>
                    <a:lstStyle/>
                    <a:p>
                      <a:pPr algn="ctr"/>
                      <a:r>
                        <a:rPr lang="en-US" sz="1500" b="1" i="0" kern="1200">
                          <a:solidFill>
                            <a:schemeClr val="lt1"/>
                          </a:solidFill>
                          <a:effectLst/>
                          <a:latin typeface="Lato" panose="020F0502020204030203" pitchFamily="34" charset="0"/>
                          <a:ea typeface="Lato" panose="020F0502020204030203" pitchFamily="34" charset="0"/>
                          <a:cs typeface="Lato" panose="020F0502020204030203" pitchFamily="34" charset="0"/>
                        </a:rPr>
                        <a:t>Chi phí</a:t>
                      </a:r>
                      <a:endParaRPr lang="en-US" sz="1300">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extLst>
                  <a:ext uri="{0D108BD9-81ED-4DB2-BD59-A6C34878D82A}">
                    <a16:rowId xmlns:a16="http://schemas.microsoft.com/office/drawing/2014/main" val="1835069278"/>
                  </a:ext>
                </a:extLst>
              </a:tr>
              <a:tr h="580345">
                <a:tc>
                  <a:txBody>
                    <a:bodyPr/>
                    <a:lstStyle/>
                    <a:p>
                      <a:pPr algn="ctr"/>
                      <a:r>
                        <a:rPr lang="en-US" sz="1500" b="1" i="0" kern="1200">
                          <a:solidFill>
                            <a:schemeClr val="dk1"/>
                          </a:solidFill>
                          <a:effectLst/>
                          <a:latin typeface="Lato" panose="020F0502020204030203" pitchFamily="34" charset="0"/>
                          <a:ea typeface="Lato" panose="020F0502020204030203" pitchFamily="34" charset="0"/>
                          <a:cs typeface="Lato" panose="020F0502020204030203" pitchFamily="34" charset="0"/>
                        </a:rPr>
                        <a:t>PMS7003</a:t>
                      </a:r>
                      <a:endParaRPr lang="en-US" sz="1300" b="1">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tc>
                  <a:txBody>
                    <a:bodyPr/>
                    <a:lstStyle/>
                    <a:p>
                      <a:pPr algn="ctr"/>
                      <a:r>
                        <a:rPr lang="en-US" sz="1500" b="0" i="0" kern="1200">
                          <a:solidFill>
                            <a:schemeClr val="dk1"/>
                          </a:solidFill>
                          <a:effectLst/>
                          <a:latin typeface="Lato" panose="020F0502020204030203" pitchFamily="34" charset="0"/>
                          <a:ea typeface="Lato" panose="020F0502020204030203" pitchFamily="34" charset="0"/>
                          <a:cs typeface="Lato" panose="020F0502020204030203" pitchFamily="34" charset="0"/>
                        </a:rPr>
                        <a:t>PM2.5, PM10</a:t>
                      </a:r>
                      <a:endParaRPr lang="en-US" sz="1300">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tc>
                  <a:txBody>
                    <a:bodyPr/>
                    <a:lstStyle/>
                    <a:p>
                      <a:pPr algn="ctr"/>
                      <a:r>
                        <a:rPr lang="en-US" sz="1500" b="0" i="0" kern="1200">
                          <a:solidFill>
                            <a:schemeClr val="dk1"/>
                          </a:solidFill>
                          <a:effectLst/>
                          <a:latin typeface="Lato" panose="020F0502020204030203" pitchFamily="34" charset="0"/>
                          <a:ea typeface="Lato" panose="020F0502020204030203" pitchFamily="34" charset="0"/>
                          <a:cs typeface="Lato" panose="020F0502020204030203" pitchFamily="34" charset="0"/>
                        </a:rPr>
                        <a:t>UART</a:t>
                      </a:r>
                      <a:endParaRPr lang="en-US" sz="1300">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tc>
                  <a:txBody>
                    <a:bodyPr/>
                    <a:lstStyle/>
                    <a:p>
                      <a:pPr algn="ctr"/>
                      <a:r>
                        <a:rPr lang="en-US" sz="1500" b="0" i="0" kern="1200">
                          <a:solidFill>
                            <a:schemeClr val="dk1"/>
                          </a:solidFill>
                          <a:effectLst/>
                          <a:latin typeface="Lato" panose="020F0502020204030203" pitchFamily="34" charset="0"/>
                          <a:ea typeface="Lato" panose="020F0502020204030203" pitchFamily="34" charset="0"/>
                          <a:cs typeface="Lato" panose="020F0502020204030203" pitchFamily="34" charset="0"/>
                        </a:rPr>
                        <a:t>~350K</a:t>
                      </a:r>
                      <a:endParaRPr lang="en-US" sz="1300">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extLst>
                  <a:ext uri="{0D108BD9-81ED-4DB2-BD59-A6C34878D82A}">
                    <a16:rowId xmlns:a16="http://schemas.microsoft.com/office/drawing/2014/main" val="2157786967"/>
                  </a:ext>
                </a:extLst>
              </a:tr>
              <a:tr h="580345">
                <a:tc>
                  <a:txBody>
                    <a:bodyPr/>
                    <a:lstStyle/>
                    <a:p>
                      <a:pPr algn="ctr"/>
                      <a:r>
                        <a:rPr lang="en-US" sz="1500" b="1" i="0" kern="1200">
                          <a:solidFill>
                            <a:schemeClr val="dk1"/>
                          </a:solidFill>
                          <a:effectLst/>
                          <a:latin typeface="Lato" panose="020F0502020204030203" pitchFamily="34" charset="0"/>
                          <a:ea typeface="Lato" panose="020F0502020204030203" pitchFamily="34" charset="0"/>
                          <a:cs typeface="Lato" panose="020F0502020204030203" pitchFamily="34" charset="0"/>
                        </a:rPr>
                        <a:t>CCS811</a:t>
                      </a:r>
                      <a:endParaRPr lang="en-US" sz="1300" b="1">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tc>
                  <a:txBody>
                    <a:bodyPr/>
                    <a:lstStyle/>
                    <a:p>
                      <a:pPr algn="ctr"/>
                      <a:r>
                        <a:rPr lang="en-US" sz="1500" b="0" i="0" kern="1200">
                          <a:solidFill>
                            <a:schemeClr val="dk1"/>
                          </a:solidFill>
                          <a:effectLst/>
                          <a:latin typeface="Lato" panose="020F0502020204030203" pitchFamily="34" charset="0"/>
                          <a:ea typeface="Lato" panose="020F0502020204030203" pitchFamily="34" charset="0"/>
                          <a:cs typeface="Lato" panose="020F0502020204030203" pitchFamily="34" charset="0"/>
                        </a:rPr>
                        <a:t>eCO₂, eTVOC</a:t>
                      </a:r>
                      <a:endParaRPr lang="en-US" sz="1300">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tc>
                  <a:txBody>
                    <a:bodyPr/>
                    <a:lstStyle/>
                    <a:p>
                      <a:pPr algn="ctr"/>
                      <a:r>
                        <a:rPr lang="en-US" sz="1500" b="0" i="0" kern="1200">
                          <a:solidFill>
                            <a:schemeClr val="dk1"/>
                          </a:solidFill>
                          <a:effectLst/>
                          <a:latin typeface="Lato" panose="020F0502020204030203" pitchFamily="34" charset="0"/>
                          <a:ea typeface="Lato" panose="020F0502020204030203" pitchFamily="34" charset="0"/>
                          <a:cs typeface="Lato" panose="020F0502020204030203" pitchFamily="34" charset="0"/>
                        </a:rPr>
                        <a:t>I2C</a:t>
                      </a:r>
                      <a:endParaRPr lang="en-US" sz="1300">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tc>
                  <a:txBody>
                    <a:bodyPr/>
                    <a:lstStyle/>
                    <a:p>
                      <a:pPr algn="ctr"/>
                      <a:r>
                        <a:rPr lang="en-US" sz="1500" b="0" i="0" kern="1200">
                          <a:solidFill>
                            <a:schemeClr val="dk1"/>
                          </a:solidFill>
                          <a:effectLst/>
                          <a:latin typeface="Lato" panose="020F0502020204030203" pitchFamily="34" charset="0"/>
                          <a:ea typeface="Lato" panose="020F0502020204030203" pitchFamily="34" charset="0"/>
                          <a:cs typeface="Lato" panose="020F0502020204030203" pitchFamily="34" charset="0"/>
                        </a:rPr>
                        <a:t>~150K</a:t>
                      </a:r>
                      <a:endParaRPr lang="en-US" sz="1300">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extLst>
                  <a:ext uri="{0D108BD9-81ED-4DB2-BD59-A6C34878D82A}">
                    <a16:rowId xmlns:a16="http://schemas.microsoft.com/office/drawing/2014/main" val="2023125218"/>
                  </a:ext>
                </a:extLst>
              </a:tr>
              <a:tr h="580345">
                <a:tc>
                  <a:txBody>
                    <a:bodyPr/>
                    <a:lstStyle/>
                    <a:p>
                      <a:pPr algn="ctr"/>
                      <a:r>
                        <a:rPr lang="en-US" sz="1500" b="1" i="0" kern="1200">
                          <a:solidFill>
                            <a:schemeClr val="dk1"/>
                          </a:solidFill>
                          <a:effectLst/>
                          <a:latin typeface="Lato" panose="020F0502020204030203" pitchFamily="34" charset="0"/>
                          <a:ea typeface="Lato" panose="020F0502020204030203" pitchFamily="34" charset="0"/>
                          <a:cs typeface="Lato" panose="020F0502020204030203" pitchFamily="34" charset="0"/>
                        </a:rPr>
                        <a:t>AHT10</a:t>
                      </a:r>
                      <a:endParaRPr lang="en-US" sz="1300" b="1">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tc>
                  <a:txBody>
                    <a:bodyPr/>
                    <a:lstStyle/>
                    <a:p>
                      <a:pPr algn="ctr"/>
                      <a:r>
                        <a:rPr lang="en-US" sz="1500" b="0" i="0" kern="1200">
                          <a:solidFill>
                            <a:schemeClr val="dk1"/>
                          </a:solidFill>
                          <a:effectLst/>
                          <a:latin typeface="Lato" panose="020F0502020204030203" pitchFamily="34" charset="0"/>
                          <a:ea typeface="Lato" panose="020F0502020204030203" pitchFamily="34" charset="0"/>
                          <a:cs typeface="Lato" panose="020F0502020204030203" pitchFamily="34" charset="0"/>
                        </a:rPr>
                        <a:t>Nhiệt độ, Độ ẩm</a:t>
                      </a:r>
                      <a:endParaRPr lang="en-US" sz="1300">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tc>
                  <a:txBody>
                    <a:bodyPr/>
                    <a:lstStyle/>
                    <a:p>
                      <a:pPr algn="ctr"/>
                      <a:r>
                        <a:rPr lang="en-US" sz="1500" b="0" i="0" kern="1200">
                          <a:solidFill>
                            <a:schemeClr val="dk1"/>
                          </a:solidFill>
                          <a:effectLst/>
                          <a:latin typeface="Lato" panose="020F0502020204030203" pitchFamily="34" charset="0"/>
                          <a:ea typeface="Lato" panose="020F0502020204030203" pitchFamily="34" charset="0"/>
                          <a:cs typeface="Lato" panose="020F0502020204030203" pitchFamily="34" charset="0"/>
                        </a:rPr>
                        <a:t>I2C</a:t>
                      </a:r>
                      <a:endParaRPr lang="en-US" sz="1300">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tc>
                  <a:txBody>
                    <a:bodyPr/>
                    <a:lstStyle/>
                    <a:p>
                      <a:pPr algn="ctr"/>
                      <a:r>
                        <a:rPr lang="en-US" sz="1500" b="0" i="0" kern="1200">
                          <a:solidFill>
                            <a:schemeClr val="dk1"/>
                          </a:solidFill>
                          <a:effectLst/>
                          <a:latin typeface="Lato" panose="020F0502020204030203" pitchFamily="34" charset="0"/>
                          <a:ea typeface="Lato" panose="020F0502020204030203" pitchFamily="34" charset="0"/>
                          <a:cs typeface="Lato" panose="020F0502020204030203" pitchFamily="34" charset="0"/>
                        </a:rPr>
                        <a:t>~35K</a:t>
                      </a:r>
                      <a:endParaRPr lang="en-US" sz="1300">
                        <a:latin typeface="Lato" panose="020F0502020204030203" pitchFamily="34" charset="0"/>
                        <a:ea typeface="Lato" panose="020F0502020204030203" pitchFamily="34" charset="0"/>
                        <a:cs typeface="Lato" panose="020F0502020204030203" pitchFamily="34" charset="0"/>
                      </a:endParaRPr>
                    </a:p>
                  </a:txBody>
                  <a:tcPr marL="66734" marR="66734" marT="33368" marB="33368" anchor="ctr"/>
                </a:tc>
                <a:extLst>
                  <a:ext uri="{0D108BD9-81ED-4DB2-BD59-A6C34878D82A}">
                    <a16:rowId xmlns:a16="http://schemas.microsoft.com/office/drawing/2014/main" val="1188332443"/>
                  </a:ext>
                </a:extLst>
              </a:tr>
            </a:tbl>
          </a:graphicData>
        </a:graphic>
      </p:graphicFrame>
      <p:sp>
        <p:nvSpPr>
          <p:cNvPr id="10" name="Hộp Văn bản 9">
            <a:extLst>
              <a:ext uri="{FF2B5EF4-FFF2-40B4-BE49-F238E27FC236}">
                <a16:creationId xmlns:a16="http://schemas.microsoft.com/office/drawing/2014/main" id="{C9454C1F-87CC-916C-437F-D0597E59F51C}"/>
              </a:ext>
            </a:extLst>
          </p:cNvPr>
          <p:cNvSpPr txBox="1"/>
          <p:nvPr/>
        </p:nvSpPr>
        <p:spPr>
          <a:xfrm>
            <a:off x="5334418" y="1264936"/>
            <a:ext cx="3065930" cy="400110"/>
          </a:xfrm>
          <a:prstGeom prst="rect">
            <a:avLst/>
          </a:prstGeom>
          <a:noFill/>
        </p:spPr>
        <p:txBody>
          <a:bodyPr wrap="square" rtlCol="0">
            <a:spAutoFit/>
          </a:bodyPr>
          <a:lstStyle/>
          <a:p>
            <a:r>
              <a:rPr lang="en-US" sz="2000">
                <a:solidFill>
                  <a:srgbClr val="002060"/>
                </a:solidFill>
                <a:latin typeface="Lato" panose="020F0502020204030203" pitchFamily="34" charset="0"/>
                <a:ea typeface="Lato" panose="020F0502020204030203" pitchFamily="34" charset="0"/>
                <a:cs typeface="Lato" panose="020F0502020204030203" pitchFamily="34" charset="0"/>
              </a:rPr>
              <a:t>Sơ đồ mạch Sensor Node</a:t>
            </a:r>
          </a:p>
        </p:txBody>
      </p:sp>
    </p:spTree>
    <p:extLst>
      <p:ext uri="{BB962C8B-B14F-4D97-AF65-F5344CB8AC3E}">
        <p14:creationId xmlns:p14="http://schemas.microsoft.com/office/powerpoint/2010/main" val="37649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A4DCA-0635-D365-AF2B-03B44239E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707D50-D40B-1E15-6B40-87A4442F39A4}"/>
              </a:ext>
            </a:extLst>
          </p:cNvPr>
          <p:cNvSpPr>
            <a:spLocks noGrp="1"/>
          </p:cNvSpPr>
          <p:nvPr>
            <p:ph type="title"/>
          </p:nvPr>
        </p:nvSpPr>
        <p:spPr/>
        <p:txBody>
          <a:bodyPr/>
          <a:lstStyle/>
          <a:p>
            <a:r>
              <a:rPr lang="en-US"/>
              <a:t>3. Giải pháp kỹ thuật - </a:t>
            </a:r>
            <a:r>
              <a:rPr lang="en-US" b="0"/>
              <a:t>Giao thức LoRa Binary</a:t>
            </a:r>
            <a:br>
              <a:rPr lang="en-US"/>
            </a:br>
            <a:endParaRPr lang="en-US"/>
          </a:p>
        </p:txBody>
      </p:sp>
      <p:sp>
        <p:nvSpPr>
          <p:cNvPr id="5" name="Slide Number Placeholder 4">
            <a:extLst>
              <a:ext uri="{FF2B5EF4-FFF2-40B4-BE49-F238E27FC236}">
                <a16:creationId xmlns:a16="http://schemas.microsoft.com/office/drawing/2014/main" id="{F7468ABA-29A5-D9BA-FA09-62CAF9DB4614}"/>
              </a:ext>
            </a:extLst>
          </p:cNvPr>
          <p:cNvSpPr>
            <a:spLocks noGrp="1"/>
          </p:cNvSpPr>
          <p:nvPr>
            <p:ph type="sldNum" sz="quarter" idx="12"/>
          </p:nvPr>
        </p:nvSpPr>
        <p:spPr/>
        <p:txBody>
          <a:bodyPr/>
          <a:lstStyle/>
          <a:p>
            <a:fld id="{9EA0BE3B-158A-4EDF-80DC-E394A0D1600F}" type="slidenum">
              <a:rPr lang="en-US" smtClean="0"/>
              <a:pPr/>
              <a:t>10</a:t>
            </a:fld>
            <a:endParaRPr lang="en-US" dirty="0"/>
          </a:p>
        </p:txBody>
      </p:sp>
      <p:pic>
        <p:nvPicPr>
          <p:cNvPr id="4" name="Hình ảnh 3">
            <a:extLst>
              <a:ext uri="{FF2B5EF4-FFF2-40B4-BE49-F238E27FC236}">
                <a16:creationId xmlns:a16="http://schemas.microsoft.com/office/drawing/2014/main" id="{3D8A322A-57AC-9219-B1DA-4A24C75B6DD7}"/>
              </a:ext>
            </a:extLst>
          </p:cNvPr>
          <p:cNvPicPr>
            <a:picLocks noChangeAspect="1"/>
          </p:cNvPicPr>
          <p:nvPr/>
        </p:nvPicPr>
        <p:blipFill>
          <a:blip r:embed="rId3"/>
          <a:srcRect t="28812" b="15896"/>
          <a:stretch>
            <a:fillRect/>
          </a:stretch>
        </p:blipFill>
        <p:spPr>
          <a:xfrm>
            <a:off x="109608" y="1070953"/>
            <a:ext cx="8924783" cy="1013220"/>
          </a:xfrm>
          <a:prstGeom prst="rect">
            <a:avLst/>
          </a:prstGeom>
        </p:spPr>
      </p:pic>
      <p:sp>
        <p:nvSpPr>
          <p:cNvPr id="8" name="Hộp Văn bản 7">
            <a:extLst>
              <a:ext uri="{FF2B5EF4-FFF2-40B4-BE49-F238E27FC236}">
                <a16:creationId xmlns:a16="http://schemas.microsoft.com/office/drawing/2014/main" id="{D000A963-3369-1E4D-9C84-4D65DC688E2D}"/>
              </a:ext>
            </a:extLst>
          </p:cNvPr>
          <p:cNvSpPr txBox="1"/>
          <p:nvPr/>
        </p:nvSpPr>
        <p:spPr>
          <a:xfrm>
            <a:off x="109608" y="2562228"/>
            <a:ext cx="3108721" cy="3170099"/>
          </a:xfrm>
          <a:prstGeom prst="rect">
            <a:avLst/>
          </a:prstGeom>
          <a:noFill/>
        </p:spPr>
        <p:txBody>
          <a:bodyPr wrap="square" rtlCol="0">
            <a:spAutoFit/>
          </a:bodyPr>
          <a:lstStyle/>
          <a:p>
            <a:pPr marL="285750" indent="-285750">
              <a:buFont typeface="Arial" panose="020B0604020202020204" pitchFamily="34" charset="0"/>
              <a:buChar char="•"/>
            </a:pPr>
            <a:r>
              <a:rPr lang="en-US" sz="2000" b="1">
                <a:latin typeface="Lato" panose="020F0502020204030203" pitchFamily="34" charset="0"/>
                <a:ea typeface="Lato" panose="020F0502020204030203" pitchFamily="34" charset="0"/>
                <a:cs typeface="Lato" panose="020F0502020204030203" pitchFamily="34" charset="0"/>
              </a:rPr>
              <a:t>18 byte binary</a:t>
            </a:r>
          </a:p>
          <a:p>
            <a:pPr marL="285750" indent="-285750">
              <a:buFont typeface="Arial" panose="020B0604020202020204" pitchFamily="34" charset="0"/>
              <a:buChar char="•"/>
            </a:pPr>
            <a:r>
              <a:rPr lang="en-US" sz="2000" b="1">
                <a:latin typeface="Lato" panose="020F0502020204030203" pitchFamily="34" charset="0"/>
                <a:ea typeface="Lato" panose="020F0502020204030203" pitchFamily="34" charset="0"/>
                <a:cs typeface="Lato" panose="020F0502020204030203" pitchFamily="34" charset="0"/>
              </a:rPr>
              <a:t>Cấu trúc packed struct C</a:t>
            </a:r>
            <a:r>
              <a:rPr lang="en-US" sz="2000">
                <a:latin typeface="Lato" panose="020F0502020204030203" pitchFamily="34" charset="0"/>
                <a:ea typeface="Lato" panose="020F0502020204030203" pitchFamily="34" charset="0"/>
                <a:cs typeface="Lato" panose="020F0502020204030203" pitchFamily="34" charset="0"/>
              </a:rPr>
              <a:t> — Header 3B + Payload 14B + Battery 1B</a:t>
            </a:r>
          </a:p>
          <a:p>
            <a:pPr marL="285750" indent="-285750">
              <a:buFont typeface="Arial" panose="020B0604020202020204" pitchFamily="34" charset="0"/>
              <a:buChar char="•"/>
            </a:pPr>
            <a:r>
              <a:rPr lang="en-US" sz="2000" b="1">
                <a:latin typeface="Lato" panose="020F0502020204030203" pitchFamily="34" charset="0"/>
                <a:ea typeface="Lato" panose="020F0502020204030203" pitchFamily="34" charset="0"/>
                <a:cs typeface="Lato" panose="020F0502020204030203" pitchFamily="34" charset="0"/>
              </a:rPr>
              <a:t>Deduplication bằng msgId</a:t>
            </a:r>
            <a:r>
              <a:rPr lang="en-US" sz="2000">
                <a:latin typeface="Lato" panose="020F0502020204030203" pitchFamily="34" charset="0"/>
                <a:ea typeface="Lato" panose="020F0502020204030203" pitchFamily="34" charset="0"/>
                <a:cs typeface="Lato" panose="020F0502020204030203" pitchFamily="34" charset="0"/>
              </a:rPr>
              <a:t> — cặp khóa (nodeId, msgId) lọc gói tin trùng khi nhiều Gateway cùng nhận</a:t>
            </a:r>
          </a:p>
        </p:txBody>
      </p:sp>
      <p:graphicFrame>
        <p:nvGraphicFramePr>
          <p:cNvPr id="9" name="Bảng 8">
            <a:extLst>
              <a:ext uri="{FF2B5EF4-FFF2-40B4-BE49-F238E27FC236}">
                <a16:creationId xmlns:a16="http://schemas.microsoft.com/office/drawing/2014/main" id="{1C2DE879-9C11-3C0B-6864-7562D2F397C0}"/>
              </a:ext>
            </a:extLst>
          </p:cNvPr>
          <p:cNvGraphicFramePr>
            <a:graphicFrameLocks noGrp="1"/>
          </p:cNvGraphicFramePr>
          <p:nvPr>
            <p:extLst>
              <p:ext uri="{D42A27DB-BD31-4B8C-83A1-F6EECF244321}">
                <p14:modId xmlns:p14="http://schemas.microsoft.com/office/powerpoint/2010/main" val="746102842"/>
              </p:ext>
            </p:extLst>
          </p:nvPr>
        </p:nvGraphicFramePr>
        <p:xfrm>
          <a:off x="3307497" y="2562228"/>
          <a:ext cx="5726894" cy="3032604"/>
        </p:xfrm>
        <a:graphic>
          <a:graphicData uri="http://schemas.openxmlformats.org/drawingml/2006/table">
            <a:tbl>
              <a:tblPr firstRow="1" bandRow="1">
                <a:tableStyleId>{21E4AEA4-8DFA-4A89-87EB-49C32662AFE0}</a:tableStyleId>
              </a:tblPr>
              <a:tblGrid>
                <a:gridCol w="1970088">
                  <a:extLst>
                    <a:ext uri="{9D8B030D-6E8A-4147-A177-3AD203B41FA5}">
                      <a16:colId xmlns:a16="http://schemas.microsoft.com/office/drawing/2014/main" val="2252891217"/>
                    </a:ext>
                  </a:extLst>
                </a:gridCol>
                <a:gridCol w="1185862">
                  <a:extLst>
                    <a:ext uri="{9D8B030D-6E8A-4147-A177-3AD203B41FA5}">
                      <a16:colId xmlns:a16="http://schemas.microsoft.com/office/drawing/2014/main" val="1362429529"/>
                    </a:ext>
                  </a:extLst>
                </a:gridCol>
                <a:gridCol w="2570944">
                  <a:extLst>
                    <a:ext uri="{9D8B030D-6E8A-4147-A177-3AD203B41FA5}">
                      <a16:colId xmlns:a16="http://schemas.microsoft.com/office/drawing/2014/main" val="583214867"/>
                    </a:ext>
                  </a:extLst>
                </a:gridCol>
              </a:tblGrid>
              <a:tr h="336956">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Trường</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Kích thước</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Mô tả</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extLst>
                  <a:ext uri="{0D108BD9-81ED-4DB2-BD59-A6C34878D82A}">
                    <a16:rowId xmlns:a16="http://schemas.microsoft.com/office/drawing/2014/main" val="3744980444"/>
                  </a:ext>
                </a:extLst>
              </a:tr>
              <a:tr h="336956">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nodeId</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1B</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ID node (1–255)</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extLst>
                  <a:ext uri="{0D108BD9-81ED-4DB2-BD59-A6C34878D82A}">
                    <a16:rowId xmlns:a16="http://schemas.microsoft.com/office/drawing/2014/main" val="1160039815"/>
                  </a:ext>
                </a:extLst>
              </a:tr>
              <a:tr h="336956">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pktType</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1B</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Loại gói: data / heartbeat</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extLst>
                  <a:ext uri="{0D108BD9-81ED-4DB2-BD59-A6C34878D82A}">
                    <a16:rowId xmlns:a16="http://schemas.microsoft.com/office/drawing/2014/main" val="14437466"/>
                  </a:ext>
                </a:extLst>
              </a:tr>
              <a:tr h="336956">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msgId</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1B</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Bộ đếm tuần hoàn 0–255</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extLst>
                  <a:ext uri="{0D108BD9-81ED-4DB2-BD59-A6C34878D82A}">
                    <a16:rowId xmlns:a16="http://schemas.microsoft.com/office/drawing/2014/main" val="1534483186"/>
                  </a:ext>
                </a:extLst>
              </a:tr>
              <a:tr h="336956">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PM1, PM2.5, PM10</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3×2B</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Giá trị ×10, unsigned</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extLst>
                  <a:ext uri="{0D108BD9-81ED-4DB2-BD59-A6C34878D82A}">
                    <a16:rowId xmlns:a16="http://schemas.microsoft.com/office/drawing/2014/main" val="1569950223"/>
                  </a:ext>
                </a:extLst>
              </a:tr>
              <a:tr h="336956">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eCO₂, eTVOC</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2×2B</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Đơn vị ppm / ppb</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extLst>
                  <a:ext uri="{0D108BD9-81ED-4DB2-BD59-A6C34878D82A}">
                    <a16:rowId xmlns:a16="http://schemas.microsoft.com/office/drawing/2014/main" val="4047862569"/>
                  </a:ext>
                </a:extLst>
              </a:tr>
              <a:tr h="336956">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Nhiệt độ</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2B</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Giá trị ×10, signed</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extLst>
                  <a:ext uri="{0D108BD9-81ED-4DB2-BD59-A6C34878D82A}">
                    <a16:rowId xmlns:a16="http://schemas.microsoft.com/office/drawing/2014/main" val="789604560"/>
                  </a:ext>
                </a:extLst>
              </a:tr>
              <a:tr h="336956">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Độ ẩm</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2B</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Giá trị ×10, unsigned</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extLst>
                  <a:ext uri="{0D108BD9-81ED-4DB2-BD59-A6C34878D82A}">
                    <a16:rowId xmlns:a16="http://schemas.microsoft.com/office/drawing/2014/main" val="1929365709"/>
                  </a:ext>
                </a:extLst>
              </a:tr>
              <a:tr h="336956">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Battery</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1B</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0–100%</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extLst>
                  <a:ext uri="{0D108BD9-81ED-4DB2-BD59-A6C34878D82A}">
                    <a16:rowId xmlns:a16="http://schemas.microsoft.com/office/drawing/2014/main" val="1445231185"/>
                  </a:ext>
                </a:extLst>
              </a:tr>
            </a:tbl>
          </a:graphicData>
        </a:graphic>
      </p:graphicFrame>
    </p:spTree>
    <p:extLst>
      <p:ext uri="{BB962C8B-B14F-4D97-AF65-F5344CB8AC3E}">
        <p14:creationId xmlns:p14="http://schemas.microsoft.com/office/powerpoint/2010/main" val="3293208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768DF-E178-CDBC-A420-4A1E76258C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BC082-1705-86BD-1EEC-54D774A01205}"/>
              </a:ext>
            </a:extLst>
          </p:cNvPr>
          <p:cNvSpPr>
            <a:spLocks noGrp="1"/>
          </p:cNvSpPr>
          <p:nvPr>
            <p:ph type="title"/>
          </p:nvPr>
        </p:nvSpPr>
        <p:spPr>
          <a:xfrm>
            <a:off x="0" y="78613"/>
            <a:ext cx="9224683" cy="451739"/>
          </a:xfrm>
        </p:spPr>
        <p:txBody>
          <a:bodyPr/>
          <a:lstStyle/>
          <a:p>
            <a:r>
              <a:rPr lang="en-US"/>
              <a:t>3. Giải pháp kỹ thuật - </a:t>
            </a:r>
            <a:r>
              <a:rPr lang="en-US" b="0"/>
              <a:t>Firmware Sensor Node &amp; Gateway</a:t>
            </a:r>
            <a:br>
              <a:rPr lang="en-US"/>
            </a:br>
            <a:endParaRPr lang="en-US"/>
          </a:p>
        </p:txBody>
      </p:sp>
      <p:sp>
        <p:nvSpPr>
          <p:cNvPr id="5" name="Slide Number Placeholder 4">
            <a:extLst>
              <a:ext uri="{FF2B5EF4-FFF2-40B4-BE49-F238E27FC236}">
                <a16:creationId xmlns:a16="http://schemas.microsoft.com/office/drawing/2014/main" id="{0D00EF9F-5216-425B-E17E-8EFC795720D2}"/>
              </a:ext>
            </a:extLst>
          </p:cNvPr>
          <p:cNvSpPr>
            <a:spLocks noGrp="1"/>
          </p:cNvSpPr>
          <p:nvPr>
            <p:ph type="sldNum" sz="quarter" idx="12"/>
          </p:nvPr>
        </p:nvSpPr>
        <p:spPr/>
        <p:txBody>
          <a:bodyPr/>
          <a:lstStyle/>
          <a:p>
            <a:fld id="{9EA0BE3B-158A-4EDF-80DC-E394A0D1600F}" type="slidenum">
              <a:rPr lang="en-US" smtClean="0"/>
              <a:pPr/>
              <a:t>11</a:t>
            </a:fld>
            <a:endParaRPr lang="en-US" dirty="0"/>
          </a:p>
        </p:txBody>
      </p:sp>
      <p:pic>
        <p:nvPicPr>
          <p:cNvPr id="9" name="Hình ảnh 8">
            <a:extLst>
              <a:ext uri="{FF2B5EF4-FFF2-40B4-BE49-F238E27FC236}">
                <a16:creationId xmlns:a16="http://schemas.microsoft.com/office/drawing/2014/main" id="{264B088D-8120-981B-0BD6-1D6CD7DC22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9502" y="869575"/>
            <a:ext cx="4038403" cy="5280212"/>
          </a:xfrm>
          <a:prstGeom prst="rect">
            <a:avLst/>
          </a:prstGeom>
        </p:spPr>
      </p:pic>
      <p:pic>
        <p:nvPicPr>
          <p:cNvPr id="11" name="Hình ảnh 10">
            <a:extLst>
              <a:ext uri="{FF2B5EF4-FFF2-40B4-BE49-F238E27FC236}">
                <a16:creationId xmlns:a16="http://schemas.microsoft.com/office/drawing/2014/main" id="{91E0DFF6-B637-4680-9E8C-10AEAF74F2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0229" y="869575"/>
            <a:ext cx="5455569" cy="5280212"/>
          </a:xfrm>
          <a:prstGeom prst="rect">
            <a:avLst/>
          </a:prstGeom>
        </p:spPr>
      </p:pic>
    </p:spTree>
    <p:extLst>
      <p:ext uri="{BB962C8B-B14F-4D97-AF65-F5344CB8AC3E}">
        <p14:creationId xmlns:p14="http://schemas.microsoft.com/office/powerpoint/2010/main" val="4225949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03201-3423-2A9F-4E26-F21C9A5F8C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FE6D5-B78B-AE04-3177-81F9B77C93C5}"/>
              </a:ext>
            </a:extLst>
          </p:cNvPr>
          <p:cNvSpPr>
            <a:spLocks noGrp="1"/>
          </p:cNvSpPr>
          <p:nvPr>
            <p:ph type="title"/>
          </p:nvPr>
        </p:nvSpPr>
        <p:spPr/>
        <p:txBody>
          <a:bodyPr/>
          <a:lstStyle/>
          <a:p>
            <a:r>
              <a:rPr lang="en-US"/>
              <a:t>4. </a:t>
            </a:r>
            <a:r>
              <a:rPr lang="vi-VN"/>
              <a:t>Backend &amp; Cơ sở dữ liệu</a:t>
            </a:r>
            <a:r>
              <a:rPr lang="en-US"/>
              <a:t> - </a:t>
            </a:r>
            <a:r>
              <a:rPr lang="en-US" b="0"/>
              <a:t>Pipeline Telemetry </a:t>
            </a:r>
            <a:br>
              <a:rPr lang="en-US" b="0"/>
            </a:br>
            <a:br>
              <a:rPr lang="en-US" b="0"/>
            </a:br>
            <a:br>
              <a:rPr lang="en-US"/>
            </a:br>
            <a:endParaRPr lang="en-US"/>
          </a:p>
        </p:txBody>
      </p:sp>
      <p:sp>
        <p:nvSpPr>
          <p:cNvPr id="5" name="Slide Number Placeholder 4">
            <a:extLst>
              <a:ext uri="{FF2B5EF4-FFF2-40B4-BE49-F238E27FC236}">
                <a16:creationId xmlns:a16="http://schemas.microsoft.com/office/drawing/2014/main" id="{EB14A473-85CA-5AA5-C515-7F8B07EBA578}"/>
              </a:ext>
            </a:extLst>
          </p:cNvPr>
          <p:cNvSpPr>
            <a:spLocks noGrp="1"/>
          </p:cNvSpPr>
          <p:nvPr>
            <p:ph type="sldNum" sz="quarter" idx="12"/>
          </p:nvPr>
        </p:nvSpPr>
        <p:spPr/>
        <p:txBody>
          <a:bodyPr/>
          <a:lstStyle/>
          <a:p>
            <a:fld id="{9EA0BE3B-158A-4EDF-80DC-E394A0D1600F}" type="slidenum">
              <a:rPr lang="en-US" smtClean="0"/>
              <a:pPr/>
              <a:t>12</a:t>
            </a:fld>
            <a:endParaRPr lang="en-US" dirty="0"/>
          </a:p>
        </p:txBody>
      </p:sp>
      <p:pic>
        <p:nvPicPr>
          <p:cNvPr id="4" name="Hình ảnh 3">
            <a:extLst>
              <a:ext uri="{FF2B5EF4-FFF2-40B4-BE49-F238E27FC236}">
                <a16:creationId xmlns:a16="http://schemas.microsoft.com/office/drawing/2014/main" id="{A0B6A6E5-71F2-BBD9-2A92-7BF55DC7F1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523" y="830941"/>
            <a:ext cx="7598954" cy="5525039"/>
          </a:xfrm>
          <a:prstGeom prst="rect">
            <a:avLst/>
          </a:prstGeom>
        </p:spPr>
      </p:pic>
    </p:spTree>
    <p:extLst>
      <p:ext uri="{BB962C8B-B14F-4D97-AF65-F5344CB8AC3E}">
        <p14:creationId xmlns:p14="http://schemas.microsoft.com/office/powerpoint/2010/main" val="3225634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E6BCD-817E-17BD-6531-D02A3E442F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57C45-47B5-1BA0-0298-71CDD062ADB3}"/>
              </a:ext>
            </a:extLst>
          </p:cNvPr>
          <p:cNvSpPr>
            <a:spLocks noGrp="1"/>
          </p:cNvSpPr>
          <p:nvPr>
            <p:ph type="title"/>
          </p:nvPr>
        </p:nvSpPr>
        <p:spPr/>
        <p:txBody>
          <a:bodyPr/>
          <a:lstStyle/>
          <a:p>
            <a:r>
              <a:rPr lang="en-US"/>
              <a:t>4. </a:t>
            </a:r>
            <a:r>
              <a:rPr lang="vi-VN"/>
              <a:t>Backend &amp; Cơ sở dữ liệu</a:t>
            </a:r>
            <a:r>
              <a:rPr lang="en-US"/>
              <a:t> – </a:t>
            </a:r>
            <a:r>
              <a:rPr lang="en-US" b="0"/>
              <a:t>kiến trúc backend</a:t>
            </a:r>
            <a:br>
              <a:rPr lang="en-US"/>
            </a:br>
            <a:br>
              <a:rPr lang="en-US"/>
            </a:br>
            <a:endParaRPr lang="en-US"/>
          </a:p>
        </p:txBody>
      </p:sp>
      <p:sp>
        <p:nvSpPr>
          <p:cNvPr id="5" name="Slide Number Placeholder 4">
            <a:extLst>
              <a:ext uri="{FF2B5EF4-FFF2-40B4-BE49-F238E27FC236}">
                <a16:creationId xmlns:a16="http://schemas.microsoft.com/office/drawing/2014/main" id="{5AF4607C-DE31-8EB4-3A89-91387E7D26C9}"/>
              </a:ext>
            </a:extLst>
          </p:cNvPr>
          <p:cNvSpPr>
            <a:spLocks noGrp="1"/>
          </p:cNvSpPr>
          <p:nvPr>
            <p:ph type="sldNum" sz="quarter" idx="12"/>
          </p:nvPr>
        </p:nvSpPr>
        <p:spPr/>
        <p:txBody>
          <a:bodyPr/>
          <a:lstStyle/>
          <a:p>
            <a:fld id="{9EA0BE3B-158A-4EDF-80DC-E394A0D1600F}" type="slidenum">
              <a:rPr lang="en-US" smtClean="0"/>
              <a:pPr/>
              <a:t>13</a:t>
            </a:fld>
            <a:endParaRPr lang="en-US" dirty="0"/>
          </a:p>
        </p:txBody>
      </p:sp>
      <p:pic>
        <p:nvPicPr>
          <p:cNvPr id="12" name="Hình ảnh 11">
            <a:extLst>
              <a:ext uri="{FF2B5EF4-FFF2-40B4-BE49-F238E27FC236}">
                <a16:creationId xmlns:a16="http://schemas.microsoft.com/office/drawing/2014/main" id="{63BA6A6C-37F2-4309-758A-91DD6E018D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648" y="831899"/>
            <a:ext cx="8202703" cy="5438679"/>
          </a:xfrm>
          <a:prstGeom prst="rect">
            <a:avLst/>
          </a:prstGeom>
        </p:spPr>
      </p:pic>
    </p:spTree>
    <p:extLst>
      <p:ext uri="{BB962C8B-B14F-4D97-AF65-F5344CB8AC3E}">
        <p14:creationId xmlns:p14="http://schemas.microsoft.com/office/powerpoint/2010/main" val="3524944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62E7D-37D1-C2BA-625D-888175C09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683E9-0EED-0A6C-F64E-CCD95997C1E8}"/>
              </a:ext>
            </a:extLst>
          </p:cNvPr>
          <p:cNvSpPr>
            <a:spLocks noGrp="1"/>
          </p:cNvSpPr>
          <p:nvPr>
            <p:ph type="title"/>
          </p:nvPr>
        </p:nvSpPr>
        <p:spPr/>
        <p:txBody>
          <a:bodyPr/>
          <a:lstStyle/>
          <a:p>
            <a:r>
              <a:rPr lang="en-US"/>
              <a:t>4. </a:t>
            </a:r>
            <a:r>
              <a:rPr lang="vi-VN"/>
              <a:t>Backend &amp; Cơ sở dữ liệu</a:t>
            </a:r>
            <a:r>
              <a:rPr lang="en-US"/>
              <a:t>  </a:t>
            </a:r>
            <a:br>
              <a:rPr lang="en-US" b="0"/>
            </a:br>
            <a:br>
              <a:rPr lang="en-US" b="0"/>
            </a:br>
            <a:br>
              <a:rPr lang="en-US" b="0"/>
            </a:br>
            <a:br>
              <a:rPr lang="en-US"/>
            </a:br>
            <a:endParaRPr lang="en-US"/>
          </a:p>
        </p:txBody>
      </p:sp>
      <p:sp>
        <p:nvSpPr>
          <p:cNvPr id="5" name="Slide Number Placeholder 4">
            <a:extLst>
              <a:ext uri="{FF2B5EF4-FFF2-40B4-BE49-F238E27FC236}">
                <a16:creationId xmlns:a16="http://schemas.microsoft.com/office/drawing/2014/main" id="{8A624539-6F1A-04EF-03F5-2C0DAEE2E4CB}"/>
              </a:ext>
            </a:extLst>
          </p:cNvPr>
          <p:cNvSpPr>
            <a:spLocks noGrp="1"/>
          </p:cNvSpPr>
          <p:nvPr>
            <p:ph type="sldNum" sz="quarter" idx="12"/>
          </p:nvPr>
        </p:nvSpPr>
        <p:spPr/>
        <p:txBody>
          <a:bodyPr/>
          <a:lstStyle/>
          <a:p>
            <a:fld id="{9EA0BE3B-158A-4EDF-80DC-E394A0D1600F}" type="slidenum">
              <a:rPr lang="en-US" smtClean="0"/>
              <a:pPr/>
              <a:t>14</a:t>
            </a:fld>
            <a:endParaRPr lang="en-US" dirty="0"/>
          </a:p>
        </p:txBody>
      </p:sp>
      <p:pic>
        <p:nvPicPr>
          <p:cNvPr id="4" name="Hình ảnh 3">
            <a:extLst>
              <a:ext uri="{FF2B5EF4-FFF2-40B4-BE49-F238E27FC236}">
                <a16:creationId xmlns:a16="http://schemas.microsoft.com/office/drawing/2014/main" id="{3C5648A2-EFE8-8DAE-544D-0BB6975941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150" y="836843"/>
            <a:ext cx="8913700" cy="4389577"/>
          </a:xfrm>
          <a:prstGeom prst="rect">
            <a:avLst/>
          </a:prstGeom>
        </p:spPr>
      </p:pic>
      <p:sp>
        <p:nvSpPr>
          <p:cNvPr id="6" name="Hộp Văn bản 5">
            <a:extLst>
              <a:ext uri="{FF2B5EF4-FFF2-40B4-BE49-F238E27FC236}">
                <a16:creationId xmlns:a16="http://schemas.microsoft.com/office/drawing/2014/main" id="{E202DD6C-3E9A-3CF7-0D34-ED06FAE853A1}"/>
              </a:ext>
            </a:extLst>
          </p:cNvPr>
          <p:cNvSpPr txBox="1"/>
          <p:nvPr/>
        </p:nvSpPr>
        <p:spPr>
          <a:xfrm>
            <a:off x="1264024" y="5172633"/>
            <a:ext cx="7575175" cy="1323439"/>
          </a:xfrm>
          <a:prstGeom prst="rect">
            <a:avLst/>
          </a:prstGeom>
          <a:noFill/>
        </p:spPr>
        <p:txBody>
          <a:bodyPr wrap="square" rtlCol="0">
            <a:spAutoFit/>
          </a:bodyPr>
          <a:lstStyle/>
          <a:p>
            <a:pPr marL="285750" indent="-285750">
              <a:buFont typeface="Arial" panose="020B0604020202020204" pitchFamily="34" charset="0"/>
              <a:buChar char="•"/>
            </a:pPr>
            <a:r>
              <a:rPr lang="en-US" sz="2000" b="1">
                <a:latin typeface="Lato" panose="020F0502020204030203" pitchFamily="34" charset="0"/>
                <a:ea typeface="Lato" panose="020F0502020204030203" pitchFamily="34" charset="0"/>
                <a:cs typeface="Lato" panose="020F0502020204030203" pitchFamily="34" charset="0"/>
              </a:rPr>
              <a:t>PostgreSQL + 2 extension</a:t>
            </a:r>
            <a:r>
              <a:rPr lang="en-US" sz="2000">
                <a:latin typeface="Lato" panose="020F0502020204030203" pitchFamily="34" charset="0"/>
                <a:ea typeface="Lato" panose="020F0502020204030203" pitchFamily="34" charset="0"/>
                <a:cs typeface="Lato" panose="020F0502020204030203" pitchFamily="34" charset="0"/>
              </a:rPr>
              <a:t> — 7 bảng</a:t>
            </a:r>
          </a:p>
          <a:p>
            <a:pPr marL="285750" indent="-285750">
              <a:buFont typeface="Arial" panose="020B0604020202020204" pitchFamily="34" charset="0"/>
              <a:buChar char="•"/>
            </a:pPr>
            <a:r>
              <a:rPr lang="en-US" sz="2000" b="1">
                <a:latin typeface="Lato" panose="020F0502020204030203" pitchFamily="34" charset="0"/>
                <a:ea typeface="Lato" panose="020F0502020204030203" pitchFamily="34" charset="0"/>
                <a:cs typeface="Lato" panose="020F0502020204030203" pitchFamily="34" charset="0"/>
              </a:rPr>
              <a:t>TimescaleDB</a:t>
            </a:r>
            <a:r>
              <a:rPr lang="en-US" sz="2000">
                <a:latin typeface="Lato" panose="020F0502020204030203" pitchFamily="34" charset="0"/>
                <a:ea typeface="Lato" panose="020F0502020204030203" pitchFamily="34" charset="0"/>
                <a:cs typeface="Lato" panose="020F0502020204030203" pitchFamily="34" charset="0"/>
              </a:rPr>
              <a:t> (hypertable tự phân mảnh, Continuous Aggregate, Retention Policy 3 tháng)</a:t>
            </a:r>
          </a:p>
          <a:p>
            <a:pPr marL="285750" indent="-285750">
              <a:buFont typeface="Arial" panose="020B0604020202020204" pitchFamily="34" charset="0"/>
              <a:buChar char="•"/>
            </a:pPr>
            <a:r>
              <a:rPr lang="en-US" sz="2000" b="1">
                <a:latin typeface="Lato" panose="020F0502020204030203" pitchFamily="34" charset="0"/>
                <a:ea typeface="Lato" panose="020F0502020204030203" pitchFamily="34" charset="0"/>
                <a:cs typeface="Lato" panose="020F0502020204030203" pitchFamily="34" charset="0"/>
              </a:rPr>
              <a:t>PostGIS</a:t>
            </a:r>
            <a:r>
              <a:rPr lang="en-US" sz="2000">
                <a:latin typeface="Lato" panose="020F0502020204030203" pitchFamily="34" charset="0"/>
                <a:ea typeface="Lato" panose="020F0502020204030203" pitchFamily="34" charset="0"/>
                <a:cs typeface="Lato" panose="020F0502020204030203" pitchFamily="34" charset="0"/>
              </a:rPr>
              <a:t> (truy vấn trạm gần nhất qua ST_DistanceSphere)</a:t>
            </a:r>
          </a:p>
        </p:txBody>
      </p:sp>
    </p:spTree>
    <p:extLst>
      <p:ext uri="{BB962C8B-B14F-4D97-AF65-F5344CB8AC3E}">
        <p14:creationId xmlns:p14="http://schemas.microsoft.com/office/powerpoint/2010/main" val="1552809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641FD-2585-38DA-0DB4-EE6250AB9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A93292-1452-D4CE-2671-724BE8B9F36D}"/>
              </a:ext>
            </a:extLst>
          </p:cNvPr>
          <p:cNvSpPr>
            <a:spLocks noGrp="1"/>
          </p:cNvSpPr>
          <p:nvPr>
            <p:ph type="title"/>
          </p:nvPr>
        </p:nvSpPr>
        <p:spPr/>
        <p:txBody>
          <a:bodyPr/>
          <a:lstStyle/>
          <a:p>
            <a:r>
              <a:rPr lang="en-US"/>
              <a:t>5. Demo giao diện - </a:t>
            </a:r>
            <a:r>
              <a:rPr lang="en-US" b="0"/>
              <a:t>Giao diện Người dùng  </a:t>
            </a:r>
            <a:br>
              <a:rPr lang="en-US" b="0"/>
            </a:br>
            <a:br>
              <a:rPr lang="en-US"/>
            </a:br>
            <a:br>
              <a:rPr lang="en-US" b="0"/>
            </a:br>
            <a:br>
              <a:rPr lang="en-US" b="0"/>
            </a:br>
            <a:br>
              <a:rPr lang="en-US"/>
            </a:br>
            <a:endParaRPr lang="en-US"/>
          </a:p>
        </p:txBody>
      </p:sp>
      <p:sp>
        <p:nvSpPr>
          <p:cNvPr id="5" name="Slide Number Placeholder 4">
            <a:extLst>
              <a:ext uri="{FF2B5EF4-FFF2-40B4-BE49-F238E27FC236}">
                <a16:creationId xmlns:a16="http://schemas.microsoft.com/office/drawing/2014/main" id="{86B60B44-F4B7-07C4-B927-E0E6F82B0190}"/>
              </a:ext>
            </a:extLst>
          </p:cNvPr>
          <p:cNvSpPr>
            <a:spLocks noGrp="1"/>
          </p:cNvSpPr>
          <p:nvPr>
            <p:ph type="sldNum" sz="quarter" idx="12"/>
          </p:nvPr>
        </p:nvSpPr>
        <p:spPr/>
        <p:txBody>
          <a:bodyPr/>
          <a:lstStyle/>
          <a:p>
            <a:fld id="{9EA0BE3B-158A-4EDF-80DC-E394A0D1600F}" type="slidenum">
              <a:rPr lang="en-US" smtClean="0"/>
              <a:pPr/>
              <a:t>15</a:t>
            </a:fld>
            <a:endParaRPr lang="en-US" dirty="0"/>
          </a:p>
        </p:txBody>
      </p:sp>
      <p:pic>
        <p:nvPicPr>
          <p:cNvPr id="4" name="Hình ảnh 3">
            <a:extLst>
              <a:ext uri="{FF2B5EF4-FFF2-40B4-BE49-F238E27FC236}">
                <a16:creationId xmlns:a16="http://schemas.microsoft.com/office/drawing/2014/main" id="{C72D5B3B-D8E1-B0A6-C6BF-21BA5150FC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077" y="941294"/>
            <a:ext cx="4336923" cy="4228103"/>
          </a:xfrm>
          <a:prstGeom prst="rect">
            <a:avLst/>
          </a:prstGeom>
        </p:spPr>
      </p:pic>
      <p:pic>
        <p:nvPicPr>
          <p:cNvPr id="7" name="Hình ảnh 6">
            <a:extLst>
              <a:ext uri="{FF2B5EF4-FFF2-40B4-BE49-F238E27FC236}">
                <a16:creationId xmlns:a16="http://schemas.microsoft.com/office/drawing/2014/main" id="{A062752B-A56C-C9B6-1E3A-9320C2238E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941294"/>
            <a:ext cx="4336923" cy="2199003"/>
          </a:xfrm>
          <a:prstGeom prst="rect">
            <a:avLst/>
          </a:prstGeom>
        </p:spPr>
      </p:pic>
      <p:pic>
        <p:nvPicPr>
          <p:cNvPr id="9" name="Hình ảnh 8">
            <a:extLst>
              <a:ext uri="{FF2B5EF4-FFF2-40B4-BE49-F238E27FC236}">
                <a16:creationId xmlns:a16="http://schemas.microsoft.com/office/drawing/2014/main" id="{1F5A6FA2-2BA7-5053-1F98-587647CB2E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0" y="3798669"/>
            <a:ext cx="4336924" cy="2255744"/>
          </a:xfrm>
          <a:prstGeom prst="rect">
            <a:avLst/>
          </a:prstGeom>
        </p:spPr>
      </p:pic>
      <p:sp>
        <p:nvSpPr>
          <p:cNvPr id="10" name="Hộp Văn bản 9">
            <a:extLst>
              <a:ext uri="{FF2B5EF4-FFF2-40B4-BE49-F238E27FC236}">
                <a16:creationId xmlns:a16="http://schemas.microsoft.com/office/drawing/2014/main" id="{5C9DA28C-FCEA-7131-21F5-B7982B67EF93}"/>
              </a:ext>
            </a:extLst>
          </p:cNvPr>
          <p:cNvSpPr txBox="1"/>
          <p:nvPr/>
        </p:nvSpPr>
        <p:spPr>
          <a:xfrm>
            <a:off x="4571999" y="3290991"/>
            <a:ext cx="4336923" cy="338554"/>
          </a:xfrm>
          <a:prstGeom prst="rect">
            <a:avLst/>
          </a:prstGeom>
          <a:noFill/>
        </p:spPr>
        <p:txBody>
          <a:bodyPr wrap="square" rtlCol="0">
            <a:spAutoFit/>
          </a:bodyPr>
          <a:lstStyle/>
          <a:p>
            <a:pPr algn="ctr"/>
            <a:r>
              <a:rPr lang="en-US" sz="1600" b="1"/>
              <a:t>Giao diện trang Xếp hạng ô </a:t>
            </a:r>
            <a:r>
              <a:rPr lang="en-US" sz="1600" b="1">
                <a:latin typeface="Lato" panose="020F0502020204030203" pitchFamily="34" charset="0"/>
                <a:ea typeface="Lato" panose="020F0502020204030203" pitchFamily="34" charset="0"/>
                <a:cs typeface="Lato" panose="020F0502020204030203" pitchFamily="34" charset="0"/>
              </a:rPr>
              <a:t>nhiễm</a:t>
            </a:r>
          </a:p>
        </p:txBody>
      </p:sp>
      <p:sp>
        <p:nvSpPr>
          <p:cNvPr id="11" name="Hộp Văn bản 10">
            <a:extLst>
              <a:ext uri="{FF2B5EF4-FFF2-40B4-BE49-F238E27FC236}">
                <a16:creationId xmlns:a16="http://schemas.microsoft.com/office/drawing/2014/main" id="{3E98610E-8481-071C-AF13-43F83C96C31C}"/>
              </a:ext>
            </a:extLst>
          </p:cNvPr>
          <p:cNvSpPr txBox="1"/>
          <p:nvPr/>
        </p:nvSpPr>
        <p:spPr>
          <a:xfrm>
            <a:off x="4571999" y="6065474"/>
            <a:ext cx="4336923" cy="338554"/>
          </a:xfrm>
          <a:prstGeom prst="rect">
            <a:avLst/>
          </a:prstGeom>
          <a:noFill/>
        </p:spPr>
        <p:txBody>
          <a:bodyPr wrap="square" rtlCol="0">
            <a:spAutoFit/>
          </a:bodyPr>
          <a:lstStyle/>
          <a:p>
            <a:pPr algn="ctr"/>
            <a:r>
              <a:rPr lang="en-US" sz="1600" b="1"/>
              <a:t>Giao diện trang Bản đồ ô </a:t>
            </a:r>
            <a:r>
              <a:rPr lang="en-US" sz="1600" b="1">
                <a:latin typeface="Lato" panose="020F0502020204030203" pitchFamily="34" charset="0"/>
                <a:ea typeface="Lato" panose="020F0502020204030203" pitchFamily="34" charset="0"/>
                <a:cs typeface="Lato" panose="020F0502020204030203" pitchFamily="34" charset="0"/>
              </a:rPr>
              <a:t>nhiễm</a:t>
            </a:r>
          </a:p>
        </p:txBody>
      </p:sp>
      <p:sp>
        <p:nvSpPr>
          <p:cNvPr id="12" name="Hộp Văn bản 11">
            <a:extLst>
              <a:ext uri="{FF2B5EF4-FFF2-40B4-BE49-F238E27FC236}">
                <a16:creationId xmlns:a16="http://schemas.microsoft.com/office/drawing/2014/main" id="{5C481502-B2CD-2285-FD62-B7F3E9BF300C}"/>
              </a:ext>
            </a:extLst>
          </p:cNvPr>
          <p:cNvSpPr txBox="1"/>
          <p:nvPr/>
        </p:nvSpPr>
        <p:spPr>
          <a:xfrm>
            <a:off x="235076" y="5186929"/>
            <a:ext cx="4336924" cy="338554"/>
          </a:xfrm>
          <a:prstGeom prst="rect">
            <a:avLst/>
          </a:prstGeom>
          <a:noFill/>
        </p:spPr>
        <p:txBody>
          <a:bodyPr wrap="square" rtlCol="0">
            <a:spAutoFit/>
          </a:bodyPr>
          <a:lstStyle/>
          <a:p>
            <a:pPr algn="ctr"/>
            <a:r>
              <a:rPr lang="en-US" sz="1600" b="1">
                <a:latin typeface="Lato" panose="020F0502020204030203" pitchFamily="34" charset="0"/>
                <a:ea typeface="Lato" panose="020F0502020204030203" pitchFamily="34" charset="0"/>
                <a:cs typeface="Lato" panose="020F0502020204030203" pitchFamily="34" charset="0"/>
              </a:rPr>
              <a:t>Dashboard chất lượng không khí</a:t>
            </a:r>
          </a:p>
        </p:txBody>
      </p:sp>
    </p:spTree>
    <p:extLst>
      <p:ext uri="{BB962C8B-B14F-4D97-AF65-F5344CB8AC3E}">
        <p14:creationId xmlns:p14="http://schemas.microsoft.com/office/powerpoint/2010/main" val="620097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F4B07-4BBC-F4C2-0B30-E9945F87F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2A51C4-5700-7C30-ABBC-89FDF71FACB0}"/>
              </a:ext>
            </a:extLst>
          </p:cNvPr>
          <p:cNvSpPr>
            <a:spLocks noGrp="1"/>
          </p:cNvSpPr>
          <p:nvPr>
            <p:ph type="title"/>
          </p:nvPr>
        </p:nvSpPr>
        <p:spPr/>
        <p:txBody>
          <a:bodyPr/>
          <a:lstStyle/>
          <a:p>
            <a:r>
              <a:rPr lang="en-US"/>
              <a:t>5. Demo giao diện – </a:t>
            </a:r>
            <a:r>
              <a:rPr lang="en-US" b="0"/>
              <a:t>Giao diện quản trị</a:t>
            </a:r>
            <a:br>
              <a:rPr lang="en-US" b="0"/>
            </a:br>
            <a:r>
              <a:rPr lang="en-US" b="0"/>
              <a:t>   </a:t>
            </a:r>
            <a:br>
              <a:rPr lang="en-US" b="0"/>
            </a:br>
            <a:br>
              <a:rPr lang="en-US"/>
            </a:br>
            <a:br>
              <a:rPr lang="en-US" b="0"/>
            </a:br>
            <a:br>
              <a:rPr lang="en-US" b="0"/>
            </a:br>
            <a:br>
              <a:rPr lang="en-US"/>
            </a:br>
            <a:endParaRPr lang="en-US"/>
          </a:p>
        </p:txBody>
      </p:sp>
      <p:sp>
        <p:nvSpPr>
          <p:cNvPr id="5" name="Slide Number Placeholder 4">
            <a:extLst>
              <a:ext uri="{FF2B5EF4-FFF2-40B4-BE49-F238E27FC236}">
                <a16:creationId xmlns:a16="http://schemas.microsoft.com/office/drawing/2014/main" id="{73041D12-DAA0-58E6-EAE1-8DCF959E8EEB}"/>
              </a:ext>
            </a:extLst>
          </p:cNvPr>
          <p:cNvSpPr>
            <a:spLocks noGrp="1"/>
          </p:cNvSpPr>
          <p:nvPr>
            <p:ph type="sldNum" sz="quarter" idx="12"/>
          </p:nvPr>
        </p:nvSpPr>
        <p:spPr/>
        <p:txBody>
          <a:bodyPr/>
          <a:lstStyle/>
          <a:p>
            <a:fld id="{9EA0BE3B-158A-4EDF-80DC-E394A0D1600F}" type="slidenum">
              <a:rPr lang="en-US" smtClean="0"/>
              <a:pPr/>
              <a:t>16</a:t>
            </a:fld>
            <a:endParaRPr lang="en-US" dirty="0"/>
          </a:p>
        </p:txBody>
      </p:sp>
      <p:pic>
        <p:nvPicPr>
          <p:cNvPr id="6" name="Hình ảnh 5">
            <a:extLst>
              <a:ext uri="{FF2B5EF4-FFF2-40B4-BE49-F238E27FC236}">
                <a16:creationId xmlns:a16="http://schemas.microsoft.com/office/drawing/2014/main" id="{9DDE3486-E384-51DD-0BB5-D2650CF2BF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078" y="1039906"/>
            <a:ext cx="4337160" cy="3514165"/>
          </a:xfrm>
          <a:prstGeom prst="rect">
            <a:avLst/>
          </a:prstGeom>
        </p:spPr>
      </p:pic>
      <p:pic>
        <p:nvPicPr>
          <p:cNvPr id="13" name="Hình ảnh 12">
            <a:extLst>
              <a:ext uri="{FF2B5EF4-FFF2-40B4-BE49-F238E27FC236}">
                <a16:creationId xmlns:a16="http://schemas.microsoft.com/office/drawing/2014/main" id="{41CD2E76-292E-055B-4549-0BDB430498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8605" y="824752"/>
            <a:ext cx="3880742" cy="2351165"/>
          </a:xfrm>
          <a:prstGeom prst="rect">
            <a:avLst/>
          </a:prstGeom>
        </p:spPr>
      </p:pic>
      <p:pic>
        <p:nvPicPr>
          <p:cNvPr id="15" name="Hình ảnh 14">
            <a:extLst>
              <a:ext uri="{FF2B5EF4-FFF2-40B4-BE49-F238E27FC236}">
                <a16:creationId xmlns:a16="http://schemas.microsoft.com/office/drawing/2014/main" id="{BD4EE90E-6D86-A583-BC48-74DFEAB2BF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8605" y="3682083"/>
            <a:ext cx="3897555" cy="2351165"/>
          </a:xfrm>
          <a:prstGeom prst="rect">
            <a:avLst/>
          </a:prstGeom>
        </p:spPr>
      </p:pic>
      <p:sp>
        <p:nvSpPr>
          <p:cNvPr id="16" name="Hộp Văn bản 15">
            <a:extLst>
              <a:ext uri="{FF2B5EF4-FFF2-40B4-BE49-F238E27FC236}">
                <a16:creationId xmlns:a16="http://schemas.microsoft.com/office/drawing/2014/main" id="{106DE6CD-AC99-ECEB-695B-D9DEDA77015D}"/>
              </a:ext>
            </a:extLst>
          </p:cNvPr>
          <p:cNvSpPr txBox="1"/>
          <p:nvPr/>
        </p:nvSpPr>
        <p:spPr>
          <a:xfrm>
            <a:off x="235076" y="4653831"/>
            <a:ext cx="4336924" cy="338554"/>
          </a:xfrm>
          <a:prstGeom prst="rect">
            <a:avLst/>
          </a:prstGeom>
          <a:noFill/>
        </p:spPr>
        <p:txBody>
          <a:bodyPr wrap="square" rtlCol="0">
            <a:spAutoFit/>
          </a:bodyPr>
          <a:lstStyle/>
          <a:p>
            <a:pPr algn="ctr"/>
            <a:r>
              <a:rPr lang="en-US" sz="1600" b="1">
                <a:latin typeface="Lato" panose="020F0502020204030203" pitchFamily="34" charset="0"/>
                <a:ea typeface="Lato" panose="020F0502020204030203" pitchFamily="34" charset="0"/>
                <a:cs typeface="Lato" panose="020F0502020204030203" pitchFamily="34" charset="0"/>
              </a:rPr>
              <a:t>Dashboard tổng quan quản trị hệ thống</a:t>
            </a:r>
          </a:p>
        </p:txBody>
      </p:sp>
      <p:sp>
        <p:nvSpPr>
          <p:cNvPr id="17" name="Hộp Văn bản 16">
            <a:extLst>
              <a:ext uri="{FF2B5EF4-FFF2-40B4-BE49-F238E27FC236}">
                <a16:creationId xmlns:a16="http://schemas.microsoft.com/office/drawing/2014/main" id="{1908B010-49EE-E09F-76EC-C2E637E0B2D9}"/>
              </a:ext>
            </a:extLst>
          </p:cNvPr>
          <p:cNvSpPr txBox="1"/>
          <p:nvPr/>
        </p:nvSpPr>
        <p:spPr>
          <a:xfrm>
            <a:off x="4479236" y="5964133"/>
            <a:ext cx="4336924" cy="338554"/>
          </a:xfrm>
          <a:prstGeom prst="rect">
            <a:avLst/>
          </a:prstGeom>
          <a:noFill/>
        </p:spPr>
        <p:txBody>
          <a:bodyPr wrap="square" rtlCol="0">
            <a:spAutoFit/>
          </a:bodyPr>
          <a:lstStyle/>
          <a:p>
            <a:pPr algn="ctr"/>
            <a:r>
              <a:rPr lang="en-US" sz="1600" b="1">
                <a:latin typeface="Lato" panose="020F0502020204030203" pitchFamily="34" charset="0"/>
                <a:ea typeface="Lato" panose="020F0502020204030203" pitchFamily="34" charset="0"/>
                <a:cs typeface="Lato" panose="020F0502020204030203" pitchFamily="34" charset="0"/>
              </a:rPr>
              <a:t>Giao diện quản lý thiết bị</a:t>
            </a:r>
          </a:p>
        </p:txBody>
      </p:sp>
      <p:sp>
        <p:nvSpPr>
          <p:cNvPr id="18" name="Hộp Văn bản 17">
            <a:extLst>
              <a:ext uri="{FF2B5EF4-FFF2-40B4-BE49-F238E27FC236}">
                <a16:creationId xmlns:a16="http://schemas.microsoft.com/office/drawing/2014/main" id="{D10EFD59-7649-6CB2-5CDD-74CD2A8432AA}"/>
              </a:ext>
            </a:extLst>
          </p:cNvPr>
          <p:cNvSpPr txBox="1"/>
          <p:nvPr/>
        </p:nvSpPr>
        <p:spPr>
          <a:xfrm>
            <a:off x="4479236" y="3177640"/>
            <a:ext cx="4336924" cy="338554"/>
          </a:xfrm>
          <a:prstGeom prst="rect">
            <a:avLst/>
          </a:prstGeom>
          <a:noFill/>
        </p:spPr>
        <p:txBody>
          <a:bodyPr wrap="square" rtlCol="0">
            <a:spAutoFit/>
          </a:bodyPr>
          <a:lstStyle/>
          <a:p>
            <a:pPr algn="ctr"/>
            <a:r>
              <a:rPr lang="en-US" sz="1600" b="1">
                <a:latin typeface="Lato" panose="020F0502020204030203" pitchFamily="34" charset="0"/>
                <a:ea typeface="Lato" panose="020F0502020204030203" pitchFamily="34" charset="0"/>
                <a:cs typeface="Lato" panose="020F0502020204030203" pitchFamily="34" charset="0"/>
              </a:rPr>
              <a:t>Giao diện giám sát cảnh báo</a:t>
            </a:r>
          </a:p>
        </p:txBody>
      </p:sp>
    </p:spTree>
    <p:extLst>
      <p:ext uri="{BB962C8B-B14F-4D97-AF65-F5344CB8AC3E}">
        <p14:creationId xmlns:p14="http://schemas.microsoft.com/office/powerpoint/2010/main" val="1514990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a:t>6. Kiểm thử &amp; Thực nghiệm</a:t>
            </a:r>
          </a:p>
        </p:txBody>
      </p:sp>
      <p:pic>
        <p:nvPicPr>
          <p:cNvPr id="16" name="Chỗ dành sẵn cho Nội dung 15">
            <a:extLst>
              <a:ext uri="{FF2B5EF4-FFF2-40B4-BE49-F238E27FC236}">
                <a16:creationId xmlns:a16="http://schemas.microsoft.com/office/drawing/2014/main" id="{5EE6A415-594E-D964-D458-AD7AAB86212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73206" y="1174495"/>
            <a:ext cx="7597588" cy="3403085"/>
          </a:xfrm>
          <a:prstGeom prst="rect">
            <a:avLst/>
          </a:prstGeom>
        </p:spPr>
      </p:pic>
      <p:sp>
        <p:nvSpPr>
          <p:cNvPr id="17" name="Hộp Văn bản 16">
            <a:extLst>
              <a:ext uri="{FF2B5EF4-FFF2-40B4-BE49-F238E27FC236}">
                <a16:creationId xmlns:a16="http://schemas.microsoft.com/office/drawing/2014/main" id="{A227DED9-3FD0-BE03-17D6-AD8A57B304E2}"/>
              </a:ext>
            </a:extLst>
          </p:cNvPr>
          <p:cNvSpPr txBox="1"/>
          <p:nvPr/>
        </p:nvSpPr>
        <p:spPr>
          <a:xfrm>
            <a:off x="235077" y="4563035"/>
            <a:ext cx="8673846" cy="1631216"/>
          </a:xfrm>
          <a:prstGeom prst="rect">
            <a:avLst/>
          </a:prstGeom>
          <a:noFill/>
        </p:spPr>
        <p:txBody>
          <a:bodyPr wrap="square" rtlCol="0">
            <a:spAutoFit/>
          </a:bodyPr>
          <a:lstStyle/>
          <a:p>
            <a:r>
              <a:rPr lang="en-US" sz="2000" b="1">
                <a:latin typeface="Lato" panose="020F0502020204030203" pitchFamily="34" charset="0"/>
                <a:ea typeface="Lato" panose="020F0502020204030203" pitchFamily="34" charset="0"/>
                <a:cs typeface="Lato" panose="020F0502020204030203" pitchFamily="34" charset="0"/>
              </a:rPr>
              <a:t>Các chức năng -</a:t>
            </a:r>
            <a:r>
              <a:rPr lang="en-US" sz="2000">
                <a:latin typeface="Lato" panose="020F0502020204030203" pitchFamily="34" charset="0"/>
                <a:ea typeface="Lato" panose="020F0502020204030203" pitchFamily="34" charset="0"/>
                <a:cs typeface="Lato" panose="020F0502020204030203" pitchFamily="34" charset="0"/>
              </a:rPr>
              <a:t> Dashboard, Quản lý thiết bị, Cảnh báo, Lịch sử, Bản đồ, Xuất CSV hoạt động ổn định</a:t>
            </a:r>
          </a:p>
          <a:p>
            <a:r>
              <a:rPr lang="en-US" sz="2000" b="1">
                <a:latin typeface="Lato" panose="020F0502020204030203" pitchFamily="34" charset="0"/>
                <a:ea typeface="Lato" panose="020F0502020204030203" pitchFamily="34" charset="0"/>
                <a:cs typeface="Lato" panose="020F0502020204030203" pitchFamily="34" charset="0"/>
              </a:rPr>
              <a:t>Triển khai Docker Compose</a:t>
            </a:r>
            <a:r>
              <a:rPr lang="en-US" sz="2000">
                <a:latin typeface="Lato" panose="020F0502020204030203" pitchFamily="34" charset="0"/>
                <a:ea typeface="Lato" panose="020F0502020204030203" pitchFamily="34" charset="0"/>
                <a:cs typeface="Lato" panose="020F0502020204030203" pitchFamily="34" charset="0"/>
              </a:rPr>
              <a:t> — 4 container: database (PosgreSQL), backend (Node.js), nginx, certbot</a:t>
            </a:r>
          </a:p>
          <a:p>
            <a:r>
              <a:rPr lang="en-US" sz="2000" b="1">
                <a:latin typeface="Lato" panose="020F0502020204030203" pitchFamily="34" charset="0"/>
                <a:ea typeface="Lato" panose="020F0502020204030203" pitchFamily="34" charset="0"/>
                <a:cs typeface="Lato" panose="020F0502020204030203" pitchFamily="34" charset="0"/>
              </a:rPr>
              <a:t>VPS DigitalOcean</a:t>
            </a:r>
            <a:r>
              <a:rPr lang="en-US" sz="2000">
                <a:latin typeface="Lato" panose="020F0502020204030203" pitchFamily="34" charset="0"/>
                <a:ea typeface="Lato" panose="020F0502020204030203" pitchFamily="34" charset="0"/>
                <a:cs typeface="Lato" panose="020F0502020204030203" pitchFamily="34" charset="0"/>
              </a:rPr>
              <a:t> — Ubuntu 22.04; domain </a:t>
            </a:r>
            <a:r>
              <a:rPr lang="en-US" sz="2000" i="1">
                <a:latin typeface="Lato" panose="020F0502020204030203" pitchFamily="34" charset="0"/>
                <a:ea typeface="Lato" panose="020F0502020204030203" pitchFamily="34" charset="0"/>
                <a:cs typeface="Lato" panose="020F0502020204030203" pitchFamily="34" charset="0"/>
              </a:rPr>
              <a:t>datn.thamnguyen.dev</a:t>
            </a:r>
          </a:p>
        </p:txBody>
      </p:sp>
    </p:spTree>
    <p:extLst>
      <p:ext uri="{BB962C8B-B14F-4D97-AF65-F5344CB8AC3E}">
        <p14:creationId xmlns:p14="http://schemas.microsoft.com/office/powerpoint/2010/main" val="1341840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155FC-F88E-8225-36D4-F04F925EF3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57C0D6-8112-6CAB-29AA-C353F160239B}"/>
              </a:ext>
            </a:extLst>
          </p:cNvPr>
          <p:cNvSpPr>
            <a:spLocks noGrp="1"/>
          </p:cNvSpPr>
          <p:nvPr>
            <p:ph type="title"/>
          </p:nvPr>
        </p:nvSpPr>
        <p:spPr/>
        <p:txBody>
          <a:bodyPr/>
          <a:lstStyle/>
          <a:p>
            <a:r>
              <a:rPr lang="en-US"/>
              <a:t>6. Kiểm thử &amp; Thực nghiệm</a:t>
            </a:r>
          </a:p>
        </p:txBody>
      </p:sp>
      <p:sp>
        <p:nvSpPr>
          <p:cNvPr id="5" name="Slide Number Placeholder 4">
            <a:extLst>
              <a:ext uri="{FF2B5EF4-FFF2-40B4-BE49-F238E27FC236}">
                <a16:creationId xmlns:a16="http://schemas.microsoft.com/office/drawing/2014/main" id="{B493CD3E-ED01-4665-78F0-4074F6D48788}"/>
              </a:ext>
            </a:extLst>
          </p:cNvPr>
          <p:cNvSpPr>
            <a:spLocks noGrp="1"/>
          </p:cNvSpPr>
          <p:nvPr>
            <p:ph type="sldNum" sz="quarter" idx="12"/>
          </p:nvPr>
        </p:nvSpPr>
        <p:spPr/>
        <p:txBody>
          <a:bodyPr/>
          <a:lstStyle/>
          <a:p>
            <a:fld id="{9EA0BE3B-158A-4EDF-80DC-E394A0D1600F}" type="slidenum">
              <a:rPr lang="en-US" smtClean="0"/>
              <a:pPr/>
              <a:t>18</a:t>
            </a:fld>
            <a:endParaRPr lang="en-US" dirty="0"/>
          </a:p>
        </p:txBody>
      </p:sp>
      <p:graphicFrame>
        <p:nvGraphicFramePr>
          <p:cNvPr id="3" name="Bảng 2">
            <a:extLst>
              <a:ext uri="{FF2B5EF4-FFF2-40B4-BE49-F238E27FC236}">
                <a16:creationId xmlns:a16="http://schemas.microsoft.com/office/drawing/2014/main" id="{85E5D9F8-4736-A5E3-33D1-E2EB0ADB943B}"/>
              </a:ext>
            </a:extLst>
          </p:cNvPr>
          <p:cNvGraphicFramePr>
            <a:graphicFrameLocks noGrp="1"/>
          </p:cNvGraphicFramePr>
          <p:nvPr>
            <p:extLst>
              <p:ext uri="{D42A27DB-BD31-4B8C-83A1-F6EECF244321}">
                <p14:modId xmlns:p14="http://schemas.microsoft.com/office/powerpoint/2010/main" val="57964132"/>
              </p:ext>
            </p:extLst>
          </p:nvPr>
        </p:nvGraphicFramePr>
        <p:xfrm>
          <a:off x="4223497" y="4362572"/>
          <a:ext cx="4857750" cy="1280160"/>
        </p:xfrm>
        <a:graphic>
          <a:graphicData uri="http://schemas.openxmlformats.org/drawingml/2006/table">
            <a:tbl>
              <a:tblPr firstRow="1" bandRow="1">
                <a:tableStyleId>{21E4AEA4-8DFA-4A89-87EB-49C32662AFE0}</a:tableStyleId>
              </a:tblPr>
              <a:tblGrid>
                <a:gridCol w="1533525">
                  <a:extLst>
                    <a:ext uri="{9D8B030D-6E8A-4147-A177-3AD203B41FA5}">
                      <a16:colId xmlns:a16="http://schemas.microsoft.com/office/drawing/2014/main" val="3169152989"/>
                    </a:ext>
                  </a:extLst>
                </a:gridCol>
                <a:gridCol w="798513">
                  <a:extLst>
                    <a:ext uri="{9D8B030D-6E8A-4147-A177-3AD203B41FA5}">
                      <a16:colId xmlns:a16="http://schemas.microsoft.com/office/drawing/2014/main" val="2892725871"/>
                    </a:ext>
                  </a:extLst>
                </a:gridCol>
                <a:gridCol w="838200">
                  <a:extLst>
                    <a:ext uri="{9D8B030D-6E8A-4147-A177-3AD203B41FA5}">
                      <a16:colId xmlns:a16="http://schemas.microsoft.com/office/drawing/2014/main" val="3786411361"/>
                    </a:ext>
                  </a:extLst>
                </a:gridCol>
                <a:gridCol w="841375">
                  <a:extLst>
                    <a:ext uri="{9D8B030D-6E8A-4147-A177-3AD203B41FA5}">
                      <a16:colId xmlns:a16="http://schemas.microsoft.com/office/drawing/2014/main" val="3635295570"/>
                    </a:ext>
                  </a:extLst>
                </a:gridCol>
                <a:gridCol w="846137">
                  <a:extLst>
                    <a:ext uri="{9D8B030D-6E8A-4147-A177-3AD203B41FA5}">
                      <a16:colId xmlns:a16="http://schemas.microsoft.com/office/drawing/2014/main" val="2988237240"/>
                    </a:ext>
                  </a:extLst>
                </a:gridCol>
              </a:tblGrid>
              <a:tr h="0">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Môi trường</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PM2.5</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eCO₂</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eTVOC</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AQI</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extLst>
                  <a:ext uri="{0D108BD9-81ED-4DB2-BD59-A6C34878D82A}">
                    <a16:rowId xmlns:a16="http://schemas.microsoft.com/office/drawing/2014/main" val="1734959430"/>
                  </a:ext>
                </a:extLst>
              </a:tr>
              <a:tr h="0">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Ven đường</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22,0</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844,5</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70,8</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72</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extLst>
                  <a:ext uri="{0D108BD9-81ED-4DB2-BD59-A6C34878D82A}">
                    <a16:rowId xmlns:a16="http://schemas.microsoft.com/office/drawing/2014/main" val="2919863696"/>
                  </a:ext>
                </a:extLst>
              </a:tr>
              <a:tr h="0">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Phòng khách</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15,1</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451,3</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7,4</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57</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extLst>
                  <a:ext uri="{0D108BD9-81ED-4DB2-BD59-A6C34878D82A}">
                    <a16:rowId xmlns:a16="http://schemas.microsoft.com/office/drawing/2014/main" val="2408508127"/>
                  </a:ext>
                </a:extLst>
              </a:tr>
              <a:tr h="0">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Bếp (đang nấu)</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16,1</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1010,7</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94,8</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tc>
                  <a:txBody>
                    <a:bodyPr/>
                    <a:lstStyle/>
                    <a:p>
                      <a:pPr algn="ctr">
                        <a:buNone/>
                      </a:pPr>
                      <a:r>
                        <a:rPr lang="en-US" sz="1600" b="0">
                          <a:solidFill>
                            <a:srgbClr val="000000"/>
                          </a:solidFill>
                          <a:effectLst/>
                          <a:latin typeface="Lato" panose="020F0502020204030203" pitchFamily="34" charset="0"/>
                          <a:ea typeface="Lato" panose="020F0502020204030203" pitchFamily="34" charset="0"/>
                          <a:cs typeface="Lato" panose="020F0502020204030203" pitchFamily="34" charset="0"/>
                        </a:rPr>
                        <a:t>59</a:t>
                      </a:r>
                      <a:endParaRPr lang="en-US" sz="1600" b="0" i="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tc>
                <a:extLst>
                  <a:ext uri="{0D108BD9-81ED-4DB2-BD59-A6C34878D82A}">
                    <a16:rowId xmlns:a16="http://schemas.microsoft.com/office/drawing/2014/main" val="4112283025"/>
                  </a:ext>
                </a:extLst>
              </a:tr>
            </a:tbl>
          </a:graphicData>
        </a:graphic>
      </p:graphicFrame>
      <p:sp>
        <p:nvSpPr>
          <p:cNvPr id="7" name="Hộp Văn bản 6">
            <a:extLst>
              <a:ext uri="{FF2B5EF4-FFF2-40B4-BE49-F238E27FC236}">
                <a16:creationId xmlns:a16="http://schemas.microsoft.com/office/drawing/2014/main" id="{E1B9846B-7ABA-B00B-9ACF-DE72D532BF6C}"/>
              </a:ext>
            </a:extLst>
          </p:cNvPr>
          <p:cNvSpPr txBox="1"/>
          <p:nvPr/>
        </p:nvSpPr>
        <p:spPr>
          <a:xfrm>
            <a:off x="235077" y="1057835"/>
            <a:ext cx="4336923" cy="3785652"/>
          </a:xfrm>
          <a:prstGeom prst="rect">
            <a:avLst/>
          </a:prstGeom>
          <a:noFill/>
        </p:spPr>
        <p:txBody>
          <a:bodyPr wrap="square" rtlCol="0">
            <a:spAutoFit/>
          </a:bodyPr>
          <a:lstStyle/>
          <a:p>
            <a:pPr marL="342900" indent="-342900">
              <a:buFont typeface="Arial" panose="020B0604020202020204" pitchFamily="34" charset="0"/>
              <a:buChar char="•"/>
            </a:pPr>
            <a:r>
              <a:rPr lang="en-US" sz="2000" b="1">
                <a:latin typeface="Lato" panose="020F0502020204030203" pitchFamily="34" charset="0"/>
                <a:ea typeface="Lato" panose="020F0502020204030203" pitchFamily="34" charset="0"/>
                <a:cs typeface="Lato" panose="020F0502020204030203" pitchFamily="34" charset="0"/>
              </a:rPr>
              <a:t>Kịch bản khói hương</a:t>
            </a:r>
            <a:r>
              <a:rPr lang="en-US" sz="2000">
                <a:latin typeface="Lato" panose="020F0502020204030203" pitchFamily="34" charset="0"/>
                <a:ea typeface="Lato" panose="020F0502020204030203" pitchFamily="34" charset="0"/>
                <a:cs typeface="Lato" panose="020F0502020204030203" pitchFamily="34" charset="0"/>
              </a:rPr>
              <a:t> — PM2.5 tăng từ 18 → 416 µg/m³ trong 1 phút (×20 lần) </a:t>
            </a:r>
          </a:p>
          <a:p>
            <a:pPr marL="342900" indent="-342900">
              <a:buFont typeface="Arial" panose="020B0604020202020204" pitchFamily="34" charset="0"/>
              <a:buChar char="•"/>
            </a:pPr>
            <a:r>
              <a:rPr lang="en-US" sz="2000" b="1">
                <a:latin typeface="Lato" panose="020F0502020204030203" pitchFamily="34" charset="0"/>
                <a:ea typeface="Lato" panose="020F0502020204030203" pitchFamily="34" charset="0"/>
                <a:cs typeface="Lato" panose="020F0502020204030203" pitchFamily="34" charset="0"/>
              </a:rPr>
              <a:t>Đo đạc đa môi trường</a:t>
            </a:r>
            <a:r>
              <a:rPr lang="en-US" sz="2000">
                <a:latin typeface="Lato" panose="020F0502020204030203" pitchFamily="34" charset="0"/>
                <a:ea typeface="Lato" panose="020F0502020204030203" pitchFamily="34" charset="0"/>
                <a:cs typeface="Lato" panose="020F0502020204030203" pitchFamily="34" charset="0"/>
              </a:rPr>
              <a:t> — 3 môi trường: ven đường, phòng khách, bếp nấu ăn </a:t>
            </a:r>
          </a:p>
          <a:p>
            <a:pPr marL="342900" indent="-342900">
              <a:buFont typeface="Arial" panose="020B0604020202020204" pitchFamily="34" charset="0"/>
              <a:buChar char="•"/>
            </a:pPr>
            <a:r>
              <a:rPr lang="en-US" sz="2000" b="1">
                <a:latin typeface="Lato" panose="020F0502020204030203" pitchFamily="34" charset="0"/>
                <a:ea typeface="Lato" panose="020F0502020204030203" pitchFamily="34" charset="0"/>
                <a:cs typeface="Lato" panose="020F0502020204030203" pitchFamily="34" charset="0"/>
              </a:rPr>
              <a:t>Pin &amp; Deep-sleep</a:t>
            </a:r>
            <a:r>
              <a:rPr lang="en-US" sz="2000">
                <a:latin typeface="Lato" panose="020F0502020204030203" pitchFamily="34" charset="0"/>
                <a:ea typeface="Lato" panose="020F0502020204030203" pitchFamily="34" charset="0"/>
                <a:cs typeface="Lato" panose="020F0502020204030203" pitchFamily="34" charset="0"/>
              </a:rPr>
              <a:t> —chu kỳ 30 phút → hoạt động liên tục </a:t>
            </a:r>
            <a:r>
              <a:rPr lang="en-US" sz="2000" b="1">
                <a:latin typeface="Lato" panose="020F0502020204030203" pitchFamily="34" charset="0"/>
                <a:ea typeface="Lato" panose="020F0502020204030203" pitchFamily="34" charset="0"/>
                <a:cs typeface="Lato" panose="020F0502020204030203" pitchFamily="34" charset="0"/>
              </a:rPr>
              <a:t>20,5 giờ</a:t>
            </a:r>
            <a:r>
              <a:rPr lang="en-US" sz="2000">
                <a:latin typeface="Lato" panose="020F0502020204030203" pitchFamily="34" charset="0"/>
                <a:ea typeface="Lato" panose="020F0502020204030203" pitchFamily="34" charset="0"/>
                <a:cs typeface="Lato" panose="020F0502020204030203" pitchFamily="34" charset="0"/>
              </a:rPr>
              <a:t> (~41 lần đo)</a:t>
            </a:r>
          </a:p>
          <a:p>
            <a:pPr marL="342900" indent="-342900">
              <a:buFont typeface="Arial" panose="020B0604020202020204" pitchFamily="34" charset="0"/>
              <a:buChar char="•"/>
            </a:pPr>
            <a:r>
              <a:rPr lang="en-US" sz="2000" b="1">
                <a:latin typeface="Lato" panose="020F0502020204030203" pitchFamily="34" charset="0"/>
                <a:ea typeface="Lato" panose="020F0502020204030203" pitchFamily="34" charset="0"/>
                <a:cs typeface="Lato" panose="020F0502020204030203" pitchFamily="34" charset="0"/>
              </a:rPr>
              <a:t>Khoảng cách LoRa</a:t>
            </a:r>
            <a:r>
              <a:rPr lang="en-US" sz="2000">
                <a:latin typeface="Lato" panose="020F0502020204030203" pitchFamily="34" charset="0"/>
                <a:ea typeface="Lato" panose="020F0502020204030203" pitchFamily="34" charset="0"/>
                <a:cs typeface="Lato" panose="020F0502020204030203" pitchFamily="34" charset="0"/>
              </a:rPr>
              <a:t> — Đạt </a:t>
            </a:r>
            <a:r>
              <a:rPr lang="en-US" sz="2000" b="1">
                <a:latin typeface="Lato" panose="020F0502020204030203" pitchFamily="34" charset="0"/>
                <a:ea typeface="Lato" panose="020F0502020204030203" pitchFamily="34" charset="0"/>
                <a:cs typeface="Lato" panose="020F0502020204030203" pitchFamily="34" charset="0"/>
              </a:rPr>
              <a:t>800m</a:t>
            </a:r>
            <a:r>
              <a:rPr lang="en-US" sz="2000">
                <a:latin typeface="Lato" panose="020F0502020204030203" pitchFamily="34" charset="0"/>
                <a:ea typeface="Lato" panose="020F0502020204030203" pitchFamily="34" charset="0"/>
                <a:cs typeface="Lato" panose="020F0502020204030203" pitchFamily="34" charset="0"/>
              </a:rPr>
              <a:t> trong không gian thoáng</a:t>
            </a:r>
          </a:p>
        </p:txBody>
      </p:sp>
      <p:pic>
        <p:nvPicPr>
          <p:cNvPr id="9" name="Hình ảnh 8">
            <a:extLst>
              <a:ext uri="{FF2B5EF4-FFF2-40B4-BE49-F238E27FC236}">
                <a16:creationId xmlns:a16="http://schemas.microsoft.com/office/drawing/2014/main" id="{CF2C897A-4FEC-1D3A-2DFE-FF3A1E5672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862650"/>
            <a:ext cx="4223497" cy="3167623"/>
          </a:xfrm>
          <a:prstGeom prst="rect">
            <a:avLst/>
          </a:prstGeom>
        </p:spPr>
      </p:pic>
    </p:spTree>
    <p:extLst>
      <p:ext uri="{BB962C8B-B14F-4D97-AF65-F5344CB8AC3E}">
        <p14:creationId xmlns:p14="http://schemas.microsoft.com/office/powerpoint/2010/main" val="2918209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500"/>
                                        <p:tgtEl>
                                          <p:spTgt spid="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500"/>
                                        <p:tgtEl>
                                          <p:spTgt spid="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3" end="3"/>
                                            </p:txEl>
                                          </p:spTgt>
                                        </p:tgtEl>
                                        <p:attrNameLst>
                                          <p:attrName>style.visibility</p:attrName>
                                        </p:attrNameLst>
                                      </p:cBhvr>
                                      <p:to>
                                        <p:strVal val="visible"/>
                                      </p:to>
                                    </p:set>
                                    <p:animEffect transition="in" filter="fade">
                                      <p:cBhvr>
                                        <p:cTn id="30"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E8099-B141-8DDF-5432-9291A4AC5D0D}"/>
            </a:ext>
          </a:extLst>
        </p:cNvPr>
        <p:cNvGrpSpPr/>
        <p:nvPr/>
      </p:nvGrpSpPr>
      <p:grpSpPr>
        <a:xfrm>
          <a:off x="0" y="0"/>
          <a:ext cx="0" cy="0"/>
          <a:chOff x="0" y="0"/>
          <a:chExt cx="0" cy="0"/>
        </a:xfrm>
      </p:grpSpPr>
      <p:pic>
        <p:nvPicPr>
          <p:cNvPr id="14" name="Chỗ dành sẵn cho Nội dung 6">
            <a:extLst>
              <a:ext uri="{FF2B5EF4-FFF2-40B4-BE49-F238E27FC236}">
                <a16:creationId xmlns:a16="http://schemas.microsoft.com/office/drawing/2014/main" id="{4CCA642A-F530-7C6D-1A2A-A159166D7216}"/>
              </a:ext>
            </a:extLst>
          </p:cNvPr>
          <p:cNvPicPr>
            <a:picLocks noChangeAspect="1"/>
          </p:cNvPicPr>
          <p:nvPr/>
        </p:nvPicPr>
        <p:blipFill>
          <a:blip r:embed="rId3"/>
          <a:srcRect t="5186"/>
          <a:stretch>
            <a:fillRect/>
          </a:stretch>
        </p:blipFill>
        <p:spPr>
          <a:xfrm>
            <a:off x="13549" y="842682"/>
            <a:ext cx="8956186" cy="5468471"/>
          </a:xfrm>
          <a:prstGeom prst="rect">
            <a:avLst/>
          </a:prstGeom>
        </p:spPr>
      </p:pic>
      <p:sp>
        <p:nvSpPr>
          <p:cNvPr id="2" name="Title 1">
            <a:extLst>
              <a:ext uri="{FF2B5EF4-FFF2-40B4-BE49-F238E27FC236}">
                <a16:creationId xmlns:a16="http://schemas.microsoft.com/office/drawing/2014/main" id="{0AAEAD7D-EE21-9E6F-F0B7-3635E7395B5D}"/>
              </a:ext>
            </a:extLst>
          </p:cNvPr>
          <p:cNvSpPr>
            <a:spLocks noGrp="1"/>
          </p:cNvSpPr>
          <p:nvPr>
            <p:ph type="title"/>
          </p:nvPr>
        </p:nvSpPr>
        <p:spPr/>
        <p:txBody>
          <a:bodyPr/>
          <a:lstStyle/>
          <a:p>
            <a:r>
              <a:rPr lang="en-US"/>
              <a:t>7. Đóng góp &amp; Kết luận</a:t>
            </a:r>
            <a:br>
              <a:rPr lang="en-US"/>
            </a:br>
            <a:endParaRPr lang="en-US"/>
          </a:p>
        </p:txBody>
      </p:sp>
      <p:sp>
        <p:nvSpPr>
          <p:cNvPr id="5" name="Slide Number Placeholder 4">
            <a:extLst>
              <a:ext uri="{FF2B5EF4-FFF2-40B4-BE49-F238E27FC236}">
                <a16:creationId xmlns:a16="http://schemas.microsoft.com/office/drawing/2014/main" id="{DE7DD016-B3D0-066C-DD67-2AAF6E7EC0F8}"/>
              </a:ext>
            </a:extLst>
          </p:cNvPr>
          <p:cNvSpPr>
            <a:spLocks noGrp="1"/>
          </p:cNvSpPr>
          <p:nvPr>
            <p:ph type="sldNum" sz="quarter" idx="12"/>
          </p:nvPr>
        </p:nvSpPr>
        <p:spPr/>
        <p:txBody>
          <a:bodyPr/>
          <a:lstStyle/>
          <a:p>
            <a:fld id="{9EA0BE3B-158A-4EDF-80DC-E394A0D1600F}" type="slidenum">
              <a:rPr lang="en-US" smtClean="0"/>
              <a:pPr/>
              <a:t>19</a:t>
            </a:fld>
            <a:endParaRPr lang="en-US" dirty="0"/>
          </a:p>
        </p:txBody>
      </p:sp>
      <p:pic>
        <p:nvPicPr>
          <p:cNvPr id="6" name="Hình ảnh 5">
            <a:extLst>
              <a:ext uri="{FF2B5EF4-FFF2-40B4-BE49-F238E27FC236}">
                <a16:creationId xmlns:a16="http://schemas.microsoft.com/office/drawing/2014/main" id="{C85AB2DB-9FA2-9495-A58A-CC64EB4189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0202" y="842682"/>
            <a:ext cx="1780990" cy="1335742"/>
          </a:xfrm>
          <a:prstGeom prst="rect">
            <a:avLst/>
          </a:prstGeom>
        </p:spPr>
      </p:pic>
      <p:sp>
        <p:nvSpPr>
          <p:cNvPr id="11" name="Hộp Văn bản 10">
            <a:extLst>
              <a:ext uri="{FF2B5EF4-FFF2-40B4-BE49-F238E27FC236}">
                <a16:creationId xmlns:a16="http://schemas.microsoft.com/office/drawing/2014/main" id="{50973F03-F998-D6B2-7971-58C96A615FCB}"/>
              </a:ext>
            </a:extLst>
          </p:cNvPr>
          <p:cNvSpPr txBox="1"/>
          <p:nvPr/>
        </p:nvSpPr>
        <p:spPr>
          <a:xfrm>
            <a:off x="3899544" y="4562422"/>
            <a:ext cx="5136878" cy="1631216"/>
          </a:xfrm>
          <a:prstGeom prst="rect">
            <a:avLst/>
          </a:prstGeom>
          <a:noFill/>
        </p:spPr>
        <p:txBody>
          <a:bodyPr wrap="square" rtlCol="0">
            <a:spAutoFit/>
          </a:bodyPr>
          <a:lstStyle/>
          <a:p>
            <a:pPr marL="342900" indent="-342900">
              <a:buFont typeface="Arial" panose="020B0604020202020204" pitchFamily="34" charset="0"/>
              <a:buChar char="•"/>
            </a:pPr>
            <a:r>
              <a:rPr lang="en-US" sz="2000" b="1">
                <a:latin typeface="Lato" panose="020F0502020204030203" pitchFamily="34" charset="0"/>
                <a:ea typeface="Lato" panose="020F0502020204030203" pitchFamily="34" charset="0"/>
                <a:cs typeface="Lato" panose="020F0502020204030203" pitchFamily="34" charset="0"/>
              </a:rPr>
              <a:t>Hệ thống IoT end-to-end</a:t>
            </a:r>
            <a:r>
              <a:rPr lang="en-US" sz="2000">
                <a:latin typeface="Lato" panose="020F0502020204030203" pitchFamily="34" charset="0"/>
                <a:ea typeface="Lato" panose="020F0502020204030203" pitchFamily="34" charset="0"/>
                <a:cs typeface="Lato" panose="020F0502020204030203" pitchFamily="34" charset="0"/>
              </a:rPr>
              <a:t> </a:t>
            </a:r>
          </a:p>
          <a:p>
            <a:pPr marL="342900" indent="-342900">
              <a:buFont typeface="Arial" panose="020B0604020202020204" pitchFamily="34" charset="0"/>
              <a:buChar char="•"/>
            </a:pPr>
            <a:r>
              <a:rPr lang="en-US" sz="2000" b="1">
                <a:latin typeface="Lato" panose="020F0502020204030203" pitchFamily="34" charset="0"/>
                <a:ea typeface="Lato" panose="020F0502020204030203" pitchFamily="34" charset="0"/>
                <a:cs typeface="Lato" panose="020F0502020204030203" pitchFamily="34" charset="0"/>
              </a:rPr>
              <a:t>Giao thức LoRa binary 18 byte</a:t>
            </a:r>
            <a:r>
              <a:rPr lang="en-US" sz="2000">
                <a:latin typeface="Lato" panose="020F0502020204030203" pitchFamily="34" charset="0"/>
                <a:ea typeface="Lato" panose="020F0502020204030203" pitchFamily="34" charset="0"/>
                <a:cs typeface="Lato" panose="020F0502020204030203" pitchFamily="34" charset="0"/>
              </a:rPr>
              <a:t> deduplication bằng (nodeId, msgId) </a:t>
            </a:r>
          </a:p>
          <a:p>
            <a:pPr marL="342900" indent="-342900">
              <a:buFont typeface="Arial" panose="020B0604020202020204" pitchFamily="34" charset="0"/>
              <a:buChar char="•"/>
            </a:pPr>
            <a:r>
              <a:rPr lang="en-US" sz="2000" b="1">
                <a:latin typeface="Lato" panose="020F0502020204030203" pitchFamily="34" charset="0"/>
                <a:ea typeface="Lato" panose="020F0502020204030203" pitchFamily="34" charset="0"/>
                <a:cs typeface="Lato" panose="020F0502020204030203" pitchFamily="34" charset="0"/>
              </a:rPr>
              <a:t>Pipeline telemetry </a:t>
            </a:r>
          </a:p>
          <a:p>
            <a:pPr marL="342900" indent="-342900">
              <a:buFont typeface="Arial" panose="020B0604020202020204" pitchFamily="34" charset="0"/>
              <a:buChar char="•"/>
            </a:pPr>
            <a:r>
              <a:rPr lang="en-US" sz="2000" b="1">
                <a:latin typeface="Lato" panose="020F0502020204030203" pitchFamily="34" charset="0"/>
                <a:ea typeface="Lato" panose="020F0502020204030203" pitchFamily="34" charset="0"/>
                <a:cs typeface="Lato" panose="020F0502020204030203" pitchFamily="34" charset="0"/>
              </a:rPr>
              <a:t>Chi phí thấp </a:t>
            </a:r>
            <a:r>
              <a:rPr lang="en-US" sz="2000">
                <a:latin typeface="Lato" panose="020F0502020204030203" pitchFamily="34" charset="0"/>
                <a:ea typeface="Lato" panose="020F0502020204030203" pitchFamily="34" charset="0"/>
                <a:cs typeface="Lato" panose="020F0502020204030203" pitchFamily="34" charset="0"/>
              </a:rPr>
              <a:t>~</a:t>
            </a:r>
            <a:r>
              <a:rPr lang="en-US" sz="2000" b="1">
                <a:latin typeface="Lato" panose="020F0502020204030203" pitchFamily="34" charset="0"/>
                <a:ea typeface="Lato" panose="020F0502020204030203" pitchFamily="34" charset="0"/>
                <a:cs typeface="Lato" panose="020F0502020204030203" pitchFamily="34" charset="0"/>
              </a:rPr>
              <a:t>875K VNĐ</a:t>
            </a:r>
            <a:r>
              <a:rPr lang="en-US" sz="2000">
                <a:latin typeface="Lato" panose="020F0502020204030203" pitchFamily="34" charset="0"/>
                <a:ea typeface="Lato" panose="020F0502020204030203" pitchFamily="34" charset="0"/>
                <a:cs typeface="Lato" panose="020F0502020204030203" pitchFamily="34" charset="0"/>
              </a:rPr>
              <a:t>/node </a:t>
            </a:r>
          </a:p>
        </p:txBody>
      </p:sp>
    </p:spTree>
    <p:extLst>
      <p:ext uri="{BB962C8B-B14F-4D97-AF65-F5344CB8AC3E}">
        <p14:creationId xmlns:p14="http://schemas.microsoft.com/office/powerpoint/2010/main" val="2085330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922CF-E7AD-817B-17D9-6BB8337C3F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1F44C-1780-FF8C-564A-FB9E6C79FD6B}"/>
              </a:ext>
            </a:extLst>
          </p:cNvPr>
          <p:cNvSpPr>
            <a:spLocks noGrp="1"/>
          </p:cNvSpPr>
          <p:nvPr>
            <p:ph type="title"/>
          </p:nvPr>
        </p:nvSpPr>
        <p:spPr/>
        <p:txBody>
          <a:bodyPr/>
          <a:lstStyle/>
          <a:p>
            <a:r>
              <a:rPr lang="en-US"/>
              <a:t>7. Đóng góp &amp; Kết luận</a:t>
            </a:r>
            <a:br>
              <a:rPr lang="en-US"/>
            </a:br>
            <a:endParaRPr lang="en-US"/>
          </a:p>
        </p:txBody>
      </p:sp>
      <p:sp>
        <p:nvSpPr>
          <p:cNvPr id="5" name="Slide Number Placeholder 4">
            <a:extLst>
              <a:ext uri="{FF2B5EF4-FFF2-40B4-BE49-F238E27FC236}">
                <a16:creationId xmlns:a16="http://schemas.microsoft.com/office/drawing/2014/main" id="{6AD5DBC6-1270-17BC-42D6-CD543AA2AE91}"/>
              </a:ext>
            </a:extLst>
          </p:cNvPr>
          <p:cNvSpPr>
            <a:spLocks noGrp="1"/>
          </p:cNvSpPr>
          <p:nvPr>
            <p:ph type="sldNum" sz="quarter" idx="12"/>
          </p:nvPr>
        </p:nvSpPr>
        <p:spPr/>
        <p:txBody>
          <a:bodyPr/>
          <a:lstStyle/>
          <a:p>
            <a:fld id="{9EA0BE3B-158A-4EDF-80DC-E394A0D1600F}" type="slidenum">
              <a:rPr lang="en-US" smtClean="0"/>
              <a:pPr/>
              <a:t>20</a:t>
            </a:fld>
            <a:endParaRPr lang="en-US" dirty="0"/>
          </a:p>
        </p:txBody>
      </p:sp>
      <p:sp>
        <p:nvSpPr>
          <p:cNvPr id="3" name="Hộp Văn bản 2">
            <a:extLst>
              <a:ext uri="{FF2B5EF4-FFF2-40B4-BE49-F238E27FC236}">
                <a16:creationId xmlns:a16="http://schemas.microsoft.com/office/drawing/2014/main" id="{28B46C07-D74E-098B-0734-4D947D83F78F}"/>
              </a:ext>
            </a:extLst>
          </p:cNvPr>
          <p:cNvSpPr txBox="1"/>
          <p:nvPr/>
        </p:nvSpPr>
        <p:spPr>
          <a:xfrm>
            <a:off x="235077" y="887505"/>
            <a:ext cx="4336923" cy="1938992"/>
          </a:xfrm>
          <a:prstGeom prst="rect">
            <a:avLst/>
          </a:prstGeom>
          <a:noFill/>
        </p:spPr>
        <p:txBody>
          <a:bodyPr wrap="square" rtlCol="0">
            <a:spAutoFit/>
          </a:bodyPr>
          <a:lstStyle/>
          <a:p>
            <a:r>
              <a:rPr lang="en-US" sz="2000" b="1">
                <a:latin typeface="Lato" panose="020F0502020204030203" pitchFamily="34" charset="0"/>
                <a:ea typeface="Lato" panose="020F0502020204030203" pitchFamily="34" charset="0"/>
                <a:cs typeface="Lato" panose="020F0502020204030203" pitchFamily="34" charset="0"/>
              </a:rPr>
              <a:t>Kết luận:</a:t>
            </a:r>
            <a:endParaRPr lang="en-US" sz="2000">
              <a:latin typeface="Lato" panose="020F0502020204030203" pitchFamily="34" charset="0"/>
              <a:ea typeface="Lato" panose="020F0502020204030203" pitchFamily="34" charset="0"/>
              <a:cs typeface="Lato" panose="020F0502020204030203" pitchFamily="34" charset="0"/>
            </a:endParaRPr>
          </a:p>
          <a:p>
            <a:pPr marL="342900" indent="-342900">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Các thành phần hệ thống giao tiếp với nhau và hoạt động ổn định </a:t>
            </a:r>
          </a:p>
          <a:p>
            <a:pPr marL="342900" indent="-342900">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Giải pháp đáp ứng đồng thời: đa thông số + LoRa + chi phí thấp</a:t>
            </a:r>
          </a:p>
        </p:txBody>
      </p:sp>
      <p:sp>
        <p:nvSpPr>
          <p:cNvPr id="4" name="Hộp Văn bản 3">
            <a:extLst>
              <a:ext uri="{FF2B5EF4-FFF2-40B4-BE49-F238E27FC236}">
                <a16:creationId xmlns:a16="http://schemas.microsoft.com/office/drawing/2014/main" id="{E0E30EE5-4304-3E82-F733-F54F45D8C725}"/>
              </a:ext>
            </a:extLst>
          </p:cNvPr>
          <p:cNvSpPr txBox="1"/>
          <p:nvPr/>
        </p:nvSpPr>
        <p:spPr>
          <a:xfrm>
            <a:off x="4572000" y="887505"/>
            <a:ext cx="4336923" cy="1015663"/>
          </a:xfrm>
          <a:prstGeom prst="rect">
            <a:avLst/>
          </a:prstGeom>
          <a:noFill/>
        </p:spPr>
        <p:txBody>
          <a:bodyPr wrap="square" rtlCol="0">
            <a:spAutoFit/>
          </a:bodyPr>
          <a:lstStyle/>
          <a:p>
            <a:r>
              <a:rPr lang="vi-VN" sz="2000" b="1">
                <a:latin typeface="Lato" panose="020F0502020204030203" pitchFamily="34" charset="0"/>
                <a:ea typeface="Lato" panose="020F0502020204030203" pitchFamily="34" charset="0"/>
                <a:cs typeface="Lato" panose="020F0502020204030203" pitchFamily="34" charset="0"/>
              </a:rPr>
              <a:t>Hạn chế:</a:t>
            </a:r>
            <a:endParaRPr lang="en-US" sz="2000" b="1">
              <a:latin typeface="Lato" panose="020F0502020204030203" pitchFamily="34" charset="0"/>
              <a:ea typeface="Lato" panose="020F0502020204030203" pitchFamily="34" charset="0"/>
              <a:cs typeface="Lato" panose="020F0502020204030203" pitchFamily="34" charset="0"/>
            </a:endParaRPr>
          </a:p>
          <a:p>
            <a:pPr marL="342900" indent="-342900">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Thời gian sử dụng pin còn hạn chế</a:t>
            </a:r>
            <a:endParaRPr lang="vi-VN" sz="2000">
              <a:latin typeface="Lato" panose="020F0502020204030203" pitchFamily="34" charset="0"/>
              <a:ea typeface="Lato" panose="020F0502020204030203" pitchFamily="34" charset="0"/>
              <a:cs typeface="Lato" panose="020F0502020204030203" pitchFamily="34" charset="0"/>
            </a:endParaRPr>
          </a:p>
          <a:p>
            <a:pPr marL="342900" indent="-342900">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C</a:t>
            </a:r>
            <a:r>
              <a:rPr lang="vi-VN" sz="2000">
                <a:latin typeface="Lato" panose="020F0502020204030203" pitchFamily="34" charset="0"/>
                <a:ea typeface="Lato" panose="020F0502020204030203" pitchFamily="34" charset="0"/>
                <a:cs typeface="Lato" panose="020F0502020204030203" pitchFamily="34" charset="0"/>
              </a:rPr>
              <a:t>hưa có app di động</a:t>
            </a:r>
            <a:endParaRPr lang="en-US" sz="2000">
              <a:latin typeface="Lato" panose="020F0502020204030203" pitchFamily="34" charset="0"/>
              <a:ea typeface="Lato" panose="020F0502020204030203" pitchFamily="34" charset="0"/>
              <a:cs typeface="Lato" panose="020F0502020204030203" pitchFamily="34" charset="0"/>
            </a:endParaRPr>
          </a:p>
        </p:txBody>
      </p:sp>
      <p:graphicFrame>
        <p:nvGraphicFramePr>
          <p:cNvPr id="10" name="Sơ đồ 9">
            <a:extLst>
              <a:ext uri="{FF2B5EF4-FFF2-40B4-BE49-F238E27FC236}">
                <a16:creationId xmlns:a16="http://schemas.microsoft.com/office/drawing/2014/main" id="{2819A7A8-2332-5408-677A-9606C9541E63}"/>
              </a:ext>
            </a:extLst>
          </p:cNvPr>
          <p:cNvGraphicFramePr/>
          <p:nvPr>
            <p:extLst>
              <p:ext uri="{D42A27DB-BD31-4B8C-83A1-F6EECF244321}">
                <p14:modId xmlns:p14="http://schemas.microsoft.com/office/powerpoint/2010/main" val="1634482610"/>
              </p:ext>
            </p:extLst>
          </p:nvPr>
        </p:nvGraphicFramePr>
        <p:xfrm>
          <a:off x="235077" y="3491427"/>
          <a:ext cx="8673846" cy="24951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80159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21</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B19AD86CDF2D4DBF9DAD694EFBC09D" ma:contentTypeVersion="7" ma:contentTypeDescription="Create a new document." ma:contentTypeScope="" ma:versionID="6423fc3df46fff0625ec86a02e55459f">
  <xsd:schema xmlns:xsd="http://www.w3.org/2001/XMLSchema" xmlns:xs="http://www.w3.org/2001/XMLSchema" xmlns:p="http://schemas.microsoft.com/office/2006/metadata/properties" xmlns:ns2="757826ba-dfa3-48aa-98b2-1e988427fee5" xmlns:ns3="e4770848-7955-4ec6-9f06-ace3904740ab" targetNamespace="http://schemas.microsoft.com/office/2006/metadata/properties" ma:root="true" ma:fieldsID="24cf96f43bac35fd0bad3b1a63bec25f" ns2:_="" ns3:_="">
    <xsd:import namespace="757826ba-dfa3-48aa-98b2-1e988427fee5"/>
    <xsd:import namespace="e4770848-7955-4ec6-9f06-ace3904740a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7826ba-dfa3-48aa-98b2-1e988427fe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4770848-7955-4ec6-9f06-ace3904740a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B3CAD26-AD2C-4FFF-9DF5-EC2C983C2D6F}">
  <ds:schemaRefs>
    <ds:schemaRef ds:uri="http://schemas.openxmlformats.org/package/2006/metadata/core-properties"/>
    <ds:schemaRef ds:uri="http://purl.org/dc/terms/"/>
    <ds:schemaRef ds:uri="http://purl.org/dc/dcmitype/"/>
    <ds:schemaRef ds:uri="http://www.w3.org/XML/1998/namespace"/>
    <ds:schemaRef ds:uri="http://purl.org/dc/elements/1.1/"/>
    <ds:schemaRef ds:uri="http://schemas.microsoft.com/office/infopath/2007/PartnerControls"/>
    <ds:schemaRef ds:uri="http://schemas.microsoft.com/office/2006/documentManagement/types"/>
    <ds:schemaRef ds:uri="c72df4cc-d2de-4b7e-8388-06b9b73bb217"/>
    <ds:schemaRef ds:uri="c070d92c-e005-4177-a1a8-b2208be38bba"/>
    <ds:schemaRef ds:uri="http://schemas.microsoft.com/office/2006/metadata/properties"/>
  </ds:schemaRefs>
</ds:datastoreItem>
</file>

<file path=customXml/itemProps2.xml><?xml version="1.0" encoding="utf-8"?>
<ds:datastoreItem xmlns:ds="http://schemas.openxmlformats.org/officeDocument/2006/customXml" ds:itemID="{045DE4D0-16BA-461B-9401-3A89C2173BD8}">
  <ds:schemaRefs>
    <ds:schemaRef ds:uri="http://schemas.microsoft.com/sharepoint/v3/contenttype/forms"/>
  </ds:schemaRefs>
</ds:datastoreItem>
</file>

<file path=customXml/itemProps3.xml><?xml version="1.0" encoding="utf-8"?>
<ds:datastoreItem xmlns:ds="http://schemas.openxmlformats.org/officeDocument/2006/customXml" ds:itemID="{34646CC4-8286-4FA4-AD82-BCB6211243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7826ba-dfa3-48aa-98b2-1e988427fee5"/>
    <ds:schemaRef ds:uri="e4770848-7955-4ec6-9f06-ace3904740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759</TotalTime>
  <Words>6190</Words>
  <Application>Microsoft Office PowerPoint</Application>
  <PresentationFormat>Trình chiếu Trên màn hình (4:3)</PresentationFormat>
  <Paragraphs>309</Paragraphs>
  <Slides>21</Slides>
  <Notes>18</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21</vt:i4>
      </vt:variant>
    </vt:vector>
  </HeadingPairs>
  <TitlesOfParts>
    <vt:vector size="25" baseType="lpstr">
      <vt:lpstr>Arial</vt:lpstr>
      <vt:lpstr>Calibri</vt:lpstr>
      <vt:lpstr>Lato</vt:lpstr>
      <vt:lpstr>Office Theme</vt:lpstr>
      <vt:lpstr>Bản trình bày PowerPoint</vt:lpstr>
      <vt:lpstr>Bản trình bày PowerPoint</vt:lpstr>
      <vt:lpstr>Bản trình bày PowerPoint</vt:lpstr>
      <vt:lpstr>Nội dung trình bày</vt:lpstr>
      <vt:lpstr>1. Đặt vấn đề - Thực trạng ô nhiễm không khí  </vt:lpstr>
      <vt:lpstr>1. Đặt vấn đề - Hạn chế của giải pháp hiện tại</vt:lpstr>
      <vt:lpstr>2. Mục tiêu đề tài</vt:lpstr>
      <vt:lpstr>3. Giải pháp kỹ thuật - Kiến trúc tổng thể hệ thống  </vt:lpstr>
      <vt:lpstr>3. Giải pháp kỹ thuật - Phần cứng &amp; Cảm biến    </vt:lpstr>
      <vt:lpstr>3. Giải pháp kỹ thuật - Giao thức LoRa Binary </vt:lpstr>
      <vt:lpstr>3. Giải pháp kỹ thuật - Firmware Sensor Node &amp; Gateway </vt:lpstr>
      <vt:lpstr>4. Backend &amp; Cơ sở dữ liệu - Pipeline Telemetry    </vt:lpstr>
      <vt:lpstr>4. Backend &amp; Cơ sở dữ liệu – kiến trúc backend  </vt:lpstr>
      <vt:lpstr>4. Backend &amp; Cơ sở dữ liệu      </vt:lpstr>
      <vt:lpstr>5. Demo giao diện - Giao diện Người dùng       </vt:lpstr>
      <vt:lpstr>5. Demo giao diện – Giao diện quản trị         </vt:lpstr>
      <vt:lpstr>6. Kiểm thử &amp; Thực nghiệm</vt:lpstr>
      <vt:lpstr>6. Kiểm thử &amp; Thực nghiệm</vt:lpstr>
      <vt:lpstr>7. Đóng góp &amp; Kết luận </vt:lpstr>
      <vt:lpstr>7. Đóng góp &amp; Kết luận </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Nguyen Duc Tham 20225395</cp:lastModifiedBy>
  <cp:revision>21</cp:revision>
  <dcterms:created xsi:type="dcterms:W3CDTF">2021-05-28T04:32:29Z</dcterms:created>
  <dcterms:modified xsi:type="dcterms:W3CDTF">2026-07-04T16:10:57Z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0x010100ECB19AD86CDF2D4DBF9DAD694EFBC09D</vt:lpwstr>
  </property>
  <property fmtid="{D5CDD505-2E9C-101B-9397-08002B2CF9AE}" pid="3" name="MediaServiceImageTags">
    <vt:lpwstr/>
  </property>
</Properties>
</file>